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19569392c8a41db" /><Relationship Type="http://schemas.openxmlformats.org/officeDocument/2006/relationships/extended-properties" Target="/docProps/app.xml" Id="R75048da42ad5451e" /><Relationship Type="http://schemas.openxmlformats.org/officeDocument/2006/relationships/officeDocument" Target="/ppt/presentation.xml" Id="Ra029187e8d52407c" /></Relationships>
</file>

<file path=ppt/presentation.xml><?xml version="1.0" encoding="utf-8"?>
<p:presentation xmlns:p="http://schemas.openxmlformats.org/presentationml/2006/main">
  <p:sldMasterIdLst>
    <p:sldMasterId xmlns:r="http://schemas.openxmlformats.org/officeDocument/2006/relationships" id="2147483648" r:id="R9db1553b82324d9d"/>
  </p:sldMasterIdLst>
  <p:notesMasterIdLst>
    <p:notesMasterId xmlns:r="http://schemas.openxmlformats.org/officeDocument/2006/relationships" r:id="Ra9a5588deab94e94"/>
  </p:notesMasterIdLst>
  <p:sldIdLst>
    <p:sldId xmlns:r="http://schemas.openxmlformats.org/officeDocument/2006/relationships" id="256" r:id="R01aabfa9c06d4fad"/>
    <p:sldId xmlns:r="http://schemas.openxmlformats.org/officeDocument/2006/relationships" id="257" r:id="R141d692330d74635"/>
    <p:sldId xmlns:r="http://schemas.openxmlformats.org/officeDocument/2006/relationships" id="258" r:id="R68d8f3d79c0547fc"/>
    <p:sldId xmlns:r="http://schemas.openxmlformats.org/officeDocument/2006/relationships" id="259" r:id="R6ba45c5dfcf34a89"/>
    <p:sldId xmlns:r="http://schemas.openxmlformats.org/officeDocument/2006/relationships" id="260" r:id="Re0a9bf6cc7a84f03"/>
    <p:sldId xmlns:r="http://schemas.openxmlformats.org/officeDocument/2006/relationships" id="261" r:id="Rdafc738259a84f6a"/>
    <p:sldId xmlns:r="http://schemas.openxmlformats.org/officeDocument/2006/relationships" id="262" r:id="Rb03a64cedaaf477b"/>
    <p:sldId xmlns:r="http://schemas.openxmlformats.org/officeDocument/2006/relationships" id="263" r:id="R3d18b9f422f64b3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1d3c4e0ba0845b5" /><Relationship Type="http://schemas.openxmlformats.org/officeDocument/2006/relationships/slideMaster" Target="/ppt/slideMasters/slideMaster1.xml" Id="R9db1553b82324d9d" /><Relationship Type="http://schemas.openxmlformats.org/officeDocument/2006/relationships/notesMaster" Target="/ppt/notesMasters/notesMaster1.xml" Id="Ra9a5588deab94e94" /><Relationship Type="http://schemas.openxmlformats.org/officeDocument/2006/relationships/presProps" Target="/ppt/presProps.xml" Id="R075d101f064e4506" /><Relationship Type="http://schemas.openxmlformats.org/officeDocument/2006/relationships/tableStyles" Target="/ppt/tableStyles.xml" Id="Re1c54d79e8d54f95" /><Relationship Type="http://schemas.openxmlformats.org/officeDocument/2006/relationships/slide" Target="/ppt/slides/slide1.xml" Id="R01aabfa9c06d4fad" /><Relationship Type="http://schemas.openxmlformats.org/officeDocument/2006/relationships/slide" Target="/ppt/slides/slide2.xml" Id="R141d692330d74635" /><Relationship Type="http://schemas.openxmlformats.org/officeDocument/2006/relationships/slide" Target="/ppt/slides/slide3.xml" Id="R68d8f3d79c0547fc" /><Relationship Type="http://schemas.openxmlformats.org/officeDocument/2006/relationships/slide" Target="/ppt/slides/slide4.xml" Id="R6ba45c5dfcf34a89" /><Relationship Type="http://schemas.openxmlformats.org/officeDocument/2006/relationships/slide" Target="/ppt/slides/slide5.xml" Id="Re0a9bf6cc7a84f03" /><Relationship Type="http://schemas.openxmlformats.org/officeDocument/2006/relationships/slide" Target="/ppt/slides/slide6.xml" Id="Rdafc738259a84f6a" /><Relationship Type="http://schemas.openxmlformats.org/officeDocument/2006/relationships/slide" Target="/ppt/slides/slide7.xml" Id="Rb03a64cedaaf477b" /><Relationship Type="http://schemas.openxmlformats.org/officeDocument/2006/relationships/slide" Target="/ppt/slides/slide8.xml" Id="R3d18b9f422f64b3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ccd58ec66634f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0fd0b19f5942c0" /><Relationship Type="http://schemas.openxmlformats.org/officeDocument/2006/relationships/notesMaster" Target="/ppt/notesMasters/notesMaster1.xml" Id="Re72f791f32b94cd9"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39721491df4305" /><Relationship Type="http://schemas.openxmlformats.org/officeDocument/2006/relationships/notesMaster" Target="/ppt/notesMasters/notesMaster1.xml" Id="R483393af27ab4d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e833967f111342ad" /><Relationship Type="http://schemas.openxmlformats.org/officeDocument/2006/relationships/notesMaster" Target="/ppt/notesMasters/notesMaster1.xml" Id="R17b3192a4ab440f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24bf71945b45cc" /><Relationship Type="http://schemas.openxmlformats.org/officeDocument/2006/relationships/notesMaster" Target="/ppt/notesMasters/notesMaster1.xml" Id="R2ff9fe55459f4a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53d31d25f0b4590" /><Relationship Type="http://schemas.openxmlformats.org/officeDocument/2006/relationships/notesMaster" Target="/ppt/notesMasters/notesMaster1.xml" Id="R763c315953844c18" /></Relationships>
</file>

<file path=ppt/notesSlides/_rels/notesSlide6.xml.rels>&#65279;<?xml version="1.0" encoding="utf-8"?><Relationships xmlns="http://schemas.openxmlformats.org/package/2006/relationships"><Relationship Type="http://schemas.openxmlformats.org/officeDocument/2006/relationships/slide" Target="/ppt/slides/slide6.xml" Id="Redeadaffedb14300" /><Relationship Type="http://schemas.openxmlformats.org/officeDocument/2006/relationships/notesMaster" Target="/ppt/notesMasters/notesMaster1.xml" Id="Rf080324a44ef467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8ef41c9596b4b85" /><Relationship Type="http://schemas.openxmlformats.org/officeDocument/2006/relationships/notesMaster" Target="/ppt/notesMasters/notesMaster1.xml" Id="Red3f32ddf2214d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501d0eada9548f7" /><Relationship Type="http://schemas.openxmlformats.org/officeDocument/2006/relationships/notesMaster" Target="/ppt/notesMasters/notesMaster1.xml" Id="Rc393c0e6b94a45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goal is appropriate triage and thread routing within physician-supervised asynchronous care. This is an independent take-home, not an official Counsel service or validated autonomous-care system. The supplied PDF requests a lightweight build, evaluation, short slides and live demonstration, with approximately 35 minutes followed by 25 minutes Q&amp;A. This expanded user-directed project exceeds the original 6–8-hour brief; disclose that rather than implying all work was completed in that time. Logo source: existing local counsel-symbol.svg, originally sourced from Counsel Health.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Route definitions derive from the supplied assignment. The split of same-day and immediate emergency care is an explicit project design change. Priority/routine are subdivisions of ASYNC_PHYSICIAN. Medication renewal is a work type, never an automatic acuity designation. The 48-hour routine queue target is a demo policy, not a claim about Counsel's actual SLA. See docs/research/DISPOSITION_ROUTING_DESIGN_2026-09-11.md.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Supplied CSV: 50 rows, unchanged, despite 20 mentioned in the brief. Original labels are observations, not reference truth. C02 immediate emergency action follows AHA warning signs: https://www.heart.org/en/health-topics/heart-attack/warning-signs-of-a-heart-attack . C50 priority remote review is the project care-pathway judgment, not a guideline-specific remote-prescribing mandate: https://www.nice.org.uk/guidance/cg150/chapter/recommendations . For C04 the same-day physical-assessment recommendation is a clinical design judgment. NICE NG19 describes immediate referral for limb/life-threatening problems and referral within one working day for other active foot problems, not a universal same-calendar-day examination rule: https://www.nice.org.uk/guidance/ng19/chapter/Recommendations . The official indexed page was inspected; direct retrieval returned HTTP 403 during the final check. These three examples illustrate design decisions, not measured three-case clinical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active graph is src/disposition/adaptive.ts. It runs a fast intake, bounded evidence search, then Opus. Existing immediate emergency screen still runs the models. Final actions cannot silently downgrade prior required care. After response issuance, Next schedules a separate Mastra workflow to review the frozen response. One Astra model applies seven criteria. It neither delays the response nor changes the route. Public design inspiration: https://mastra.ai/customers/counsel-health ; https://mastra.ai/docs/evals/overview . Do not claim this reproduces private Counsel internals.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Observed queue episode f05a589e-a66c-4b7d-af79-7e0593731c9e and new browser repetition b7d5cd69-e68a-4557-8cdc-6737e295cccb. The initial message described a usual migraine/refill, but a later fictional engineering update reported new focal weakness and slurred speech. The previous preview showed only the original message. Current code reconstructs updates from append-only assessment events and labels known rehearsals. Full browser reload and review persistence were checked. Do not interpret the update as a real patient report. Stroke source: https://www.stroke.org/en/about-stroke/stroke-symptoms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Nine authored contrast controls were frozen before judge execution. All 9 completed and their predeclared target verdicts matched. Expected labels never entered the judge prompt. These are narrow rubric-aligned construct tests, not held-out clinical accuracy. Seven actual GUI assessment attempts all completed and received independent review; four responses had a judge flag. They mix development versions and live retrieval. Cost estimates: controls $0.64339; seven GUI reviews $0.80340, excluding generation and the separate historical queue audit. Full current 50-case clinical accuracy remains unmeasured. Sources: outputs/response-review-pilot-1789167413097/summary.json ; outputs/gui-response-review-20260911/summary.json ; https://www.counselhealth.com/ai-report/llm-as-a-judge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GUI runs and exact anchored judgments are recorded in outputs/gui-response-review-20260911/summary.json. Patient grounding failure appeared on C50 v29; source remote-care inference on v30; urgency distortion on v31; finasteride quantitative PSA population/regimen mismatch on C46 v31. Prompt revisions addressed scope and attribution. Latest C50 v32 received no flags, but one case cannot prove the corrections generalize, and finasteride applicability remains open. We did not edit physician references or silently replace historical failures. Counsel inspiration: https://www.counselhealth.com/blog/scaling-clinical-quality-assurance-with-ai-judges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Seven actual GUI runs: median final duration 21.707s and max 43.624s. Slowest v32 run: intake 3.025s, retrieval 2.126s, final generation 38.402s. These are development observations, not percentile SLA estimates. New-neurological-update emergency instruction arrived at 9ms, C04 same-day action at 2.796s. Background judgment did not cause the final-generation delay. Next studies should freeze cases, passages, output schema, grader and sampling before comparing inference configurations. Keep full retrieval comparisons separate. Counsel's HealthBench method filters English, conditional and second-hand prompts to 103 cases; our exact private cohort replication and current candidate score are not established. Sources: outputs/gui-response-review-20260911/summary.json ; https://www.counselhealth.com/blog/how-counsel-leveraged-healthbench-to-assess-emergency-escalation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3cbbc14eb348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d0164791f14521" /><Relationship Type="http://schemas.openxmlformats.org/officeDocument/2006/relationships/slideLayout" Target="/ppt/slideLayouts/slideLayout1.xml" Id="Rbeac2011c3264b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eac2011c3264b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449e65cd8d74fa4" /><Relationship Type="http://schemas.openxmlformats.org/officeDocument/2006/relationships/image" Target="/ppt/media/image.png" Id="Rdec6530eab63499b" /><Relationship Type="http://schemas.openxmlformats.org/officeDocument/2006/relationships/image" Target="/ppt/media/image.svg" Id="R1f7ea22432e843b7" /><Relationship Type="http://schemas.openxmlformats.org/officeDocument/2006/relationships/notesSlide" Target="/ppt/notesSlides/notesSlide1.xml" Id="R42446250999449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b2734d7a4794d6c" /><Relationship Type="http://schemas.openxmlformats.org/officeDocument/2006/relationships/notesSlide" Target="/ppt/notesSlides/notesSlide2.xml" Id="R5b0f7cc9d14d4e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7c1b6c79d624ebf" /><Relationship Type="http://schemas.openxmlformats.org/officeDocument/2006/relationships/notesSlide" Target="/ppt/notesSlides/notesSlide3.xml" Id="R8a3af2db0f444e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83d2ca0305b40a6" /><Relationship Type="http://schemas.openxmlformats.org/officeDocument/2006/relationships/notesSlide" Target="/ppt/notesSlides/notesSlide4.xml" Id="Rc5554097bf754e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de2623b696a4b1a" /><Relationship Type="http://schemas.openxmlformats.org/officeDocument/2006/relationships/notesSlide" Target="/ppt/notesSlides/notesSlide5.xml" Id="R9db161a92c344c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fdada696d794eee" /><Relationship Type="http://schemas.openxmlformats.org/officeDocument/2006/relationships/notesSlide" Target="/ppt/notesSlides/notesSlide6.xml" Id="R5cbf6230c72d49e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af69bfe35b44fb1" /><Relationship Type="http://schemas.openxmlformats.org/officeDocument/2006/relationships/notesSlide" Target="/ppt/notesSlides/notesSlide7.xml" Id="Rdf716b8c1e04457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d3f2326ca8744e3" /><Relationship Type="http://schemas.openxmlformats.org/officeDocument/2006/relationships/notesSlide" Target="/ppt/notesSlides/notesSlide8.xml" Id="R865f82c5f46c4e34" /></Relationships>
</file>

<file path=ppt/slides/slide1.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ec6530eab63499b">
            <a:extLst>
              <a:ext uri="{96DAC541-7B7A-43D3-8B79-37D633B846F1}">
                <asvg:svgBlip xmlns:asvg="http://schemas.microsoft.com/office/drawing/2016/SVG/main" r:embed="R1f7ea22432e843b7"/>
              </a:ext>
            </a:extLst>
          </a:blip>
          <a:stretch xmlns:a="http://schemas.openxmlformats.org/drawingml/2006/main"/>
        </p:blipFill>
        <p:spPr>
          <a:xfrm xmlns:a="http://schemas.openxmlformats.org/drawingml/2006/main">
            <a:off x="723900" y="666750"/>
            <a:ext cx="952500" cy="109537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B1D5641-C5EB-4C73-9892-85784C3280B3}"/>
              </a:ext>
            </a:extLst>
          </p:cNvPr>
          <p:cNvSpPr>
            <a:spLocks xmlns:a="http://schemas.openxmlformats.org/drawingml/2006/main" noGrp="1"/>
          </p:cNvSpPr>
          <p:nvPr/>
        </p:nvSpPr>
        <p:spPr>
          <a:xfrm xmlns:a="http://schemas.openxmlformats.org/drawingml/2006/main">
            <a:off x="666750" y="2286000"/>
            <a:ext cx="10858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4385F"/>
                </a:solidFill>
                <a:latin typeface="Helvetica Neue"/>
                <a:ea typeface="Helvetica Neue"/>
                <a:cs typeface="Helvetica Neue"/>
              </a:defRPr>
            </a:pPr>
            <a:r>
              <a:rPr sz="4950" b="1">
                <a:solidFill>
                  <a:srgbClr val="24385F"/>
                </a:solidFill>
                <a:latin typeface="Helvetica Neue"/>
                <a:ea typeface="Helvetica Neue"/>
                <a:cs typeface="Helvetica Neue"/>
              </a:rPr>
              <a:t>Clinical disposition</a:t>
            </a:r>
          </a:p>
          <a:p xmlns:a="http://schemas.openxmlformats.org/drawingml/2006/main">
            <a:pPr>
              <a:defRPr sz="4950" b="1">
                <a:solidFill>
                  <a:srgbClr val="24385F"/>
                </a:solidFill>
                <a:latin typeface="Helvetica Neue"/>
                <a:ea typeface="Helvetica Neue"/>
                <a:cs typeface="Helvetica Neue"/>
              </a:defRPr>
            </a:pPr>
            <a:r>
              <a:rPr sz="4950" b="1">
                <a:solidFill>
                  <a:srgbClr val="24385F"/>
                </a:solidFill>
                <a:latin typeface="Helvetica Neue"/>
                <a:ea typeface="Helvetica Neue"/>
                <a:cs typeface="Helvetica Neue"/>
              </a:rPr>
              <a:t>in asynchronous care</a:t>
            </a:r>
          </a:p>
        </p:txBody>
      </p:sp>
      <p:sp>
        <p:nvSpPr>
          <p:cNvPr id="3" name="">
            <a:extLst xmlns:a="http://schemas.openxmlformats.org/drawingml/2006/main">
              <a:ext uri="{FF2B5EF4-FFF2-40B4-BE49-F238E27FC236}">
                <a16:creationId xmlns:a16="http://schemas.microsoft.com/office/drawing/2014/main" id="{AE873EF3-993C-42E0-AF1E-1A38CC1C87D1}"/>
              </a:ext>
            </a:extLst>
          </p:cNvPr>
          <p:cNvSpPr>
            <a:spLocks xmlns:a="http://schemas.openxmlformats.org/drawingml/2006/main" noGrp="1"/>
          </p:cNvSpPr>
          <p:nvPr/>
        </p:nvSpPr>
        <p:spPr>
          <a:xfrm xmlns:a="http://schemas.openxmlformats.org/drawingml/2006/main">
            <a:off x="666750" y="4191000"/>
            <a:ext cx="1028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72A2B"/>
                </a:solidFill>
                <a:latin typeface="Helvetica Neue"/>
                <a:ea typeface="Helvetica Neue"/>
                <a:cs typeface="Helvetica Neue"/>
              </a:defRPr>
            </a:pPr>
            <a:r>
              <a:rPr sz="2400" b="0">
                <a:solidFill>
                  <a:srgbClr val="272A2B"/>
                </a:solidFill>
                <a:latin typeface="Helvetica Neue"/>
                <a:ea typeface="Helvetica Neue"/>
                <a:cs typeface="Helvetica Neue"/>
              </a:rPr>
              <a:t>One recommendation, an accountable clinician queue,</a:t>
            </a:r>
          </a:p>
          <a:p xmlns:a="http://schemas.openxmlformats.org/drawingml/2006/main">
            <a:pPr>
              <a:defRPr sz="2400" b="0">
                <a:solidFill>
                  <a:srgbClr val="272A2B"/>
                </a:solidFill>
                <a:latin typeface="Helvetica Neue"/>
                <a:ea typeface="Helvetica Neue"/>
                <a:cs typeface="Helvetica Neue"/>
              </a:defRPr>
            </a:pPr>
            <a:r>
              <a:rPr sz="2400" b="0">
                <a:solidFill>
                  <a:srgbClr val="272A2B"/>
                </a:solidFill>
                <a:latin typeface="Helvetica Neue"/>
                <a:ea typeface="Helvetica Neue"/>
                <a:cs typeface="Helvetica Neue"/>
              </a:rPr>
              <a:t>and independent review of what the system actually said.</a:t>
            </a:r>
          </a:p>
        </p:txBody>
      </p:sp>
      <p:sp>
        <p:nvSpPr>
          <p:cNvPr id="4" name="">
            <a:extLst xmlns:a="http://schemas.openxmlformats.org/drawingml/2006/main">
              <a:ext uri="{FF2B5EF4-FFF2-40B4-BE49-F238E27FC236}">
                <a16:creationId xmlns:a16="http://schemas.microsoft.com/office/drawing/2014/main" id="{2451C049-980D-49A1-99D0-9D565278FBEC}"/>
              </a:ext>
            </a:extLst>
          </p:cNvPr>
          <p:cNvSpPr>
            <a:spLocks xmlns:a="http://schemas.openxmlformats.org/drawingml/2006/main" noGrp="1"/>
          </p:cNvSpPr>
          <p:nvPr/>
        </p:nvSpPr>
        <p:spPr>
          <a:xfrm xmlns:a="http://schemas.openxmlformats.org/drawingml/2006/main">
            <a:off x="666750" y="5981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A645F"/>
                </a:solidFill>
                <a:latin typeface="Helvetica Neue"/>
                <a:ea typeface="Helvetica Neue"/>
                <a:cs typeface="Helvetica Neue"/>
              </a:defRPr>
            </a:pPr>
            <a:r>
              <a:rPr sz="1650" b="0">
                <a:solidFill>
                  <a:srgbClr val="5A645F"/>
                </a:solidFill>
                <a:latin typeface="Helvetica Neue"/>
                <a:ea typeface="Helvetica Neue"/>
                <a:cs typeface="Helvetica Neue"/>
              </a:rPr>
              <a:t>Independent take-home prototype / 11 September 2026</a:t>
            </a:r>
          </a:p>
        </p:txBody>
      </p:sp>
    </p:spTree>
    <p:extLst>
      <p:ext uri="{BB962C8B-B14F-4D97-AF65-F5344CB8AC3E}">
        <p14:creationId xmlns:p14="http://schemas.microsoft.com/office/powerpoint/2010/main" val="164772360"/>
      </p:ext>
    </p:extLst>
  </p:cSld>
</p:sld>
</file>

<file path=ppt/slides/slide2.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314BB38-E923-4D2B-898B-E3B243A5F5AA}"/>
              </a:ext>
            </a:extLst>
          </p:cNvPr>
          <p:cNvSpPr>
            <a:spLocks xmlns:a="http://schemas.openxmlformats.org/drawingml/2006/main" noGrp="1"/>
          </p:cNvSpPr>
          <p:nvPr/>
        </p:nvSpPr>
        <p:spPr>
          <a:xfrm xmlns:a="http://schemas.openxmlformats.org/drawingml/2006/main">
            <a:off x="66675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4385F"/>
                </a:solidFill>
                <a:latin typeface="Helvetica Neue"/>
                <a:ea typeface="Helvetica Neue"/>
                <a:cs typeface="Helvetica Neue"/>
              </a:defRPr>
            </a:pPr>
            <a:r>
              <a:rPr sz="3600" b="1">
                <a:solidFill>
                  <a:srgbClr val="24385F"/>
                </a:solidFill>
                <a:latin typeface="Helvetica Neue"/>
                <a:ea typeface="Helvetica Neue"/>
                <a:cs typeface="Helvetica Neue"/>
              </a:rPr>
              <a:t>Care setting and response speed</a:t>
            </a:r>
          </a:p>
        </p:txBody>
      </p:sp>
      <p:graphicFrame>
        <p:nvGraphicFramePr>
          <p:cNvPr id="5" name=""/>
          <p:cNvGraphicFramePr/>
          <p:nvPr/>
        </p:nvGraphicFramePr>
        <p:xfrm>
          <a:off xmlns:a="http://schemas.openxmlformats.org/drawingml/2006/main" x="666750" y="1657350"/>
          <a:ext xmlns:a="http://schemas.openxmlformats.org/drawingml/2006/main" cx="10858500" cy="3619500"/>
        </p:xfrm>
        <a:graphic xmlns:a="http://schemas.openxmlformats.org/drawingml/2006/main">
          <a:graphicData uri="http://schemas.openxmlformats.org/drawingml/2006/table">
            <a:tbl>
              <a:tblPr firstRow="1" bandRow="0"/>
              <a:tblGrid>
                <a:gridCol w="3286125"/>
                <a:gridCol w="7572375"/>
              </a:tblGrid>
              <a:tr h="723900">
                <a:tc>
                  <a:txBody>
                    <a:bodyPr/>
                    <a:lstStyle/>
                    <a:p>
                      <a:r>
                        <a:rPr sz="1950" b="1">
                          <a:solidFill>
                            <a:srgbClr val="FFFFFF"/>
                          </a:solidFill>
                          <a:latin typeface="Helvetica Neue"/>
                          <a:ea typeface="Helvetica Neue"/>
                          <a:cs typeface="Helvetica Neue"/>
                        </a:rPr>
                        <a:t>Care setting</a:t>
                      </a:r>
                    </a:p>
                  </a:txBody>
                  <a:tcPr marL="152400" marR="152400" marT="114300" marB="114300">
                    <a:solidFill>
                      <a:srgbClr val="24385F"/>
                    </a:solidFill>
                  </a:tcPr>
                </a:tc>
                <a:tc>
                  <a:txBody>
                    <a:bodyPr/>
                    <a:lstStyle/>
                    <a:p>
                      <a:r>
                        <a:rPr sz="1950" b="1">
                          <a:solidFill>
                            <a:srgbClr val="FFFFFF"/>
                          </a:solidFill>
                          <a:latin typeface="Helvetica Neue"/>
                          <a:ea typeface="Helvetica Neue"/>
                          <a:cs typeface="Helvetica Neue"/>
                        </a:rPr>
                        <a:t>Required next step</a:t>
                      </a:r>
                    </a:p>
                  </a:txBody>
                  <a:tcPr marL="152400" marR="152400" marT="114300" marB="114300">
                    <a:solidFill>
                      <a:srgbClr val="24385F"/>
                    </a:solidFill>
                  </a:tcPr>
                </a:tc>
              </a:tr>
              <a:tr h="723900">
                <a:tc>
                  <a:txBody>
                    <a:bodyPr/>
                    <a:lstStyle/>
                    <a:p>
                      <a:r>
                        <a:rPr sz="1950">
                          <a:solidFill>
                            <a:srgbClr val="272A2B"/>
                          </a:solidFill>
                          <a:latin typeface="Helvetica Neue"/>
                          <a:ea typeface="Helvetica Neue"/>
                          <a:cs typeface="Helvetica Neue"/>
                        </a:rPr>
                        <a:t>Self-care</a:t>
                      </a:r>
                    </a:p>
                  </a:txBody>
                  <a:tcPr marL="152400" marR="152400" marT="114300" marB="114300"/>
                </a:tc>
                <a:tc>
                  <a:txBody>
                    <a:bodyPr/>
                    <a:lstStyle/>
                    <a:p>
                      <a:r>
                        <a:rPr sz="1950">
                          <a:solidFill>
                            <a:srgbClr val="272A2B"/>
                          </a:solidFill>
                          <a:latin typeface="Helvetica Neue"/>
                          <a:ea typeface="Helvetica Neue"/>
                          <a:cs typeface="Helvetica Neue"/>
                        </a:rPr>
                        <a:t>Guidance only, with decision-changing unknowns addressed</a:t>
                      </a:r>
                    </a:p>
                  </a:txBody>
                  <a:tcPr marL="152400" marR="152400" marT="114300" marB="114300"/>
                </a:tc>
              </a:tr>
              <a:tr h="723900">
                <a:tc>
                  <a:txBody>
                    <a:bodyPr/>
                    <a:lstStyle/>
                    <a:p>
                      <a:r>
                        <a:rPr sz="1950">
                          <a:solidFill>
                            <a:srgbClr val="272A2B"/>
                          </a:solidFill>
                          <a:latin typeface="Helvetica Neue"/>
                          <a:ea typeface="Helvetica Neue"/>
                          <a:cs typeface="Helvetica Neue"/>
                        </a:rPr>
                        <a:t>Async clinician</a:t>
                      </a:r>
                    </a:p>
                  </a:txBody>
                  <a:tcPr marL="152400" marR="152400" marT="114300" marB="114300"/>
                </a:tc>
                <a:tc>
                  <a:txBody>
                    <a:bodyPr/>
                    <a:lstStyle/>
                    <a:p>
                      <a:r>
                        <a:rPr sz="1950">
                          <a:solidFill>
                            <a:srgbClr val="272A2B"/>
                          </a:solidFill>
                          <a:latin typeface="Helvetica Neue"/>
                          <a:ea typeface="Helvetica Neue"/>
                          <a:cs typeface="Helvetica Neue"/>
                        </a:rPr>
                        <a:t>Priority today or routine review in this thread</a:t>
                      </a:r>
                    </a:p>
                  </a:txBody>
                  <a:tcPr marL="152400" marR="152400" marT="114300" marB="114300"/>
                </a:tc>
              </a:tr>
              <a:tr h="723900">
                <a:tc>
                  <a:txBody>
                    <a:bodyPr/>
                    <a:lstStyle/>
                    <a:p>
                      <a:r>
                        <a:rPr sz="1950">
                          <a:solidFill>
                            <a:srgbClr val="272A2B"/>
                          </a:solidFill>
                          <a:latin typeface="Helvetica Neue"/>
                          <a:ea typeface="Helvetica Neue"/>
                          <a:cs typeface="Helvetica Neue"/>
                        </a:rPr>
                        <a:t>Same-day in person</a:t>
                      </a:r>
                    </a:p>
                  </a:txBody>
                  <a:tcPr marL="152400" marR="152400" marT="114300" marB="114300"/>
                </a:tc>
                <a:tc>
                  <a:txBody>
                    <a:bodyPr/>
                    <a:lstStyle/>
                    <a:p>
                      <a:r>
                        <a:rPr sz="1950">
                          <a:solidFill>
                            <a:srgbClr val="272A2B"/>
                          </a:solidFill>
                          <a:latin typeface="Helvetica Neue"/>
                          <a:ea typeface="Helvetica Neue"/>
                          <a:cs typeface="Helvetica Neue"/>
                        </a:rPr>
                        <a:t>Physical examination or treatment today</a:t>
                      </a:r>
                    </a:p>
                  </a:txBody>
                  <a:tcPr marL="152400" marR="152400" marT="114300" marB="114300"/>
                </a:tc>
              </a:tr>
              <a:tr h="723900">
                <a:tc>
                  <a:txBody>
                    <a:bodyPr/>
                    <a:lstStyle/>
                    <a:p>
                      <a:r>
                        <a:rPr sz="1950">
                          <a:solidFill>
                            <a:srgbClr val="272A2B"/>
                          </a:solidFill>
                          <a:latin typeface="Helvetica Neue"/>
                          <a:ea typeface="Helvetica Neue"/>
                          <a:cs typeface="Helvetica Neue"/>
                        </a:rPr>
                        <a:t>Emergency now</a:t>
                      </a:r>
                    </a:p>
                  </a:txBody>
                  <a:tcPr marL="152400" marR="152400" marT="114300" marB="114300"/>
                </a:tc>
                <a:tc>
                  <a:txBody>
                    <a:bodyPr/>
                    <a:lstStyle/>
                    <a:p>
                      <a:r>
                        <a:rPr sz="1950">
                          <a:solidFill>
                            <a:srgbClr val="272A2B"/>
                          </a:solidFill>
                          <a:latin typeface="Helvetica Neue"/>
                          <a:ea typeface="Helvetica Neue"/>
                          <a:cs typeface="Helvetica Neue"/>
                        </a:rPr>
                        <a:t>Immediate emergency action without waiting for a reply</a:t>
                      </a:r>
                    </a:p>
                  </a:txBody>
                  <a:tcPr marL="152400" marR="152400" marT="114300" marB="114300"/>
                </a:tc>
              </a:tr>
            </a:tbl>
          </a:graphicData>
        </a:graphic>
      </p:graphicFrame>
      <p:sp>
        <p:nvSpPr>
          <p:cNvPr id="3" name="">
            <a:extLst xmlns:a="http://schemas.openxmlformats.org/drawingml/2006/main">
              <a:ext uri="{FF2B5EF4-FFF2-40B4-BE49-F238E27FC236}">
                <a16:creationId xmlns:a16="http://schemas.microsoft.com/office/drawing/2014/main" id="{FEB8F9AC-1994-4EFE-8B2E-6F71FACC0AB4}"/>
              </a:ext>
            </a:extLst>
          </p:cNvPr>
          <p:cNvSpPr>
            <a:spLocks xmlns:a="http://schemas.openxmlformats.org/drawingml/2006/main" noGrp="1"/>
          </p:cNvSpPr>
          <p:nvPr/>
        </p:nvSpPr>
        <p:spPr>
          <a:xfrm xmlns:a="http://schemas.openxmlformats.org/drawingml/2006/main">
            <a:off x="666750" y="56197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385F"/>
                </a:solidFill>
                <a:latin typeface="Helvetica Neue"/>
                <a:ea typeface="Helvetica Neue"/>
                <a:cs typeface="Helvetica Neue"/>
              </a:defRPr>
            </a:pPr>
            <a:r>
              <a:rPr sz="2250" b="1">
                <a:solidFill>
                  <a:srgbClr val="24385F"/>
                </a:solidFill>
                <a:latin typeface="Helvetica Neue"/>
                <a:ea typeface="Helvetica Neue"/>
                <a:cs typeface="Helvetica Neue"/>
              </a:rPr>
              <a:t>A refill can need prompt remote review without needing an emergency department.</a:t>
            </a:r>
          </a:p>
        </p:txBody>
      </p:sp>
    </p:spTree>
    <p:extLst>
      <p:ext uri="{BB962C8B-B14F-4D97-AF65-F5344CB8AC3E}">
        <p14:creationId xmlns:p14="http://schemas.microsoft.com/office/powerpoint/2010/main" val="319227428"/>
      </p:ext>
    </p:extLst>
  </p:cSld>
</p:sld>
</file>

<file path=ppt/slides/slide3.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E552C359-D1B5-429E-9676-F03B34377D95}"/>
              </a:ext>
            </a:extLst>
          </p:cNvPr>
          <p:cNvSpPr>
            <a:spLocks xmlns:a="http://schemas.openxmlformats.org/drawingml/2006/main" noGrp="1"/>
          </p:cNvSpPr>
          <p:nvPr/>
        </p:nvSpPr>
        <p:spPr>
          <a:xfrm xmlns:a="http://schemas.openxmlformats.org/drawingml/2006/main">
            <a:off x="66675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4385F"/>
                </a:solidFill>
                <a:latin typeface="Helvetica Neue"/>
                <a:ea typeface="Helvetica Neue"/>
                <a:cs typeface="Helvetica Neue"/>
              </a:defRPr>
            </a:pPr>
            <a:r>
              <a:rPr sz="3600" b="1">
                <a:solidFill>
                  <a:srgbClr val="24385F"/>
                </a:solidFill>
                <a:latin typeface="Helvetica Neue"/>
                <a:ea typeface="Helvetica Neue"/>
                <a:cs typeface="Helvetica Neue"/>
              </a:rPr>
              <a:t>What the supplied messages reveal</a:t>
            </a:r>
          </a:p>
        </p:txBody>
      </p:sp>
      <p:graphicFrame>
        <p:nvGraphicFramePr>
          <p:cNvPr id="5" name=""/>
          <p:cNvGraphicFramePr/>
          <p:nvPr/>
        </p:nvGraphicFramePr>
        <p:xfrm>
          <a:off xmlns:a="http://schemas.openxmlformats.org/drawingml/2006/main" x="666750" y="1714500"/>
          <a:ext xmlns:a="http://schemas.openxmlformats.org/drawingml/2006/main" cx="10858500" cy="3238500"/>
        </p:xfrm>
        <a:graphic xmlns:a="http://schemas.openxmlformats.org/drawingml/2006/main">
          <a:graphicData uri="http://schemas.openxmlformats.org/drawingml/2006/table">
            <a:tbl>
              <a:tblPr firstRow="1" bandRow="0"/>
              <a:tblGrid>
                <a:gridCol w="3619500"/>
                <a:gridCol w="3238500"/>
                <a:gridCol w="4000500"/>
              </a:tblGrid>
              <a:tr h="809625">
                <a:tc>
                  <a:txBody>
                    <a:bodyPr/>
                    <a:lstStyle/>
                    <a:p>
                      <a:r>
                        <a:rPr sz="1950" b="1">
                          <a:solidFill>
                            <a:srgbClr val="FFFFFF"/>
                          </a:solidFill>
                          <a:latin typeface="Helvetica Neue"/>
                          <a:ea typeface="Helvetica Neue"/>
                          <a:cs typeface="Helvetica Neue"/>
                        </a:rPr>
                        <a:t>Example</a:t>
                      </a:r>
                    </a:p>
                  </a:txBody>
                  <a:tcPr marL="152400" marR="152400" marT="114300" marB="114300">
                    <a:solidFill>
                      <a:srgbClr val="24385F"/>
                    </a:solidFill>
                  </a:tcPr>
                </a:tc>
                <a:tc>
                  <a:txBody>
                    <a:bodyPr/>
                    <a:lstStyle/>
                    <a:p>
                      <a:r>
                        <a:rPr sz="1950" b="1">
                          <a:solidFill>
                            <a:srgbClr val="FFFFFF"/>
                          </a:solidFill>
                          <a:latin typeface="Helvetica Neue"/>
                          <a:ea typeface="Helvetica Neue"/>
                          <a:cs typeface="Helvetica Neue"/>
                        </a:rPr>
                        <a:t>Original label</a:t>
                      </a:r>
                    </a:p>
                  </a:txBody>
                  <a:tcPr marL="152400" marR="152400" marT="114300" marB="114300">
                    <a:solidFill>
                      <a:srgbClr val="24385F"/>
                    </a:solidFill>
                  </a:tcPr>
                </a:tc>
                <a:tc>
                  <a:txBody>
                    <a:bodyPr/>
                    <a:lstStyle/>
                    <a:p>
                      <a:r>
                        <a:rPr sz="1950" b="1">
                          <a:solidFill>
                            <a:srgbClr val="FFFFFF"/>
                          </a:solidFill>
                          <a:latin typeface="Helvetica Neue"/>
                          <a:ea typeface="Helvetica Neue"/>
                          <a:cs typeface="Helvetica Neue"/>
                        </a:rPr>
                        <a:t>Design judgment</a:t>
                      </a:r>
                    </a:p>
                  </a:txBody>
                  <a:tcPr marL="152400" marR="152400" marT="114300" marB="114300">
                    <a:solidFill>
                      <a:srgbClr val="24385F"/>
                    </a:solidFill>
                  </a:tcPr>
                </a:tc>
              </a:tr>
              <a:tr h="809625">
                <a:tc>
                  <a:txBody>
                    <a:bodyPr/>
                    <a:lstStyle/>
                    <a:p>
                      <a:r>
                        <a:rPr sz="1950">
                          <a:solidFill>
                            <a:srgbClr val="272A2B"/>
                          </a:solidFill>
                          <a:latin typeface="Helvetica Neue"/>
                          <a:ea typeface="Helvetica Neue"/>
                          <a:cs typeface="Helvetica Neue"/>
                        </a:rPr>
                        <a:t>C02: chest pressure</a:t>
                      </a:r>
                    </a:p>
                  </a:txBody>
                  <a:tcPr marL="152400" marR="152400" marT="114300" marB="114300"/>
                </a:tc>
                <a:tc>
                  <a:txBody>
                    <a:bodyPr/>
                    <a:lstStyle/>
                    <a:p>
                      <a:r>
                        <a:rPr sz="1950">
                          <a:solidFill>
                            <a:srgbClr val="272A2B"/>
                          </a:solidFill>
                          <a:latin typeface="Helvetica Neue"/>
                          <a:ea typeface="Helvetica Neue"/>
                          <a:cs typeface="Helvetica Neue"/>
                        </a:rPr>
                        <a:t>URGENT_ESCALATION</a:t>
                      </a:r>
                    </a:p>
                  </a:txBody>
                  <a:tcPr marL="152400" marR="152400" marT="114300" marB="114300"/>
                </a:tc>
                <a:tc>
                  <a:txBody>
                    <a:bodyPr/>
                    <a:lstStyle/>
                    <a:p>
                      <a:r>
                        <a:rPr sz="1950">
                          <a:solidFill>
                            <a:srgbClr val="272A2B"/>
                          </a:solidFill>
                          <a:latin typeface="Helvetica Neue"/>
                          <a:ea typeface="Helvetica Neue"/>
                          <a:cs typeface="Helvetica Neue"/>
                        </a:rPr>
                        <a:t>Explicit emergency action now</a:t>
                      </a:r>
                    </a:p>
                  </a:txBody>
                  <a:tcPr marL="152400" marR="152400" marT="114300" marB="114300"/>
                </a:tc>
              </a:tr>
              <a:tr h="809625">
                <a:tc>
                  <a:txBody>
                    <a:bodyPr/>
                    <a:lstStyle/>
                    <a:p>
                      <a:r>
                        <a:rPr sz="1950">
                          <a:solidFill>
                            <a:srgbClr val="272A2B"/>
                          </a:solidFill>
                          <a:latin typeface="Helvetica Neue"/>
                          <a:ea typeface="Helvetica Neue"/>
                          <a:cs typeface="Helvetica Neue"/>
                        </a:rPr>
                        <a:t>C04: diabetic foot wound</a:t>
                      </a:r>
                    </a:p>
                  </a:txBody>
                  <a:tcPr marL="152400" marR="152400" marT="114300" marB="114300"/>
                </a:tc>
                <a:tc>
                  <a:txBody>
                    <a:bodyPr/>
                    <a:lstStyle/>
                    <a:p>
                      <a:r>
                        <a:rPr sz="1950">
                          <a:solidFill>
                            <a:srgbClr val="272A2B"/>
                          </a:solidFill>
                          <a:latin typeface="Helvetica Neue"/>
                          <a:ea typeface="Helvetica Neue"/>
                          <a:cs typeface="Helvetica Neue"/>
                        </a:rPr>
                        <a:t>ASYNC_PHYSICIAN</a:t>
                      </a:r>
                    </a:p>
                  </a:txBody>
                  <a:tcPr marL="152400" marR="152400" marT="114300" marB="114300"/>
                </a:tc>
                <a:tc>
                  <a:txBody>
                    <a:bodyPr/>
                    <a:lstStyle/>
                    <a:p>
                      <a:r>
                        <a:rPr sz="1950">
                          <a:solidFill>
                            <a:srgbClr val="272A2B"/>
                          </a:solidFill>
                          <a:latin typeface="Helvetica Neue"/>
                          <a:ea typeface="Helvetica Neue"/>
                          <a:cs typeface="Helvetica Neue"/>
                        </a:rPr>
                        <a:t>Same-day physical assessment</a:t>
                      </a:r>
                    </a:p>
                  </a:txBody>
                  <a:tcPr marL="152400" marR="152400" marT="114300" marB="114300"/>
                </a:tc>
              </a:tr>
              <a:tr h="809625">
                <a:tc>
                  <a:txBody>
                    <a:bodyPr/>
                    <a:lstStyle/>
                    <a:p>
                      <a:r>
                        <a:rPr sz="1950">
                          <a:solidFill>
                            <a:srgbClr val="272A2B"/>
                          </a:solidFill>
                          <a:latin typeface="Helvetica Neue"/>
                          <a:ea typeface="Helvetica Neue"/>
                          <a:cs typeface="Helvetica Neue"/>
                        </a:rPr>
                        <a:t>C50: usual migraine refill</a:t>
                      </a:r>
                    </a:p>
                  </a:txBody>
                  <a:tcPr marL="152400" marR="152400" marT="114300" marB="114300"/>
                </a:tc>
                <a:tc>
                  <a:txBody>
                    <a:bodyPr/>
                    <a:lstStyle/>
                    <a:p>
                      <a:r>
                        <a:rPr sz="1950">
                          <a:solidFill>
                            <a:srgbClr val="272A2B"/>
                          </a:solidFill>
                          <a:latin typeface="Helvetica Neue"/>
                          <a:ea typeface="Helvetica Neue"/>
                          <a:cs typeface="Helvetica Neue"/>
                        </a:rPr>
                        <a:t>ASYNC_PHYSICIAN</a:t>
                      </a:r>
                    </a:p>
                  </a:txBody>
                  <a:tcPr marL="152400" marR="152400" marT="114300" marB="114300"/>
                </a:tc>
                <a:tc>
                  <a:txBody>
                    <a:bodyPr/>
                    <a:lstStyle/>
                    <a:p>
                      <a:r>
                        <a:rPr sz="1950">
                          <a:solidFill>
                            <a:srgbClr val="272A2B"/>
                          </a:solidFill>
                          <a:latin typeface="Helvetica Neue"/>
                          <a:ea typeface="Helvetica Neue"/>
                          <a:cs typeface="Helvetica Neue"/>
                        </a:rPr>
                        <a:t>Priority remote clinician review</a:t>
                      </a:r>
                    </a:p>
                  </a:txBody>
                  <a:tcPr marL="152400" marR="152400" marT="114300" marB="114300"/>
                </a:tc>
              </a:tr>
            </a:tbl>
          </a:graphicData>
        </a:graphic>
      </p:graphicFrame>
      <p:sp>
        <p:nvSpPr>
          <p:cNvPr id="3" name="">
            <a:extLst xmlns:a="http://schemas.openxmlformats.org/drawingml/2006/main">
              <a:ext uri="{FF2B5EF4-FFF2-40B4-BE49-F238E27FC236}">
                <a16:creationId xmlns:a16="http://schemas.microsoft.com/office/drawing/2014/main" id="{17253271-3864-4A90-B3FF-9CEEF5820D97}"/>
              </a:ext>
            </a:extLst>
          </p:cNvPr>
          <p:cNvSpPr>
            <a:spLocks xmlns:a="http://schemas.openxmlformats.org/drawingml/2006/main" noGrp="1"/>
          </p:cNvSpPr>
          <p:nvPr/>
        </p:nvSpPr>
        <p:spPr>
          <a:xfrm xmlns:a="http://schemas.openxmlformats.org/drawingml/2006/main">
            <a:off x="666750" y="5429250"/>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4385F"/>
                </a:solidFill>
                <a:latin typeface="Helvetica Neue"/>
                <a:ea typeface="Helvetica Neue"/>
                <a:cs typeface="Helvetica Neue"/>
              </a:defRPr>
            </a:pPr>
            <a:r>
              <a:rPr sz="2250" b="1">
                <a:solidFill>
                  <a:srgbClr val="24385F"/>
                </a:solidFill>
                <a:latin typeface="Helvetica Neue"/>
                <a:ea typeface="Helvetica Neue"/>
                <a:cs typeface="Helvetica Neue"/>
              </a:rPr>
              <a:t>50 preserved source rows. Label agreement alone cannot establish clinical correctness.</a:t>
            </a:r>
          </a:p>
        </p:txBody>
      </p:sp>
    </p:spTree>
    <p:extLst>
      <p:ext uri="{BB962C8B-B14F-4D97-AF65-F5344CB8AC3E}">
        <p14:creationId xmlns:p14="http://schemas.microsoft.com/office/powerpoint/2010/main" val="1095379126"/>
      </p:ext>
    </p:extLst>
  </p:cSld>
</p:sld>
</file>

<file path=ppt/slides/slide4.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6B421D2E-4987-4A94-BF84-626E1C55C3F2}"/>
              </a:ext>
            </a:extLst>
          </p:cNvPr>
          <p:cNvSpPr>
            <a:spLocks xmlns:a="http://schemas.openxmlformats.org/drawingml/2006/main" noGrp="1"/>
          </p:cNvSpPr>
          <p:nvPr/>
        </p:nvSpPr>
        <p:spPr>
          <a:xfrm xmlns:a="http://schemas.openxmlformats.org/drawingml/2006/main">
            <a:off x="66675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4385F"/>
                </a:solidFill>
                <a:latin typeface="Helvetica Neue"/>
                <a:ea typeface="Helvetica Neue"/>
                <a:cs typeface="Helvetica Neue"/>
              </a:defRPr>
            </a:pPr>
            <a:r>
              <a:rPr sz="3600" b="1">
                <a:solidFill>
                  <a:srgbClr val="24385F"/>
                </a:solidFill>
                <a:latin typeface="Helvetica Neue"/>
                <a:ea typeface="Helvetica Neue"/>
                <a:cs typeface="Helvetica Neue"/>
              </a:rPr>
              <a:t>The active Mastra workflow</a:t>
            </a:r>
          </a:p>
        </p:txBody>
      </p:sp>
      <p:graphicFrame>
        <p:nvGraphicFramePr>
          <p:cNvPr id="5" name=""/>
          <p:cNvGraphicFramePr/>
          <p:nvPr/>
        </p:nvGraphicFramePr>
        <p:xfrm>
          <a:off xmlns:a="http://schemas.openxmlformats.org/drawingml/2006/main" x="666750" y="1619250"/>
          <a:ext xmlns:a="http://schemas.openxmlformats.org/drawingml/2006/main" cx="10858500" cy="3771900"/>
        </p:xfrm>
        <a:graphic xmlns:a="http://schemas.openxmlformats.org/drawingml/2006/main">
          <a:graphicData uri="http://schemas.openxmlformats.org/drawingml/2006/table">
            <a:tbl>
              <a:tblPr firstRow="1" bandRow="0"/>
              <a:tblGrid>
                <a:gridCol w="2857500"/>
                <a:gridCol w="4191000"/>
                <a:gridCol w="3810000"/>
              </a:tblGrid>
              <a:tr h="754380">
                <a:tc>
                  <a:txBody>
                    <a:bodyPr/>
                    <a:lstStyle/>
                    <a:p>
                      <a:r>
                        <a:rPr sz="1950" b="1">
                          <a:solidFill>
                            <a:srgbClr val="FFFFFF"/>
                          </a:solidFill>
                          <a:latin typeface="Helvetica Neue"/>
                          <a:ea typeface="Helvetica Neue"/>
                          <a:cs typeface="Helvetica Neue"/>
                        </a:rPr>
                        <a:t>Stage</a:t>
                      </a:r>
                    </a:p>
                  </a:txBody>
                  <a:tcPr marL="152400" marR="152400" marT="114300" marB="114300">
                    <a:solidFill>
                      <a:srgbClr val="24385F"/>
                    </a:solidFill>
                  </a:tcPr>
                </a:tc>
                <a:tc>
                  <a:txBody>
                    <a:bodyPr/>
                    <a:lstStyle/>
                    <a:p>
                      <a:r>
                        <a:rPr sz="1950" b="1">
                          <a:solidFill>
                            <a:srgbClr val="FFFFFF"/>
                          </a:solidFill>
                          <a:latin typeface="Helvetica Neue"/>
                          <a:ea typeface="Helvetica Neue"/>
                          <a:cs typeface="Helvetica Neue"/>
                        </a:rPr>
                        <a:t>Output</a:t>
                      </a:r>
                    </a:p>
                  </a:txBody>
                  <a:tcPr marL="152400" marR="152400" marT="114300" marB="114300">
                    <a:solidFill>
                      <a:srgbClr val="24385F"/>
                    </a:solidFill>
                  </a:tcPr>
                </a:tc>
                <a:tc>
                  <a:txBody>
                    <a:bodyPr/>
                    <a:lstStyle/>
                    <a:p>
                      <a:r>
                        <a:rPr sz="1950" b="1">
                          <a:solidFill>
                            <a:srgbClr val="FFFFFF"/>
                          </a:solidFill>
                          <a:latin typeface="Helvetica Neue"/>
                          <a:ea typeface="Helvetica Neue"/>
                          <a:cs typeface="Helvetica Neue"/>
                        </a:rPr>
                        <a:t>Why it exists</a:t>
                      </a:r>
                    </a:p>
                  </a:txBody>
                  <a:tcPr marL="152400" marR="152400" marT="114300" marB="114300">
                    <a:solidFill>
                      <a:srgbClr val="24385F"/>
                    </a:solidFill>
                  </a:tcPr>
                </a:tc>
              </a:tr>
              <a:tr h="754380">
                <a:tc>
                  <a:txBody>
                    <a:bodyPr/>
                    <a:lstStyle/>
                    <a:p>
                      <a:r>
                        <a:rPr sz="1950">
                          <a:solidFill>
                            <a:srgbClr val="272A2B"/>
                          </a:solidFill>
                          <a:latin typeface="Helvetica Neue"/>
                          <a:ea typeface="Helvetica Neue"/>
                          <a:cs typeface="Helvetica Neue"/>
                        </a:rPr>
                        <a:t>Haiku intake</a:t>
                      </a:r>
                    </a:p>
                  </a:txBody>
                  <a:tcPr marL="152400" marR="152400" marT="114300" marB="114300"/>
                </a:tc>
                <a:tc>
                  <a:txBody>
                    <a:bodyPr/>
                    <a:lstStyle/>
                    <a:p>
                      <a:r>
                        <a:rPr sz="1950">
                          <a:solidFill>
                            <a:srgbClr val="272A2B"/>
                          </a:solidFill>
                          <a:latin typeface="Helvetica Neue"/>
                          <a:ea typeface="Helvetica Neue"/>
                          <a:cs typeface="Helvetica Neue"/>
                        </a:rPr>
                        <a:t>Early action or focused question</a:t>
                      </a:r>
                    </a:p>
                  </a:txBody>
                  <a:tcPr marL="152400" marR="152400" marT="114300" marB="114300"/>
                </a:tc>
                <a:tc>
                  <a:txBody>
                    <a:bodyPr/>
                    <a:lstStyle/>
                    <a:p>
                      <a:r>
                        <a:rPr sz="1950">
                          <a:solidFill>
                            <a:srgbClr val="272A2B"/>
                          </a:solidFill>
                          <a:latin typeface="Helvetica Neue"/>
                          <a:ea typeface="Helvetica Neue"/>
                          <a:cs typeface="Helvetica Neue"/>
                        </a:rPr>
                        <a:t>Identify time-critical concerns</a:t>
                      </a:r>
                    </a:p>
                  </a:txBody>
                  <a:tcPr marL="152400" marR="152400" marT="114300" marB="114300"/>
                </a:tc>
              </a:tr>
              <a:tr h="754380">
                <a:tc>
                  <a:txBody>
                    <a:bodyPr/>
                    <a:lstStyle/>
                    <a:p>
                      <a:r>
                        <a:rPr sz="1950">
                          <a:solidFill>
                            <a:srgbClr val="272A2B"/>
                          </a:solidFill>
                          <a:latin typeface="Helvetica Neue"/>
                          <a:ea typeface="Helvetica Neue"/>
                          <a:cs typeface="Helvetica Neue"/>
                        </a:rPr>
                        <a:t>Evidence retrieval</a:t>
                      </a:r>
                    </a:p>
                  </a:txBody>
                  <a:tcPr marL="152400" marR="152400" marT="114300" marB="114300"/>
                </a:tc>
                <a:tc>
                  <a:txBody>
                    <a:bodyPr/>
                    <a:lstStyle/>
                    <a:p>
                      <a:r>
                        <a:rPr sz="1950">
                          <a:solidFill>
                            <a:srgbClr val="272A2B"/>
                          </a:solidFill>
                          <a:latin typeface="Helvetica Neue"/>
                          <a:ea typeface="Helvetica Neue"/>
                          <a:cs typeface="Helvetica Neue"/>
                        </a:rPr>
                        <a:t>Bounded, attributable passages</a:t>
                      </a:r>
                    </a:p>
                  </a:txBody>
                  <a:tcPr marL="152400" marR="152400" marT="114300" marB="114300"/>
                </a:tc>
                <a:tc>
                  <a:txBody>
                    <a:bodyPr/>
                    <a:lstStyle/>
                    <a:p>
                      <a:r>
                        <a:rPr sz="1950">
                          <a:solidFill>
                            <a:srgbClr val="272A2B"/>
                          </a:solidFill>
                          <a:latin typeface="Helvetica Neue"/>
                          <a:ea typeface="Helvetica Neue"/>
                          <a:cs typeface="Helvetica Neue"/>
                        </a:rPr>
                        <a:t>Support and challenge claims</a:t>
                      </a:r>
                    </a:p>
                  </a:txBody>
                  <a:tcPr marL="152400" marR="152400" marT="114300" marB="114300"/>
                </a:tc>
              </a:tr>
              <a:tr h="754380">
                <a:tc>
                  <a:txBody>
                    <a:bodyPr/>
                    <a:lstStyle/>
                    <a:p>
                      <a:r>
                        <a:rPr sz="1950">
                          <a:solidFill>
                            <a:srgbClr val="272A2B"/>
                          </a:solidFill>
                          <a:latin typeface="Helvetica Neue"/>
                          <a:ea typeface="Helvetica Neue"/>
                          <a:cs typeface="Helvetica Neue"/>
                        </a:rPr>
                        <a:t>Opus disposition</a:t>
                      </a:r>
                    </a:p>
                  </a:txBody>
                  <a:tcPr marL="152400" marR="152400" marT="114300" marB="114300"/>
                </a:tc>
                <a:tc>
                  <a:txBody>
                    <a:bodyPr/>
                    <a:lstStyle/>
                    <a:p>
                      <a:r>
                        <a:rPr sz="1950">
                          <a:solidFill>
                            <a:srgbClr val="272A2B"/>
                          </a:solidFill>
                          <a:latin typeface="Helvetica Neue"/>
                          <a:ea typeface="Helvetica Neue"/>
                          <a:cs typeface="Helvetica Neue"/>
                        </a:rPr>
                        <a:t>One route, reply and reasoning</a:t>
                      </a:r>
                    </a:p>
                  </a:txBody>
                  <a:tcPr marL="152400" marR="152400" marT="114300" marB="114300"/>
                </a:tc>
                <a:tc>
                  <a:txBody>
                    <a:bodyPr/>
                    <a:lstStyle/>
                    <a:p>
                      <a:r>
                        <a:rPr sz="1950">
                          <a:solidFill>
                            <a:srgbClr val="272A2B"/>
                          </a:solidFill>
                          <a:latin typeface="Helvetica Neue"/>
                          <a:ea typeface="Helvetica Neue"/>
                          <a:cs typeface="Helvetica Neue"/>
                        </a:rPr>
                        <a:t>Recommend the next care step</a:t>
                      </a:r>
                    </a:p>
                  </a:txBody>
                  <a:tcPr marL="152400" marR="152400" marT="114300" marB="114300"/>
                </a:tc>
              </a:tr>
              <a:tr h="754380">
                <a:tc>
                  <a:txBody>
                    <a:bodyPr/>
                    <a:lstStyle/>
                    <a:p>
                      <a:r>
                        <a:rPr sz="1950">
                          <a:solidFill>
                            <a:srgbClr val="272A2B"/>
                          </a:solidFill>
                          <a:latin typeface="Helvetica Neue"/>
                          <a:ea typeface="Helvetica Neue"/>
                          <a:cs typeface="Helvetica Neue"/>
                        </a:rPr>
                        <a:t>Astra review</a:t>
                      </a:r>
                    </a:p>
                  </a:txBody>
                  <a:tcPr marL="152400" marR="152400" marT="114300" marB="114300"/>
                </a:tc>
                <a:tc>
                  <a:txBody>
                    <a:bodyPr/>
                    <a:lstStyle/>
                    <a:p>
                      <a:r>
                        <a:rPr sz="1950">
                          <a:solidFill>
                            <a:srgbClr val="272A2B"/>
                          </a:solidFill>
                          <a:latin typeface="Helvetica Neue"/>
                          <a:ea typeface="Helvetica Neue"/>
                          <a:cs typeface="Helvetica Neue"/>
                        </a:rPr>
                        <a:t>Anchored pass / fail / abstain</a:t>
                      </a:r>
                    </a:p>
                  </a:txBody>
                  <a:tcPr marL="152400" marR="152400" marT="114300" marB="114300"/>
                </a:tc>
                <a:tc>
                  <a:txBody>
                    <a:bodyPr/>
                    <a:lstStyle/>
                    <a:p>
                      <a:r>
                        <a:rPr sz="1950">
                          <a:solidFill>
                            <a:srgbClr val="272A2B"/>
                          </a:solidFill>
                          <a:latin typeface="Helvetica Neue"/>
                          <a:ea typeface="Helvetica Neue"/>
                          <a:cs typeface="Helvetica Neue"/>
                        </a:rPr>
                        <a:t>Find defects in issued content</a:t>
                      </a:r>
                    </a:p>
                  </a:txBody>
                  <a:tcPr marL="152400" marR="152400" marT="114300" marB="114300"/>
                </a:tc>
              </a:tr>
            </a:tbl>
          </a:graphicData>
        </a:graphic>
      </p:graphicFrame>
      <p:sp>
        <p:nvSpPr>
          <p:cNvPr id="3" name="">
            <a:extLst xmlns:a="http://schemas.openxmlformats.org/drawingml/2006/main">
              <a:ext uri="{FF2B5EF4-FFF2-40B4-BE49-F238E27FC236}">
                <a16:creationId xmlns:a16="http://schemas.microsoft.com/office/drawing/2014/main" id="{67760135-AE61-426D-AF27-403E090F9E56}"/>
              </a:ext>
            </a:extLst>
          </p:cNvPr>
          <p:cNvSpPr>
            <a:spLocks xmlns:a="http://schemas.openxmlformats.org/drawingml/2006/main" noGrp="1"/>
          </p:cNvSpPr>
          <p:nvPr/>
        </p:nvSpPr>
        <p:spPr>
          <a:xfrm xmlns:a="http://schemas.openxmlformats.org/drawingml/2006/main">
            <a:off x="666750" y="573405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A645F"/>
                </a:solidFill>
                <a:latin typeface="Helvetica Neue"/>
                <a:ea typeface="Helvetica Neue"/>
                <a:cs typeface="Helvetica Neue"/>
              </a:defRPr>
            </a:pPr>
            <a:r>
              <a:rPr sz="2100" b="0">
                <a:solidFill>
                  <a:srgbClr val="5A645F"/>
                </a:solidFill>
                <a:latin typeface="Helvetica Neue"/>
                <a:ea typeface="Helvetica Neue"/>
                <a:cs typeface="Helvetica Neue"/>
              </a:rPr>
              <a:t>Each run retains input, answer, versions, timings and trace identifiers.</a:t>
            </a:r>
          </a:p>
        </p:txBody>
      </p:sp>
    </p:spTree>
    <p:extLst>
      <p:ext uri="{BB962C8B-B14F-4D97-AF65-F5344CB8AC3E}">
        <p14:creationId xmlns:p14="http://schemas.microsoft.com/office/powerpoint/2010/main" val="1227468854"/>
      </p:ext>
    </p:extLst>
  </p:cSld>
</p:sld>
</file>

<file path=ppt/slides/slide5.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895DF0-2B97-4737-8EA2-E51EA9C94A06}"/>
              </a:ext>
            </a:extLst>
          </p:cNvPr>
          <p:cNvSpPr>
            <a:spLocks xmlns:a="http://schemas.openxmlformats.org/drawingml/2006/main" noGrp="1"/>
          </p:cNvSpPr>
          <p:nvPr/>
        </p:nvSpPr>
        <p:spPr>
          <a:xfrm xmlns:a="http://schemas.openxmlformats.org/drawingml/2006/main">
            <a:off x="66675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4385F"/>
                </a:solidFill>
                <a:latin typeface="Helvetica Neue"/>
                <a:ea typeface="Helvetica Neue"/>
                <a:cs typeface="Helvetica Neue"/>
              </a:defRPr>
            </a:pPr>
            <a:r>
              <a:rPr sz="3600" b="1">
                <a:solidFill>
                  <a:srgbClr val="24385F"/>
                </a:solidFill>
                <a:latin typeface="Helvetica Neue"/>
                <a:ea typeface="Helvetica Neue"/>
                <a:cs typeface="Helvetica Neue"/>
              </a:rPr>
              <a:t>The migraine emergency was a context-display defect</a:t>
            </a:r>
          </a:p>
        </p:txBody>
      </p:sp>
      <p:sp>
        <p:nvSpPr>
          <p:cNvPr id="2" name="">
            <a:extLst xmlns:a="http://schemas.openxmlformats.org/drawingml/2006/main">
              <a:ext uri="{FF2B5EF4-FFF2-40B4-BE49-F238E27FC236}">
                <a16:creationId xmlns:a16="http://schemas.microsoft.com/office/drawing/2014/main" id="{FE21249B-DC5C-4DB5-AE51-E1FD478F0AAD}"/>
              </a:ext>
            </a:extLst>
          </p:cNvPr>
          <p:cNvSpPr>
            <a:spLocks xmlns:a="http://schemas.openxmlformats.org/drawingml/2006/main" noGrp="1"/>
          </p:cNvSpPr>
          <p:nvPr/>
        </p:nvSpPr>
        <p:spPr>
          <a:xfrm xmlns:a="http://schemas.openxmlformats.org/drawingml/2006/main">
            <a:off x="666750" y="17907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A645F"/>
                </a:solidFill>
                <a:latin typeface="Helvetica Neue"/>
                <a:ea typeface="Helvetica Neue"/>
                <a:cs typeface="Helvetica Neue"/>
              </a:defRPr>
            </a:pPr>
            <a:r>
              <a:rPr sz="2100" b="1">
                <a:solidFill>
                  <a:srgbClr val="5A645F"/>
                </a:solidFill>
                <a:latin typeface="Helvetica Neue"/>
                <a:ea typeface="Helvetica Neue"/>
                <a:cs typeface="Helvetica Neue"/>
              </a:rPr>
              <a:t>Original message</a:t>
            </a:r>
          </a:p>
        </p:txBody>
      </p:sp>
      <p:sp>
        <p:nvSpPr>
          <p:cNvPr id="3" name="">
            <a:extLst xmlns:a="http://schemas.openxmlformats.org/drawingml/2006/main">
              <a:ext uri="{FF2B5EF4-FFF2-40B4-BE49-F238E27FC236}">
                <a16:creationId xmlns:a16="http://schemas.microsoft.com/office/drawing/2014/main" id="{546549A6-4981-43B3-8C54-44A649F91534}"/>
              </a:ext>
            </a:extLst>
          </p:cNvPr>
          <p:cNvSpPr>
            <a:spLocks xmlns:a="http://schemas.openxmlformats.org/drawingml/2006/main" noGrp="1"/>
          </p:cNvSpPr>
          <p:nvPr/>
        </p:nvSpPr>
        <p:spPr>
          <a:xfrm xmlns:a="http://schemas.openxmlformats.org/drawingml/2006/main">
            <a:off x="666750" y="240982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4385F"/>
                </a:solidFill>
                <a:latin typeface="Helvetica Neue"/>
                <a:ea typeface="Helvetica Neue"/>
                <a:cs typeface="Helvetica Neue"/>
              </a:defRPr>
            </a:pPr>
            <a:r>
              <a:rPr sz="2850" b="0">
                <a:solidFill>
                  <a:srgbClr val="24385F"/>
                </a:solidFill>
                <a:latin typeface="Helvetica Neue"/>
                <a:ea typeface="Helvetica Neue"/>
                <a:cs typeface="Helvetica Neue"/>
              </a:rPr>
              <a:t>Usual migraine-like headache.</a:t>
            </a:r>
          </a:p>
          <a:p xmlns:a="http://schemas.openxmlformats.org/drawingml/2006/main">
            <a:pPr>
              <a:defRPr sz="2850" b="0">
                <a:solidFill>
                  <a:srgbClr val="24385F"/>
                </a:solidFill>
                <a:latin typeface="Helvetica Neue"/>
                <a:ea typeface="Helvetica Neue"/>
                <a:cs typeface="Helvetica Neue"/>
              </a:defRPr>
            </a:pPr>
            <a:r>
              <a:rPr sz="2850" b="0">
                <a:solidFill>
                  <a:srgbClr val="24385F"/>
                </a:solidFill>
                <a:latin typeface="Helvetica Neue"/>
                <a:ea typeface="Helvetica Neue"/>
                <a:cs typeface="Helvetica Neue"/>
              </a:rPr>
              <a:t>Out of sumatriptan.</a:t>
            </a:r>
          </a:p>
        </p:txBody>
      </p:sp>
      <p:sp>
        <p:nvSpPr>
          <p:cNvPr id="4" name="">
            <a:extLst xmlns:a="http://schemas.openxmlformats.org/drawingml/2006/main">
              <a:ext uri="{FF2B5EF4-FFF2-40B4-BE49-F238E27FC236}">
                <a16:creationId xmlns:a16="http://schemas.microsoft.com/office/drawing/2014/main" id="{C7281FB6-1A3C-4FF9-8E36-D42D275C353D}"/>
              </a:ext>
            </a:extLst>
          </p:cNvPr>
          <p:cNvSpPr>
            <a:spLocks xmlns:a="http://schemas.openxmlformats.org/drawingml/2006/main" noGrp="1"/>
          </p:cNvSpPr>
          <p:nvPr/>
        </p:nvSpPr>
        <p:spPr>
          <a:xfrm xmlns:a="http://schemas.openxmlformats.org/drawingml/2006/main">
            <a:off x="6572250" y="17907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5A645F"/>
                </a:solidFill>
                <a:latin typeface="Helvetica Neue"/>
                <a:ea typeface="Helvetica Neue"/>
                <a:cs typeface="Helvetica Neue"/>
              </a:defRPr>
            </a:pPr>
            <a:r>
              <a:rPr sz="2100" b="1">
                <a:solidFill>
                  <a:srgbClr val="5A645F"/>
                </a:solidFill>
                <a:latin typeface="Helvetica Neue"/>
                <a:ea typeface="Helvetica Neue"/>
                <a:cs typeface="Helvetica Neue"/>
              </a:rPr>
              <a:t>Later fictional test update</a:t>
            </a:r>
          </a:p>
        </p:txBody>
      </p:sp>
      <p:sp>
        <p:nvSpPr>
          <p:cNvPr id="5" name="">
            <a:extLst xmlns:a="http://schemas.openxmlformats.org/drawingml/2006/main">
              <a:ext uri="{FF2B5EF4-FFF2-40B4-BE49-F238E27FC236}">
                <a16:creationId xmlns:a16="http://schemas.microsoft.com/office/drawing/2014/main" id="{7FD4C073-27F0-4003-B462-644FBDF94015}"/>
              </a:ext>
            </a:extLst>
          </p:cNvPr>
          <p:cNvSpPr>
            <a:spLocks xmlns:a="http://schemas.openxmlformats.org/drawingml/2006/main" noGrp="1"/>
          </p:cNvSpPr>
          <p:nvPr/>
        </p:nvSpPr>
        <p:spPr>
          <a:xfrm xmlns:a="http://schemas.openxmlformats.org/drawingml/2006/main">
            <a:off x="6572250" y="240982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24385F"/>
                </a:solidFill>
                <a:latin typeface="Helvetica Neue"/>
                <a:ea typeface="Helvetica Neue"/>
                <a:cs typeface="Helvetica Neue"/>
              </a:defRPr>
            </a:pPr>
            <a:r>
              <a:rPr sz="2850" b="0">
                <a:solidFill>
                  <a:srgbClr val="24385F"/>
                </a:solidFill>
                <a:latin typeface="Helvetica Neue"/>
                <a:ea typeface="Helvetica Neue"/>
                <a:cs typeface="Helvetica Neue"/>
              </a:rPr>
              <a:t>New right-arm weakness</a:t>
            </a:r>
          </a:p>
          <a:p xmlns:a="http://schemas.openxmlformats.org/drawingml/2006/main">
            <a:pPr>
              <a:defRPr sz="2850" b="0">
                <a:solidFill>
                  <a:srgbClr val="24385F"/>
                </a:solidFill>
                <a:latin typeface="Helvetica Neue"/>
                <a:ea typeface="Helvetica Neue"/>
                <a:cs typeface="Helvetica Neue"/>
              </a:defRPr>
            </a:pPr>
            <a:r>
              <a:rPr sz="2850" b="0">
                <a:solidFill>
                  <a:srgbClr val="24385F"/>
                </a:solidFill>
                <a:latin typeface="Helvetica Neue"/>
                <a:ea typeface="Helvetica Neue"/>
                <a:cs typeface="Helvetica Neue"/>
              </a:rPr>
              <a:t>and slurred speech.</a:t>
            </a:r>
          </a:p>
        </p:txBody>
      </p:sp>
      <p:sp>
        <p:nvSpPr>
          <p:cNvPr id="6" name="">
            <a:extLst xmlns:a="http://schemas.openxmlformats.org/drawingml/2006/main">
              <a:ext uri="{FF2B5EF4-FFF2-40B4-BE49-F238E27FC236}">
                <a16:creationId xmlns:a16="http://schemas.microsoft.com/office/drawing/2014/main" id="{810D2BB0-AAA8-45E5-AF7D-C0372507E2BD}"/>
              </a:ext>
            </a:extLst>
          </p:cNvPr>
          <p:cNvSpPr>
            <a:spLocks xmlns:a="http://schemas.openxmlformats.org/drawingml/2006/main" noGrp="1"/>
          </p:cNvSpPr>
          <p:nvPr/>
        </p:nvSpPr>
        <p:spPr>
          <a:xfrm xmlns:a="http://schemas.openxmlformats.org/drawingml/2006/main">
            <a:off x="666750" y="431482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4385F"/>
                </a:solidFill>
                <a:latin typeface="Helvetica Neue"/>
                <a:ea typeface="Helvetica Neue"/>
                <a:cs typeface="Helvetica Neue"/>
              </a:defRPr>
            </a:pPr>
            <a:r>
              <a:rPr sz="2700" b="1">
                <a:solidFill>
                  <a:srgbClr val="24385F"/>
                </a:solidFill>
                <a:latin typeface="Helvetica Neue"/>
                <a:ea typeface="Helvetica Neue"/>
                <a:cs typeface="Helvetica Neue"/>
              </a:rPr>
              <a:t>The queue now puts the decisive update first and preserves the original message.</a:t>
            </a:r>
          </a:p>
        </p:txBody>
      </p:sp>
      <p:sp>
        <p:nvSpPr>
          <p:cNvPr id="7" name="">
            <a:extLst xmlns:a="http://schemas.openxmlformats.org/drawingml/2006/main">
              <a:ext uri="{FF2B5EF4-FFF2-40B4-BE49-F238E27FC236}">
                <a16:creationId xmlns:a16="http://schemas.microsoft.com/office/drawing/2014/main" id="{E5892CC0-C3EB-4FD6-AEE0-B34DEC90EC46}"/>
              </a:ext>
            </a:extLst>
          </p:cNvPr>
          <p:cNvSpPr>
            <a:spLocks xmlns:a="http://schemas.openxmlformats.org/drawingml/2006/main" noGrp="1"/>
          </p:cNvSpPr>
          <p:nvPr/>
        </p:nvSpPr>
        <p:spPr>
          <a:xfrm xmlns:a="http://schemas.openxmlformats.org/drawingml/2006/main">
            <a:off x="666750" y="5657850"/>
            <a:ext cx="10572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45F"/>
                </a:solidFill>
                <a:latin typeface="Helvetica Neue"/>
                <a:ea typeface="Helvetica Neue"/>
                <a:cs typeface="Helvetica Neue"/>
              </a:defRPr>
            </a:pPr>
            <a:r>
              <a:rPr sz="1950" b="0">
                <a:solidFill>
                  <a:srgbClr val="5A645F"/>
                </a:solidFill>
                <a:latin typeface="Helvetica Neue"/>
                <a:ea typeface="Helvetica Neue"/>
                <a:cs typeface="Helvetica Neue"/>
              </a:rPr>
              <a:t>Update provenance comes from recorded events, not a delimiter inferred from patient text.</a:t>
            </a:r>
          </a:p>
        </p:txBody>
      </p:sp>
    </p:spTree>
    <p:extLst>
      <p:ext uri="{BB962C8B-B14F-4D97-AF65-F5344CB8AC3E}">
        <p14:creationId xmlns:p14="http://schemas.microsoft.com/office/powerpoint/2010/main" val="660057182"/>
      </p:ext>
    </p:extLst>
  </p:cSld>
</p:sld>
</file>

<file path=ppt/slides/slide6.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CA05611-22BC-4E1C-A707-6D53548765BF}"/>
              </a:ext>
            </a:extLst>
          </p:cNvPr>
          <p:cNvSpPr>
            <a:spLocks xmlns:a="http://schemas.openxmlformats.org/drawingml/2006/main" noGrp="1"/>
          </p:cNvSpPr>
          <p:nvPr/>
        </p:nvSpPr>
        <p:spPr>
          <a:xfrm xmlns:a="http://schemas.openxmlformats.org/drawingml/2006/main">
            <a:off x="66675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4385F"/>
                </a:solidFill>
                <a:latin typeface="Helvetica Neue"/>
                <a:ea typeface="Helvetica Neue"/>
                <a:cs typeface="Helvetica Neue"/>
              </a:defRPr>
            </a:pPr>
            <a:r>
              <a:rPr sz="3600" b="1">
                <a:solidFill>
                  <a:srgbClr val="24385F"/>
                </a:solidFill>
                <a:latin typeface="Helvetica Neue"/>
                <a:ea typeface="Helvetica Neue"/>
                <a:cs typeface="Helvetica Neue"/>
              </a:rPr>
              <a:t>Evaluation with explicit denominators</a:t>
            </a:r>
          </a:p>
        </p:txBody>
      </p:sp>
      <p:graphicFrame>
        <p:nvGraphicFramePr>
          <p:cNvPr id="5" name=""/>
          <p:cNvGraphicFramePr/>
          <p:nvPr/>
        </p:nvGraphicFramePr>
        <p:xfrm>
          <a:off xmlns:a="http://schemas.openxmlformats.org/drawingml/2006/main" x="666750" y="1809750"/>
          <a:ext xmlns:a="http://schemas.openxmlformats.org/drawingml/2006/main" cx="10858500" cy="3238500"/>
        </p:xfrm>
        <a:graphic xmlns:a="http://schemas.openxmlformats.org/drawingml/2006/main">
          <a:graphicData uri="http://schemas.openxmlformats.org/drawingml/2006/table">
            <a:tbl>
              <a:tblPr firstRow="1" bandRow="0"/>
              <a:tblGrid>
                <a:gridCol w="3381375"/>
                <a:gridCol w="3381375"/>
                <a:gridCol w="4095750"/>
              </a:tblGrid>
              <a:tr h="809625">
                <a:tc>
                  <a:txBody>
                    <a:bodyPr/>
                    <a:lstStyle/>
                    <a:p>
                      <a:r>
                        <a:rPr sz="1950" b="1">
                          <a:solidFill>
                            <a:srgbClr val="FFFFFF"/>
                          </a:solidFill>
                          <a:latin typeface="Helvetica Neue"/>
                          <a:ea typeface="Helvetica Neue"/>
                          <a:cs typeface="Helvetica Neue"/>
                        </a:rPr>
                        <a:t>Evidence set</a:t>
                      </a:r>
                    </a:p>
                  </a:txBody>
                  <a:tcPr marL="152400" marR="152400" marT="114300" marB="114300">
                    <a:solidFill>
                      <a:srgbClr val="24385F"/>
                    </a:solidFill>
                  </a:tcPr>
                </a:tc>
                <a:tc>
                  <a:txBody>
                    <a:bodyPr/>
                    <a:lstStyle/>
                    <a:p>
                      <a:r>
                        <a:rPr sz="1950" b="1">
                          <a:solidFill>
                            <a:srgbClr val="FFFFFF"/>
                          </a:solidFill>
                          <a:latin typeface="Helvetica Neue"/>
                          <a:ea typeface="Helvetica Neue"/>
                          <a:cs typeface="Helvetica Neue"/>
                        </a:rPr>
                        <a:t>Observed result</a:t>
                      </a:r>
                    </a:p>
                  </a:txBody>
                  <a:tcPr marL="152400" marR="152400" marT="114300" marB="114300">
                    <a:solidFill>
                      <a:srgbClr val="24385F"/>
                    </a:solidFill>
                  </a:tcPr>
                </a:tc>
                <a:tc>
                  <a:txBody>
                    <a:bodyPr/>
                    <a:lstStyle/>
                    <a:p>
                      <a:r>
                        <a:rPr sz="1950" b="1">
                          <a:solidFill>
                            <a:srgbClr val="FFFFFF"/>
                          </a:solidFill>
                          <a:latin typeface="Helvetica Neue"/>
                          <a:ea typeface="Helvetica Neue"/>
                          <a:cs typeface="Helvetica Neue"/>
                        </a:rPr>
                        <a:t>What it establishes</a:t>
                      </a:r>
                    </a:p>
                  </a:txBody>
                  <a:tcPr marL="152400" marR="152400" marT="114300" marB="114300">
                    <a:solidFill>
                      <a:srgbClr val="24385F"/>
                    </a:solidFill>
                  </a:tcPr>
                </a:tc>
              </a:tr>
              <a:tr h="809625">
                <a:tc>
                  <a:txBody>
                    <a:bodyPr/>
                    <a:lstStyle/>
                    <a:p>
                      <a:r>
                        <a:rPr sz="1950">
                          <a:solidFill>
                            <a:srgbClr val="272A2B"/>
                          </a:solidFill>
                          <a:latin typeface="Helvetica Neue"/>
                          <a:ea typeface="Helvetica Neue"/>
                          <a:cs typeface="Helvetica Neue"/>
                        </a:rPr>
                        <a:t>9 authored judge controls</a:t>
                      </a:r>
                    </a:p>
                  </a:txBody>
                  <a:tcPr marL="152400" marR="152400" marT="114300" marB="114300"/>
                </a:tc>
                <a:tc>
                  <a:txBody>
                    <a:bodyPr/>
                    <a:lstStyle/>
                    <a:p>
                      <a:r>
                        <a:rPr sz="1950">
                          <a:solidFill>
                            <a:srgbClr val="272A2B"/>
                          </a:solidFill>
                          <a:latin typeface="Helvetica Neue"/>
                          <a:ea typeface="Helvetica Neue"/>
                          <a:cs typeface="Helvetica Neue"/>
                        </a:rPr>
                        <a:t>9 target verdicts matched</a:t>
                      </a:r>
                    </a:p>
                  </a:txBody>
                  <a:tcPr marL="152400" marR="152400" marT="114300" marB="114300"/>
                </a:tc>
                <a:tc>
                  <a:txBody>
                    <a:bodyPr/>
                    <a:lstStyle/>
                    <a:p>
                      <a:r>
                        <a:rPr sz="1950">
                          <a:solidFill>
                            <a:srgbClr val="272A2B"/>
                          </a:solidFill>
                          <a:latin typeface="Helvetica Neue"/>
                          <a:ea typeface="Helvetica Neue"/>
                          <a:cs typeface="Helvetica Neue"/>
                        </a:rPr>
                        <a:t>Selected error detection only</a:t>
                      </a:r>
                    </a:p>
                  </a:txBody>
                  <a:tcPr marL="152400" marR="152400" marT="114300" marB="114300"/>
                </a:tc>
              </a:tr>
              <a:tr h="809625">
                <a:tc>
                  <a:txBody>
                    <a:bodyPr/>
                    <a:lstStyle/>
                    <a:p>
                      <a:r>
                        <a:rPr sz="1950">
                          <a:solidFill>
                            <a:srgbClr val="272A2B"/>
                          </a:solidFill>
                          <a:latin typeface="Helvetica Neue"/>
                          <a:ea typeface="Helvetica Neue"/>
                          <a:cs typeface="Helvetica Neue"/>
                        </a:rPr>
                        <a:t>7 actual GUI assessments</a:t>
                      </a:r>
                    </a:p>
                  </a:txBody>
                  <a:tcPr marL="152400" marR="152400" marT="114300" marB="114300"/>
                </a:tc>
                <a:tc>
                  <a:txBody>
                    <a:bodyPr/>
                    <a:lstStyle/>
                    <a:p>
                      <a:r>
                        <a:rPr sz="1950">
                          <a:solidFill>
                            <a:srgbClr val="272A2B"/>
                          </a:solidFill>
                          <a:latin typeface="Helvetica Neue"/>
                          <a:ea typeface="Helvetica Neue"/>
                          <a:cs typeface="Helvetica Neue"/>
                        </a:rPr>
                        <a:t>7 complete, 4 flagged</a:t>
                      </a:r>
                    </a:p>
                  </a:txBody>
                  <a:tcPr marL="152400" marR="152400" marT="114300" marB="114300"/>
                </a:tc>
                <a:tc>
                  <a:txBody>
                    <a:bodyPr/>
                    <a:lstStyle/>
                    <a:p>
                      <a:r>
                        <a:rPr sz="1950">
                          <a:solidFill>
                            <a:srgbClr val="272A2B"/>
                          </a:solidFill>
                          <a:latin typeface="Helvetica Neue"/>
                          <a:ea typeface="Helvetica Neue"/>
                          <a:cs typeface="Helvetica Neue"/>
                        </a:rPr>
                        <a:t>Observed development failures</a:t>
                      </a:r>
                    </a:p>
                  </a:txBody>
                  <a:tcPr marL="152400" marR="152400" marT="114300" marB="114300"/>
                </a:tc>
              </a:tr>
              <a:tr h="809625">
                <a:tc>
                  <a:txBody>
                    <a:bodyPr/>
                    <a:lstStyle/>
                    <a:p>
                      <a:r>
                        <a:rPr sz="1950">
                          <a:solidFill>
                            <a:srgbClr val="272A2B"/>
                          </a:solidFill>
                          <a:latin typeface="Helvetica Neue"/>
                          <a:ea typeface="Helvetica Neue"/>
                          <a:cs typeface="Helvetica Neue"/>
                        </a:rPr>
                        <a:t>Independent clinical holdout</a:t>
                      </a:r>
                    </a:p>
                  </a:txBody>
                  <a:tcPr marL="152400" marR="152400" marT="114300" marB="114300"/>
                </a:tc>
                <a:tc>
                  <a:txBody>
                    <a:bodyPr/>
                    <a:lstStyle/>
                    <a:p>
                      <a:r>
                        <a:rPr sz="1950">
                          <a:solidFill>
                            <a:srgbClr val="272A2B"/>
                          </a:solidFill>
                          <a:latin typeface="Helvetica Neue"/>
                          <a:ea typeface="Helvetica Neue"/>
                          <a:cs typeface="Helvetica Neue"/>
                        </a:rPr>
                        <a:t>Not executed</a:t>
                      </a:r>
                    </a:p>
                  </a:txBody>
                  <a:tcPr marL="152400" marR="152400" marT="114300" marB="114300"/>
                </a:tc>
                <a:tc>
                  <a:txBody>
                    <a:bodyPr/>
                    <a:lstStyle/>
                    <a:p>
                      <a:r>
                        <a:rPr sz="1950">
                          <a:solidFill>
                            <a:srgbClr val="272A2B"/>
                          </a:solidFill>
                          <a:latin typeface="Helvetica Neue"/>
                          <a:ea typeface="Helvetica Neue"/>
                          <a:cs typeface="Helvetica Neue"/>
                        </a:rPr>
                        <a:t>No clinical accuracy claim</a:t>
                      </a:r>
                    </a:p>
                  </a:txBody>
                  <a:tcPr marL="152400" marR="152400" marT="114300" marB="114300"/>
                </a:tc>
              </a:tr>
            </a:tbl>
          </a:graphicData>
        </a:graphic>
      </p:graphicFrame>
      <p:sp>
        <p:nvSpPr>
          <p:cNvPr id="3" name="">
            <a:extLst xmlns:a="http://schemas.openxmlformats.org/drawingml/2006/main">
              <a:ext uri="{FF2B5EF4-FFF2-40B4-BE49-F238E27FC236}">
                <a16:creationId xmlns:a16="http://schemas.microsoft.com/office/drawing/2014/main" id="{A6A09706-11E1-4A68-8D62-EB2A5E6FA5F1}"/>
              </a:ext>
            </a:extLst>
          </p:cNvPr>
          <p:cNvSpPr>
            <a:spLocks xmlns:a="http://schemas.openxmlformats.org/drawingml/2006/main" noGrp="1"/>
          </p:cNvSpPr>
          <p:nvPr/>
        </p:nvSpPr>
        <p:spPr>
          <a:xfrm xmlns:a="http://schemas.openxmlformats.org/drawingml/2006/main">
            <a:off x="666750" y="55435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4385F"/>
                </a:solidFill>
                <a:latin typeface="Helvetica Neue"/>
                <a:ea typeface="Helvetica Neue"/>
                <a:cs typeface="Helvetica Neue"/>
              </a:defRPr>
            </a:pPr>
            <a:r>
              <a:rPr sz="2400" b="1">
                <a:solidFill>
                  <a:srgbClr val="24385F"/>
                </a:solidFill>
                <a:latin typeface="Helvetica Neue"/>
                <a:ea typeface="Helvetica Neue"/>
                <a:cs typeface="Helvetica Neue"/>
              </a:rPr>
              <a:t>A judge needs validation too. No-flags output is not clinical approval.</a:t>
            </a:r>
          </a:p>
        </p:txBody>
      </p:sp>
    </p:spTree>
    <p:extLst>
      <p:ext uri="{BB962C8B-B14F-4D97-AF65-F5344CB8AC3E}">
        <p14:creationId xmlns:p14="http://schemas.microsoft.com/office/powerpoint/2010/main" val="2137476641"/>
      </p:ext>
    </p:extLst>
  </p:cSld>
</p:sld>
</file>

<file path=ppt/slides/slide7.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A15E2188-57E5-4F31-831B-9CF231C5A758}"/>
              </a:ext>
            </a:extLst>
          </p:cNvPr>
          <p:cNvSpPr>
            <a:spLocks xmlns:a="http://schemas.openxmlformats.org/drawingml/2006/main" noGrp="1"/>
          </p:cNvSpPr>
          <p:nvPr/>
        </p:nvSpPr>
        <p:spPr>
          <a:xfrm xmlns:a="http://schemas.openxmlformats.org/drawingml/2006/main">
            <a:off x="66675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4385F"/>
                </a:solidFill>
                <a:latin typeface="Helvetica Neue"/>
                <a:ea typeface="Helvetica Neue"/>
                <a:cs typeface="Helvetica Neue"/>
              </a:defRPr>
            </a:pPr>
            <a:r>
              <a:rPr sz="3600" b="1">
                <a:solidFill>
                  <a:srgbClr val="24385F"/>
                </a:solidFill>
                <a:latin typeface="Helvetica Neue"/>
                <a:ea typeface="Helvetica Neue"/>
                <a:cs typeface="Helvetica Neue"/>
              </a:rPr>
              <a:t>What independent review caught</a:t>
            </a:r>
          </a:p>
        </p:txBody>
      </p:sp>
      <p:sp>
        <p:nvSpPr>
          <p:cNvPr id="2" name="">
            <a:extLst xmlns:a="http://schemas.openxmlformats.org/drawingml/2006/main">
              <a:ext uri="{FF2B5EF4-FFF2-40B4-BE49-F238E27FC236}">
                <a16:creationId xmlns:a16="http://schemas.microsoft.com/office/drawing/2014/main" id="{8EA41B57-FEF4-42F7-BFE6-232A2D913113}"/>
              </a:ext>
            </a:extLst>
          </p:cNvPr>
          <p:cNvSpPr>
            <a:spLocks xmlns:a="http://schemas.openxmlformats.org/drawingml/2006/main" noGrp="1"/>
          </p:cNvSpPr>
          <p:nvPr/>
        </p:nvSpPr>
        <p:spPr>
          <a:xfrm xmlns:a="http://schemas.openxmlformats.org/drawingml/2006/main">
            <a:off x="666750" y="17049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385F"/>
                </a:solidFill>
                <a:latin typeface="Helvetica Neue"/>
                <a:ea typeface="Helvetica Neue"/>
                <a:cs typeface="Helvetica Neue"/>
              </a:defRPr>
            </a:pPr>
            <a:r>
              <a:rPr sz="2175" b="1">
                <a:solidFill>
                  <a:srgbClr val="24385F"/>
                </a:solidFill>
                <a:latin typeface="Helvetica Neue"/>
                <a:ea typeface="Helvetica Neue"/>
                <a:cs typeface="Helvetica Neue"/>
              </a:rPr>
              <a:t>Patient facts</a:t>
            </a:r>
          </a:p>
        </p:txBody>
      </p:sp>
      <p:sp>
        <p:nvSpPr>
          <p:cNvPr id="3" name="">
            <a:extLst xmlns:a="http://schemas.openxmlformats.org/drawingml/2006/main">
              <a:ext uri="{FF2B5EF4-FFF2-40B4-BE49-F238E27FC236}">
                <a16:creationId xmlns:a16="http://schemas.microsoft.com/office/drawing/2014/main" id="{42B9B727-2863-4159-B836-A4D222BDB4F8}"/>
              </a:ext>
            </a:extLst>
          </p:cNvPr>
          <p:cNvSpPr>
            <a:spLocks xmlns:a="http://schemas.openxmlformats.org/drawingml/2006/main" noGrp="1"/>
          </p:cNvSpPr>
          <p:nvPr/>
        </p:nvSpPr>
        <p:spPr>
          <a:xfrm xmlns:a="http://schemas.openxmlformats.org/drawingml/2006/main">
            <a:off x="3790950" y="1704975"/>
            <a:ext cx="7524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72A2B"/>
                </a:solidFill>
                <a:latin typeface="Helvetica Neue"/>
                <a:ea typeface="Helvetica Neue"/>
                <a:cs typeface="Helvetica Neue"/>
              </a:defRPr>
            </a:pPr>
            <a:r>
              <a:rPr sz="2175" b="0">
                <a:solidFill>
                  <a:srgbClr val="272A2B"/>
                </a:solidFill>
                <a:latin typeface="Helvetica Neue"/>
                <a:ea typeface="Helvetica Neue"/>
                <a:cs typeface="Helvetica Neue"/>
              </a:rPr>
              <a:t>A named medication running out became all acute treatment unavailable.</a:t>
            </a:r>
          </a:p>
        </p:txBody>
      </p:sp>
      <p:sp>
        <p:nvSpPr>
          <p:cNvPr id="4" name="">
            <a:extLst xmlns:a="http://schemas.openxmlformats.org/drawingml/2006/main">
              <a:ext uri="{FF2B5EF4-FFF2-40B4-BE49-F238E27FC236}">
                <a16:creationId xmlns:a16="http://schemas.microsoft.com/office/drawing/2014/main" id="{B75FDFA0-10EA-4BCC-9ECF-569207A53BAD}"/>
              </a:ext>
            </a:extLst>
          </p:cNvPr>
          <p:cNvSpPr>
            <a:spLocks xmlns:a="http://schemas.openxmlformats.org/drawingml/2006/main" noGrp="1"/>
          </p:cNvSpPr>
          <p:nvPr/>
        </p:nvSpPr>
        <p:spPr>
          <a:xfrm xmlns:a="http://schemas.openxmlformats.org/drawingml/2006/main">
            <a:off x="666750" y="27717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385F"/>
                </a:solidFill>
                <a:latin typeface="Helvetica Neue"/>
                <a:ea typeface="Helvetica Neue"/>
                <a:cs typeface="Helvetica Neue"/>
              </a:defRPr>
            </a:pPr>
            <a:r>
              <a:rPr sz="2175" b="1">
                <a:solidFill>
                  <a:srgbClr val="24385F"/>
                </a:solidFill>
                <a:latin typeface="Helvetica Neue"/>
                <a:ea typeface="Helvetica Neue"/>
                <a:cs typeface="Helvetica Neue"/>
              </a:rPr>
              <a:t>Source attribution</a:t>
            </a:r>
          </a:p>
        </p:txBody>
      </p:sp>
      <p:sp>
        <p:nvSpPr>
          <p:cNvPr id="5" name="">
            <a:extLst xmlns:a="http://schemas.openxmlformats.org/drawingml/2006/main">
              <a:ext uri="{FF2B5EF4-FFF2-40B4-BE49-F238E27FC236}">
                <a16:creationId xmlns:a16="http://schemas.microsoft.com/office/drawing/2014/main" id="{72DD7C73-688E-4E64-B1D4-9CDA1AFA82B2}"/>
              </a:ext>
            </a:extLst>
          </p:cNvPr>
          <p:cNvSpPr>
            <a:spLocks xmlns:a="http://schemas.openxmlformats.org/drawingml/2006/main" noGrp="1"/>
          </p:cNvSpPr>
          <p:nvPr/>
        </p:nvSpPr>
        <p:spPr>
          <a:xfrm xmlns:a="http://schemas.openxmlformats.org/drawingml/2006/main">
            <a:off x="3790950" y="2771775"/>
            <a:ext cx="7524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72A2B"/>
                </a:solidFill>
                <a:latin typeface="Helvetica Neue"/>
                <a:ea typeface="Helvetica Neue"/>
                <a:cs typeface="Helvetica Neue"/>
              </a:defRPr>
            </a:pPr>
            <a:r>
              <a:rPr sz="2175" b="0">
                <a:solidFill>
                  <a:srgbClr val="272A2B"/>
                </a:solidFill>
                <a:latin typeface="Helvetica Neue"/>
                <a:ea typeface="Helvetica Neue"/>
                <a:cs typeface="Helvetica Neue"/>
              </a:rPr>
              <a:t>Medication evidence became a claim that remote care was appropriate.</a:t>
            </a:r>
          </a:p>
        </p:txBody>
      </p:sp>
      <p:sp>
        <p:nvSpPr>
          <p:cNvPr id="6" name="">
            <a:extLst xmlns:a="http://schemas.openxmlformats.org/drawingml/2006/main">
              <a:ext uri="{FF2B5EF4-FFF2-40B4-BE49-F238E27FC236}">
                <a16:creationId xmlns:a16="http://schemas.microsoft.com/office/drawing/2014/main" id="{D711F6F4-35AD-4A24-B8CD-F08A0E812162}"/>
              </a:ext>
            </a:extLst>
          </p:cNvPr>
          <p:cNvSpPr>
            <a:spLocks xmlns:a="http://schemas.openxmlformats.org/drawingml/2006/main" noGrp="1"/>
          </p:cNvSpPr>
          <p:nvPr/>
        </p:nvSpPr>
        <p:spPr>
          <a:xfrm xmlns:a="http://schemas.openxmlformats.org/drawingml/2006/main">
            <a:off x="666750" y="38385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385F"/>
                </a:solidFill>
                <a:latin typeface="Helvetica Neue"/>
                <a:ea typeface="Helvetica Neue"/>
                <a:cs typeface="Helvetica Neue"/>
              </a:defRPr>
            </a:pPr>
            <a:r>
              <a:rPr sz="2175" b="1">
                <a:solidFill>
                  <a:srgbClr val="24385F"/>
                </a:solidFill>
                <a:latin typeface="Helvetica Neue"/>
                <a:ea typeface="Helvetica Neue"/>
                <a:cs typeface="Helvetica Neue"/>
              </a:rPr>
              <a:t>Urgency wording</a:t>
            </a:r>
          </a:p>
        </p:txBody>
      </p:sp>
      <p:sp>
        <p:nvSpPr>
          <p:cNvPr id="7" name="">
            <a:extLst xmlns:a="http://schemas.openxmlformats.org/drawingml/2006/main">
              <a:ext uri="{FF2B5EF4-FFF2-40B4-BE49-F238E27FC236}">
                <a16:creationId xmlns:a16="http://schemas.microsoft.com/office/drawing/2014/main" id="{C15900A6-190A-4674-AAD2-1C9A0142739F}"/>
              </a:ext>
            </a:extLst>
          </p:cNvPr>
          <p:cNvSpPr>
            <a:spLocks xmlns:a="http://schemas.openxmlformats.org/drawingml/2006/main" noGrp="1"/>
          </p:cNvSpPr>
          <p:nvPr/>
        </p:nvSpPr>
        <p:spPr>
          <a:xfrm xmlns:a="http://schemas.openxmlformats.org/drawingml/2006/main">
            <a:off x="3790950" y="3838575"/>
            <a:ext cx="7524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72A2B"/>
                </a:solidFill>
                <a:latin typeface="Helvetica Neue"/>
                <a:ea typeface="Helvetica Neue"/>
                <a:cs typeface="Helvetica Neue"/>
              </a:defRPr>
            </a:pPr>
            <a:r>
              <a:rPr sz="2175" b="0">
                <a:solidFill>
                  <a:srgbClr val="272A2B"/>
                </a:solidFill>
                <a:latin typeface="Helvetica Neue"/>
                <a:ea typeface="Helvetica Neue"/>
                <a:cs typeface="Helvetica Neue"/>
              </a:rPr>
              <a:t>Provider-notification wording became immediate-help attribution.</a:t>
            </a:r>
          </a:p>
        </p:txBody>
      </p:sp>
      <p:sp>
        <p:nvSpPr>
          <p:cNvPr id="8" name="">
            <a:extLst xmlns:a="http://schemas.openxmlformats.org/drawingml/2006/main">
              <a:ext uri="{FF2B5EF4-FFF2-40B4-BE49-F238E27FC236}">
                <a16:creationId xmlns:a16="http://schemas.microsoft.com/office/drawing/2014/main" id="{9F930501-EA68-4DC3-9FC5-CBA167B784E9}"/>
              </a:ext>
            </a:extLst>
          </p:cNvPr>
          <p:cNvSpPr>
            <a:spLocks xmlns:a="http://schemas.openxmlformats.org/drawingml/2006/main" noGrp="1"/>
          </p:cNvSpPr>
          <p:nvPr/>
        </p:nvSpPr>
        <p:spPr>
          <a:xfrm xmlns:a="http://schemas.openxmlformats.org/drawingml/2006/main">
            <a:off x="666750" y="4905375"/>
            <a:ext cx="276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24385F"/>
                </a:solidFill>
                <a:latin typeface="Helvetica Neue"/>
                <a:ea typeface="Helvetica Neue"/>
                <a:cs typeface="Helvetica Neue"/>
              </a:defRPr>
            </a:pPr>
            <a:r>
              <a:rPr sz="2175" b="1">
                <a:solidFill>
                  <a:srgbClr val="24385F"/>
                </a:solidFill>
                <a:latin typeface="Helvetica Neue"/>
                <a:ea typeface="Helvetica Neue"/>
                <a:cs typeface="Helvetica Neue"/>
              </a:rPr>
              <a:t>Population fit</a:t>
            </a:r>
          </a:p>
        </p:txBody>
      </p:sp>
      <p:sp>
        <p:nvSpPr>
          <p:cNvPr id="9" name="">
            <a:extLst xmlns:a="http://schemas.openxmlformats.org/drawingml/2006/main">
              <a:ext uri="{FF2B5EF4-FFF2-40B4-BE49-F238E27FC236}">
                <a16:creationId xmlns:a16="http://schemas.microsoft.com/office/drawing/2014/main" id="{B087CBDD-3C58-4EB8-B989-ADC95E544DED}"/>
              </a:ext>
            </a:extLst>
          </p:cNvPr>
          <p:cNvSpPr>
            <a:spLocks xmlns:a="http://schemas.openxmlformats.org/drawingml/2006/main" noGrp="1"/>
          </p:cNvSpPr>
          <p:nvPr/>
        </p:nvSpPr>
        <p:spPr>
          <a:xfrm xmlns:a="http://schemas.openxmlformats.org/drawingml/2006/main">
            <a:off x="3790950" y="4905375"/>
            <a:ext cx="7524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72A2B"/>
                </a:solidFill>
                <a:latin typeface="Helvetica Neue"/>
                <a:ea typeface="Helvetica Neue"/>
                <a:cs typeface="Helvetica Neue"/>
              </a:defRPr>
            </a:pPr>
            <a:r>
              <a:rPr sz="2175" b="0">
                <a:solidFill>
                  <a:srgbClr val="272A2B"/>
                </a:solidFill>
                <a:latin typeface="Helvetica Neue"/>
                <a:ea typeface="Helvetica Neue"/>
                <a:cs typeface="Helvetica Neue"/>
              </a:rPr>
              <a:t>A PSA effect from a different finasteride regimen entered a refill answer.</a:t>
            </a:r>
          </a:p>
        </p:txBody>
      </p:sp>
    </p:spTree>
    <p:extLst>
      <p:ext uri="{BB962C8B-B14F-4D97-AF65-F5344CB8AC3E}">
        <p14:creationId xmlns:p14="http://schemas.microsoft.com/office/powerpoint/2010/main" val="994913478"/>
      </p:ext>
    </p:extLst>
  </p:cSld>
</p:sld>
</file>

<file path=ppt/slides/slide8.xml><?xml version="1.0" encoding="utf-8"?>
<p:sld xmlns:p="http://schemas.openxmlformats.org/presentationml/2006/main">
  <p:cSld>
    <p:bg>
      <p:bgPr>
        <a:solidFill xmlns:a="http://schemas.openxmlformats.org/drawingml/2006/main">
          <a:srgbClr val="F7F5E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C0E5AF7-CCD8-486A-B95C-0EFC15921B2E}"/>
              </a:ext>
            </a:extLst>
          </p:cNvPr>
          <p:cNvSpPr>
            <a:spLocks xmlns:a="http://schemas.openxmlformats.org/drawingml/2006/main" noGrp="1"/>
          </p:cNvSpPr>
          <p:nvPr/>
        </p:nvSpPr>
        <p:spPr>
          <a:xfrm xmlns:a="http://schemas.openxmlformats.org/drawingml/2006/main">
            <a:off x="666750" y="438150"/>
            <a:ext cx="1085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24385F"/>
                </a:solidFill>
                <a:latin typeface="Helvetica Neue"/>
                <a:ea typeface="Helvetica Neue"/>
                <a:cs typeface="Helvetica Neue"/>
              </a:defRPr>
            </a:pPr>
            <a:r>
              <a:rPr sz="3600" b="1">
                <a:solidFill>
                  <a:srgbClr val="24385F"/>
                </a:solidFill>
                <a:latin typeface="Helvetica Neue"/>
                <a:ea typeface="Helvetica Neue"/>
                <a:cs typeface="Helvetica Neue"/>
              </a:rPr>
              <a:t>The next release gates</a:t>
            </a:r>
          </a:p>
        </p:txBody>
      </p:sp>
      <p:sp>
        <p:nvSpPr>
          <p:cNvPr id="2" name="">
            <a:extLst xmlns:a="http://schemas.openxmlformats.org/drawingml/2006/main">
              <a:ext uri="{FF2B5EF4-FFF2-40B4-BE49-F238E27FC236}">
                <a16:creationId xmlns:a16="http://schemas.microsoft.com/office/drawing/2014/main" id="{809D9B9C-F4C4-45FC-83B8-C684A689193C}"/>
              </a:ext>
            </a:extLst>
          </p:cNvPr>
          <p:cNvSpPr>
            <a:spLocks xmlns:a="http://schemas.openxmlformats.org/drawingml/2006/main" noGrp="1"/>
          </p:cNvSpPr>
          <p:nvPr/>
        </p:nvSpPr>
        <p:spPr>
          <a:xfrm xmlns:a="http://schemas.openxmlformats.org/drawingml/2006/main">
            <a:off x="666750" y="172402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4385F"/>
                </a:solidFill>
                <a:latin typeface="Helvetica Neue"/>
                <a:ea typeface="Helvetica Neue"/>
                <a:cs typeface="Helvetica Neue"/>
              </a:defRPr>
            </a:pPr>
            <a:r>
              <a:rPr sz="5400" b="1">
                <a:solidFill>
                  <a:srgbClr val="24385F"/>
                </a:solidFill>
                <a:latin typeface="Helvetica Neue"/>
                <a:ea typeface="Helvetica Neue"/>
                <a:cs typeface="Helvetica Neue"/>
              </a:rPr>
              <a:t>21.7 s</a:t>
            </a:r>
          </a:p>
        </p:txBody>
      </p:sp>
      <p:sp>
        <p:nvSpPr>
          <p:cNvPr id="3" name="">
            <a:extLst xmlns:a="http://schemas.openxmlformats.org/drawingml/2006/main">
              <a:ext uri="{FF2B5EF4-FFF2-40B4-BE49-F238E27FC236}">
                <a16:creationId xmlns:a16="http://schemas.microsoft.com/office/drawing/2014/main" id="{54F75A78-7729-4D67-B586-F407994AA715}"/>
              </a:ext>
            </a:extLst>
          </p:cNvPr>
          <p:cNvSpPr>
            <a:spLocks xmlns:a="http://schemas.openxmlformats.org/drawingml/2006/main" noGrp="1"/>
          </p:cNvSpPr>
          <p:nvPr/>
        </p:nvSpPr>
        <p:spPr>
          <a:xfrm xmlns:a="http://schemas.openxmlformats.org/drawingml/2006/main">
            <a:off x="723900" y="2676525"/>
            <a:ext cx="4333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A645F"/>
                </a:solidFill>
                <a:latin typeface="Helvetica Neue"/>
                <a:ea typeface="Helvetica Neue"/>
                <a:cs typeface="Helvetica Neue"/>
              </a:defRPr>
            </a:pPr>
            <a:r>
              <a:rPr sz="2100" b="0">
                <a:solidFill>
                  <a:srgbClr val="5A645F"/>
                </a:solidFill>
                <a:latin typeface="Helvetica Neue"/>
                <a:ea typeface="Helvetica Neue"/>
                <a:cs typeface="Helvetica Neue"/>
              </a:rPr>
              <a:t>Median final answer</a:t>
            </a:r>
          </a:p>
        </p:txBody>
      </p:sp>
      <p:sp>
        <p:nvSpPr>
          <p:cNvPr id="4" name="">
            <a:extLst xmlns:a="http://schemas.openxmlformats.org/drawingml/2006/main">
              <a:ext uri="{FF2B5EF4-FFF2-40B4-BE49-F238E27FC236}">
                <a16:creationId xmlns:a16="http://schemas.microsoft.com/office/drawing/2014/main" id="{EB3EA021-C521-42E6-A52E-314964ED0015}"/>
              </a:ext>
            </a:extLst>
          </p:cNvPr>
          <p:cNvSpPr>
            <a:spLocks xmlns:a="http://schemas.openxmlformats.org/drawingml/2006/main" noGrp="1"/>
          </p:cNvSpPr>
          <p:nvPr/>
        </p:nvSpPr>
        <p:spPr>
          <a:xfrm xmlns:a="http://schemas.openxmlformats.org/drawingml/2006/main">
            <a:off x="6572250" y="1724025"/>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24385F"/>
                </a:solidFill>
                <a:latin typeface="Helvetica Neue"/>
                <a:ea typeface="Helvetica Neue"/>
                <a:cs typeface="Helvetica Neue"/>
              </a:defRPr>
            </a:pPr>
            <a:r>
              <a:rPr sz="5400" b="1">
                <a:solidFill>
                  <a:srgbClr val="24385F"/>
                </a:solidFill>
                <a:latin typeface="Helvetica Neue"/>
                <a:ea typeface="Helvetica Neue"/>
                <a:cs typeface="Helvetica Neue"/>
              </a:rPr>
              <a:t>43.6 s</a:t>
            </a:r>
          </a:p>
        </p:txBody>
      </p:sp>
      <p:sp>
        <p:nvSpPr>
          <p:cNvPr id="5" name="">
            <a:extLst xmlns:a="http://schemas.openxmlformats.org/drawingml/2006/main">
              <a:ext uri="{FF2B5EF4-FFF2-40B4-BE49-F238E27FC236}">
                <a16:creationId xmlns:a16="http://schemas.microsoft.com/office/drawing/2014/main" id="{57E2EEE7-8216-4AD4-ABE5-02829182B2BF}"/>
              </a:ext>
            </a:extLst>
          </p:cNvPr>
          <p:cNvSpPr>
            <a:spLocks xmlns:a="http://schemas.openxmlformats.org/drawingml/2006/main" noGrp="1"/>
          </p:cNvSpPr>
          <p:nvPr/>
        </p:nvSpPr>
        <p:spPr>
          <a:xfrm xmlns:a="http://schemas.openxmlformats.org/drawingml/2006/main">
            <a:off x="6629400" y="2676525"/>
            <a:ext cx="4381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5A645F"/>
                </a:solidFill>
                <a:latin typeface="Helvetica Neue"/>
                <a:ea typeface="Helvetica Neue"/>
                <a:cs typeface="Helvetica Neue"/>
              </a:defRPr>
            </a:pPr>
            <a:r>
              <a:rPr sz="2100" b="0">
                <a:solidFill>
                  <a:srgbClr val="5A645F"/>
                </a:solidFill>
                <a:latin typeface="Helvetica Neue"/>
                <a:ea typeface="Helvetica Neue"/>
                <a:cs typeface="Helvetica Neue"/>
              </a:rPr>
              <a:t>Slowest final answer</a:t>
            </a:r>
          </a:p>
        </p:txBody>
      </p:sp>
      <p:sp>
        <p:nvSpPr>
          <p:cNvPr id="6" name="">
            <a:extLst xmlns:a="http://schemas.openxmlformats.org/drawingml/2006/main">
              <a:ext uri="{FF2B5EF4-FFF2-40B4-BE49-F238E27FC236}">
                <a16:creationId xmlns:a16="http://schemas.microsoft.com/office/drawing/2014/main" id="{8DAAB2DE-2927-4E6A-BEBC-3805D81552BC}"/>
              </a:ext>
            </a:extLst>
          </p:cNvPr>
          <p:cNvSpPr>
            <a:spLocks xmlns:a="http://schemas.openxmlformats.org/drawingml/2006/main" noGrp="1"/>
          </p:cNvSpPr>
          <p:nvPr/>
        </p:nvSpPr>
        <p:spPr>
          <a:xfrm xmlns:a="http://schemas.openxmlformats.org/drawingml/2006/main">
            <a:off x="666750" y="3771900"/>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24385F"/>
                </a:solidFill>
                <a:latin typeface="Helvetica Neue"/>
                <a:ea typeface="Helvetica Neue"/>
                <a:cs typeface="Helvetica Neue"/>
              </a:defRPr>
            </a:pPr>
            <a:r>
              <a:rPr sz="2550" b="1">
                <a:solidFill>
                  <a:srgbClr val="24385F"/>
                </a:solidFill>
                <a:latin typeface="Helvetica Neue"/>
                <a:ea typeface="Helvetica Neue"/>
                <a:cs typeface="Helvetica Neue"/>
              </a:rPr>
              <a:t>Still open</a:t>
            </a:r>
          </a:p>
        </p:txBody>
      </p:sp>
      <p:sp>
        <p:nvSpPr>
          <p:cNvPr id="7" name="">
            <a:extLst xmlns:a="http://schemas.openxmlformats.org/drawingml/2006/main">
              <a:ext uri="{FF2B5EF4-FFF2-40B4-BE49-F238E27FC236}">
                <a16:creationId xmlns:a16="http://schemas.microsoft.com/office/drawing/2014/main" id="{44F33931-067F-4EFA-BB11-8F174D1A644A}"/>
              </a:ext>
            </a:extLst>
          </p:cNvPr>
          <p:cNvSpPr>
            <a:spLocks xmlns:a="http://schemas.openxmlformats.org/drawingml/2006/main" noGrp="1"/>
          </p:cNvSpPr>
          <p:nvPr/>
        </p:nvSpPr>
        <p:spPr>
          <a:xfrm xmlns:a="http://schemas.openxmlformats.org/drawingml/2006/main">
            <a:off x="666750" y="44577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272A2B"/>
                </a:solidFill>
                <a:latin typeface="Helvetica Neue"/>
                <a:ea typeface="Helvetica Neue"/>
                <a:cs typeface="Helvetica Neue"/>
              </a:defRPr>
            </a:pPr>
            <a:r>
              <a:rPr sz="2400" b="0">
                <a:solidFill>
                  <a:srgbClr val="272A2B"/>
                </a:solidFill>
                <a:latin typeface="Helvetica Neue"/>
                <a:ea typeface="Helvetica Neue"/>
                <a:cs typeface="Helvetica Neue"/>
              </a:rPr>
              <a:t>Final-generation latency. Source dose and population matching.</a:t>
            </a:r>
          </a:p>
          <a:p xmlns:a="http://schemas.openxmlformats.org/drawingml/2006/main">
            <a:pPr>
              <a:defRPr sz="2400" b="0">
                <a:solidFill>
                  <a:srgbClr val="272A2B"/>
                </a:solidFill>
                <a:latin typeface="Helvetica Neue"/>
                <a:ea typeface="Helvetica Neue"/>
                <a:cs typeface="Helvetica Neue"/>
              </a:defRPr>
            </a:pPr>
            <a:r>
              <a:rPr sz="2400" b="0">
                <a:solidFill>
                  <a:srgbClr val="272A2B"/>
                </a:solidFill>
                <a:latin typeface="Helvetica Neue"/>
                <a:ea typeface="Helvetica Neue"/>
                <a:cs typeface="Helvetica Neue"/>
              </a:rPr>
              <a:t>Physician calibration and evaluation on unseen cases.</a:t>
            </a:r>
          </a:p>
        </p:txBody>
      </p:sp>
      <p:sp>
        <p:nvSpPr>
          <p:cNvPr id="8" name="">
            <a:extLst xmlns:a="http://schemas.openxmlformats.org/drawingml/2006/main">
              <a:ext uri="{FF2B5EF4-FFF2-40B4-BE49-F238E27FC236}">
                <a16:creationId xmlns:a16="http://schemas.microsoft.com/office/drawing/2014/main" id="{B9309DCA-721F-435A-AA2E-5AF8BA090DBA}"/>
              </a:ext>
            </a:extLst>
          </p:cNvPr>
          <p:cNvSpPr>
            <a:spLocks xmlns:a="http://schemas.openxmlformats.org/drawingml/2006/main" noGrp="1"/>
          </p:cNvSpPr>
          <p:nvPr/>
        </p:nvSpPr>
        <p:spPr>
          <a:xfrm xmlns:a="http://schemas.openxmlformats.org/drawingml/2006/main">
            <a:off x="666750" y="591502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A645F"/>
                </a:solidFill>
                <a:latin typeface="Helvetica Neue"/>
                <a:ea typeface="Helvetica Neue"/>
                <a:cs typeface="Helvetica Neue"/>
              </a:defRPr>
            </a:pPr>
            <a:r>
              <a:rPr sz="1950" b="0">
                <a:solidFill>
                  <a:srgbClr val="5A645F"/>
                </a:solidFill>
                <a:latin typeface="Helvetica Neue"/>
                <a:ea typeface="Helvetica Neue"/>
                <a:cs typeface="Helvetica Neue"/>
              </a:rPr>
              <a:t>The live demo shows the remaining failures alongside the working system.</a:t>
            </a:r>
          </a:p>
        </p:txBody>
      </p:sp>
    </p:spTree>
    <p:extLst>
      <p:ext uri="{BB962C8B-B14F-4D97-AF65-F5344CB8AC3E}">
        <p14:creationId xmlns:p14="http://schemas.microsoft.com/office/powerpoint/2010/main" val="18828240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2026-09-11T23:33:35.2810000Z</dcterms:created>
  <dcterms:modified xsi:type="dcterms:W3CDTF">2026-09-11T23:33:35.2810000Z</dcterms:modified>
</coreProperties>
</file>
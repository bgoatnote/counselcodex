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b8706992064613" /><Relationship Type="http://schemas.openxmlformats.org/officeDocument/2006/relationships/extended-properties" Target="/docProps/app.xml" Id="R1ad67199ccc146e5" /><Relationship Type="http://schemas.openxmlformats.org/officeDocument/2006/relationships/officeDocument" Target="/ppt/presentation.xml" Id="R5ee9f435a5b14a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9d0250b0304cf7"/>
  </p:sldMasterIdLst>
  <p:notesMasterIdLst>
    <p:notesMasterId xmlns:r="http://schemas.openxmlformats.org/officeDocument/2006/relationships" r:id="R04da5233eb354abc"/>
  </p:notesMasterIdLst>
  <p:sldIdLst>
    <p:sldId xmlns:r="http://schemas.openxmlformats.org/officeDocument/2006/relationships" id="256" r:id="Re5ebbf4055bc4b07"/>
    <p:sldId xmlns:r="http://schemas.openxmlformats.org/officeDocument/2006/relationships" id="257" r:id="R6d8a0034d0ca4a29"/>
    <p:sldId xmlns:r="http://schemas.openxmlformats.org/officeDocument/2006/relationships" id="258" r:id="R160d96f7b59b4ac6"/>
    <p:sldId xmlns:r="http://schemas.openxmlformats.org/officeDocument/2006/relationships" id="259" r:id="R5d48ef4ddb23423c"/>
    <p:sldId xmlns:r="http://schemas.openxmlformats.org/officeDocument/2006/relationships" id="260" r:id="Rcea0e703529c4319"/>
    <p:sldId xmlns:r="http://schemas.openxmlformats.org/officeDocument/2006/relationships" id="261" r:id="R59529f3ddf3f494e"/>
    <p:sldId xmlns:r="http://schemas.openxmlformats.org/officeDocument/2006/relationships" id="262" r:id="Ra6b9a295f5c14d3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9635f1f0bf4a2f" /><Relationship Type="http://schemas.openxmlformats.org/officeDocument/2006/relationships/slideMaster" Target="/ppt/slideMasters/slideMaster1.xml" Id="R8a9d0250b0304cf7" /><Relationship Type="http://schemas.openxmlformats.org/officeDocument/2006/relationships/notesMaster" Target="/ppt/notesMasters/notesMaster1.xml" Id="R04da5233eb354abc" /><Relationship Type="http://schemas.openxmlformats.org/officeDocument/2006/relationships/presProps" Target="/ppt/presProps.xml" Id="Red4ca636537449e0" /><Relationship Type="http://schemas.openxmlformats.org/officeDocument/2006/relationships/tableStyles" Target="/ppt/tableStyles.xml" Id="Rfd09fc3abb7241ac" /><Relationship Type="http://schemas.openxmlformats.org/officeDocument/2006/relationships/slide" Target="/ppt/slides/slide1.xml" Id="Re5ebbf4055bc4b07" /><Relationship Type="http://schemas.openxmlformats.org/officeDocument/2006/relationships/slide" Target="/ppt/slides/slide2.xml" Id="R6d8a0034d0ca4a29" /><Relationship Type="http://schemas.openxmlformats.org/officeDocument/2006/relationships/slide" Target="/ppt/slides/slide3.xml" Id="R160d96f7b59b4ac6" /><Relationship Type="http://schemas.openxmlformats.org/officeDocument/2006/relationships/slide" Target="/ppt/slides/slide4.xml" Id="R5d48ef4ddb23423c" /><Relationship Type="http://schemas.openxmlformats.org/officeDocument/2006/relationships/slide" Target="/ppt/slides/slide5.xml" Id="Rcea0e703529c4319" /><Relationship Type="http://schemas.openxmlformats.org/officeDocument/2006/relationships/slide" Target="/ppt/slides/slide6.xml" Id="R59529f3ddf3f494e" /><Relationship Type="http://schemas.openxmlformats.org/officeDocument/2006/relationships/slide" Target="/ppt/slides/slide7.xml" Id="Ra6b9a295f5c14d3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10d8f936f445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f6d5fa0dff492c" /><Relationship Type="http://schemas.openxmlformats.org/officeDocument/2006/relationships/notesMaster" Target="/ppt/notesMasters/notesMaster1.xml" Id="R277dba34ad6849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86db708888b4dcd" /><Relationship Type="http://schemas.openxmlformats.org/officeDocument/2006/relationships/notesMaster" Target="/ppt/notesMasters/notesMaster1.xml" Id="R8f1b96cb7bc949c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c95e60b3b604fca" /><Relationship Type="http://schemas.openxmlformats.org/officeDocument/2006/relationships/notesMaster" Target="/ppt/notesMasters/notesMaster1.xml" Id="R88effc4599a2495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e897906e990430c" /><Relationship Type="http://schemas.openxmlformats.org/officeDocument/2006/relationships/notesMaster" Target="/ppt/notesMasters/notesMaster1.xml" Id="R9135d6e5dfea4f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3c05e0c18841a0" /><Relationship Type="http://schemas.openxmlformats.org/officeDocument/2006/relationships/notesMaster" Target="/ppt/notesMasters/notesMaster1.xml" Id="Rfecd0aa7921a4c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68e952735534561" /><Relationship Type="http://schemas.openxmlformats.org/officeDocument/2006/relationships/notesMaster" Target="/ppt/notesMasters/notesMaster1.xml" Id="R74bb3327a852474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44afc50a5834181" /><Relationship Type="http://schemas.openxmlformats.org/officeDocument/2006/relationships/notesMaster" Target="/ppt/notesMasters/notesMaster1.xml" Id="Rbb0d49d12dce4cd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Frame the task narrowly: routing and a supported response, not autonomous prescribing or a simulated clinic. This expanded user-directed project exceeds the original assignment timebox. This is an independent prototype, not an official Counsel service.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docs/CLINICAL_DISPOSITION_POLICY.md; physician-selected five-route policy. Service availability and delivery are unconnected; no response guarantee. Emergency transport is typed, not another acuity bin.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src/disposition/clinical-graph.ts and docs/CURRENT_PIPELINE.md. Haiku context/safety, Opus disposition, Astra full review. Usually 4 calls, 6 with repair; confirmed failures can add bounded retries. Original labels and physician reference never enter prompts. Mastra public Counsel case study: https://mastra.ai/customers/counsel-health. This is our implementation, not their private topology.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data/evaluation/physician-system-reference-v2.json; docs/PHYSICIAN_REVIEW_SCORECARD_2026-09-13.md; current cohort scorecard. The user reported 49 agreements and a qualified C25 DVT disagreement. No new criterion-level adjudication invented. Original CSV labels are observations, not clinical gold.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outputs/review-repair-sprint-network-2026-09-14; docs/REVIEW_REPAIR_SPRINT_2026-09-14.md. Exploratory n=3, one sample per arm; feedback incomplete, whole-answer judge not fully calibrated. Targeted calibration 11/12 matches; one control confounded. No confidence interval or clinical superiority claim. Fresh review remains on critical path.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outputs/review-repair-gui-2026-09-14/capture-final/summary.json and raw runs/events. These are sequential engineering rehearsal cases and updates, not independent clinical validation. Times are server completion, not browser paint. A retained care directive is not a completed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docs/REVIEW_REPAIR_SPRINT_2026-09-14.md and docs/CURRENT_TAKE_HOME_ACCOUNTING.md. Required next proof: repair convergence and calibrated judge, independent unseen cases with defensible alternatives, sensitivity/overtriage/source support/latency/failure/cost metrics. Counsel method: https://www.counselhealth.com/blog/how-counsel-leveraged-healthbench-to-assess-emergency-escalation . Their exact private 103-case IDs are not published; reproduction must be labeled method reconstruction.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098f03046f41f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167d87b3a7a4808" /><Relationship Type="http://schemas.openxmlformats.org/officeDocument/2006/relationships/slideLayout" Target="/ppt/slideLayouts/slideLayout1.xml" Id="Ree5f44240b5e438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5f44240b5e438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373c8cfc324f86" /><Relationship Type="http://schemas.openxmlformats.org/officeDocument/2006/relationships/notesSlide" Target="/ppt/notesSlides/notesSlide1.xml" Id="Rafbb8e6664fe49e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0f1b344784d51" /><Relationship Type="http://schemas.openxmlformats.org/officeDocument/2006/relationships/notesSlide" Target="/ppt/notesSlides/notesSlide2.xml" Id="Ra344804eb4a748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26fa7cabbf46b4" /><Relationship Type="http://schemas.openxmlformats.org/officeDocument/2006/relationships/notesSlide" Target="/ppt/notesSlides/notesSlide3.xml" Id="R0a8017d60bc64e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e0a5948cdd41f4" /><Relationship Type="http://schemas.openxmlformats.org/officeDocument/2006/relationships/notesSlide" Target="/ppt/notesSlides/notesSlide4.xml" Id="Ra5f837d4d89b4a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15b92e82d41eb" /><Relationship Type="http://schemas.openxmlformats.org/officeDocument/2006/relationships/notesSlide" Target="/ppt/notesSlides/notesSlide5.xml" Id="Rc12bbe649f4742e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d1ac6ef194727" /><Relationship Type="http://schemas.openxmlformats.org/officeDocument/2006/relationships/notesSlide" Target="/ppt/notesSlides/notesSlide6.xml" Id="Rf2cf5153071f428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f7340b7764155" /><Relationship Type="http://schemas.openxmlformats.org/officeDocument/2006/relationships/notesSlide" Target="/ppt/notesSlides/notesSlide7.xml" Id="Rfc6a499839fc4b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4E28CF-C3E1-42E6-A270-54AB2401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D6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911650-79E9-4FE0-BEB7-C25F9ADA7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COUNSEL DISPOSITION • INDEPENDENT TAKE-HOME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2D24A3-C953-4F5B-8490-AD00532D1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10668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The right care.</a:t>
            </a:r>
          </a:p>
          <a:p xmlns:a="http://schemas.openxmlformats.org/drawingml/2006/main">
            <a:pPr>
              <a:defRPr sz="48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The right priority.</a:t>
            </a:r>
          </a:p>
          <a:p xmlns:a="http://schemas.openxmlformats.org/drawingml/2006/main">
            <a:pPr>
              <a:defRPr sz="48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A defensible reason.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21CE11-FA0D-40ED-AA0D-569B4FF1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10096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42B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42B30"/>
                </a:solidFill>
                <a:latin typeface="Helvetica Neue"/>
                <a:ea typeface="Helvetica Neue"/>
                <a:cs typeface="Helvetica Neue"/>
              </a:rPr>
              <a:t>A real Mastra router, a physician-defined development reference,</a:t>
            </a:r>
          </a:p>
          <a:p xmlns:a="http://schemas.openxmlformats.org/drawingml/2006/main">
            <a:pPr>
              <a:defRPr sz="2100" b="0">
                <a:solidFill>
                  <a:srgbClr val="242B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242B30"/>
                </a:solidFill>
                <a:latin typeface="Helvetica Neue"/>
                <a:ea typeface="Helvetica Neue"/>
                <a:cs typeface="Helvetica Neue"/>
              </a:rPr>
              <a:t>and an honest test of what the extra agents add.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5C25BE-ABA5-483D-B987-2E7D9F58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05790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Candidate evidence-graph/v20 • 14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52885808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9E12E3-1C0B-4590-9843-9ED078B6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Urgency is not the same as care setting.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28715B-62EF-439F-A613-467C36268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Refill is a work type. Priority and Standard async share the same clinician destination.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7B5F03-D5F3-4D1F-B8DE-18A1D1A0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Independent take-home • Development evidence • 14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E36F00-ED39-4833-B9B4-A4DD37E2D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76450"/>
          <a:ext xmlns:a="http://schemas.openxmlformats.org/drawingml/2006/main" cx="109728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7639050"/>
              </a:tblGrid>
              <a:tr h="5715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Care route</a:t>
                      </a:r>
                    </a:p>
                  </a:txBody>
                  <a:tcPr marL="133350" marR="133350" marT="114300" marB="114300">
                    <a:solidFill>
                      <a:srgbClr val="243D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What it requires</a:t>
                      </a:r>
                    </a:p>
                  </a:txBody>
                  <a:tcPr marL="133350" marR="133350" marT="114300" marB="114300">
                    <a:solidFill>
                      <a:srgbClr val="243D6A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Self care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Guidance only; no current clinician task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Priority async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Time-sensitive Counsel clinician review or prescribing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Standard async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Lower queue priority; prompt service-hours review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In-person today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 specific physical examination, test or treatment today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Emergency now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Immediate action: 911, active EMS or ED attendance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7C57D1-9A33-4566-9302-B592555FE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Handoff boundary: recommend the destination; do not invent sending, booking or acceptance.</a:t>
            </a:r>
          </a:p>
        </p:txBody>
      </p:sp>
    </p:spTree>
    <p:extLst>
      <p:ext uri="{BB962C8B-B14F-4D97-AF65-F5344CB8AC3E}">
        <p14:creationId xmlns:p14="http://schemas.microsoft.com/office/powerpoint/2010/main" val="532638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CE1A68C-DD6F-4E37-A7D8-EBDEACA4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Parallel intake. One reviewed recommendation.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7127E7-35B3-405E-BF47-8778F4024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The fast safety branch does not wait for evidence, Opus, or the judge.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984B15-2AEE-4E9C-A590-D24656673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Independent take-home • Development evidence • 14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CFC50C-6769-474D-89C3-779183E3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0D3432-1E08-4BB6-80C3-A1F7C937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571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D6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DC738D-0693-492C-88CD-34614B88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33700"/>
            <a:ext cx="22288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Patient 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231F59-E8FD-4CBC-B0F0-2071D305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1527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D6A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7EB132-5F42-4635-9414-BE17BB998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190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D6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8B9F8F-7781-403F-819E-5485E1354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D6A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6A23F1-F39A-47CC-9532-0CEF4F45C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619500"/>
            <a:ext cx="3143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D6A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9F066E-FDF6-4688-AAA4-A6EAA029B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16217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E60018-7D6F-4F3D-BE4A-67B23246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3381375"/>
            <a:ext cx="28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0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5E1686-7E7A-4EC9-A626-22B16346F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019300"/>
            <a:ext cx="29051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F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DF8B9E5-37F4-48DA-9CEB-3B752C13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24075"/>
            <a:ext cx="2571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Haiku safety → early action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D5D33C-991E-4CA6-AD3D-D54F2E03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095625"/>
            <a:ext cx="2905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F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52592E-2361-4EBF-917A-51A469A1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305175"/>
            <a:ext cx="2571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Haiku context</a:t>
            </a:r>
          </a:p>
          <a:p xmlns:a="http://schemas.openxmlformats.org/drawingml/2006/main">
            <a:pPr>
              <a:defRPr sz="18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→ evidence retrieval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90378A-F15B-406C-A62C-E8F4FCE01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333750"/>
            <a:ext cx="47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0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B83B99-0938-46FD-B46E-0313D2B42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366712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3D6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726A7-3641-4334-BC94-2EE15999E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476625"/>
            <a:ext cx="3286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Opus draft → Astra review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40206-1836-422D-91FA-7F22D019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1007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Independent branches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4262B1-B0C6-44CA-B411-47A1AFBE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6225" y="4429125"/>
            <a:ext cx="36957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Scoped patch → fresh review</a:t>
            </a:r>
          </a:p>
          <a:p xmlns:a="http://schemas.openxmlformats.org/drawingml/2006/main">
            <a:pPr>
              <a:defRPr sz="1725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Release or retain unresolved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63476-C038-43EE-BFA0-41DA88963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242B3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242B30"/>
                </a:solidFill>
                <a:latin typeface="Helvetica Neue"/>
                <a:ea typeface="Helvetica Neue"/>
                <a:cs typeface="Helvetica Neue"/>
              </a:rPr>
              <a:t>Early action is an LLM decision with standard rendering—not a cached case answer.</a:t>
            </a:r>
          </a:p>
        </p:txBody>
      </p:sp>
    </p:spTree>
    <p:extLst>
      <p:ext uri="{BB962C8B-B14F-4D97-AF65-F5344CB8AC3E}">
        <p14:creationId xmlns:p14="http://schemas.microsoft.com/office/powerpoint/2010/main" val="1741625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161BF-C918-489D-BF3F-9A56CF32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The reference is attributable—not independent.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4AB89F-F1E9-4E90-8D75-38BFC5FB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The physician-engineer reviewed all 50 incumbent responses after iterative development.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7AE573-136B-42FC-9DBD-4973FD230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Independent take-home • Development evidence • 14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AC5F3-9AA3-46E2-8C88-D44BB4B91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124075"/>
          <a:ext xmlns:a="http://schemas.openxmlformats.org/drawingml/2006/main" cx="1097280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7258050"/>
              </a:tblGrid>
              <a:tr h="61531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layer</a:t>
                      </a:r>
                    </a:p>
                  </a:txBody>
                  <a:tcPr marL="133350" marR="133350" marT="114300" marB="114300">
                    <a:solidFill>
                      <a:srgbClr val="243D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Permitted interpretation</a:t>
                      </a:r>
                    </a:p>
                  </a:txBody>
                  <a:tcPr marL="133350" marR="133350" marT="114300" marB="114300">
                    <a:solidFill>
                      <a:srgbClr val="243D6A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50-case incumbent review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49 agreements; 1 qualified DVT disagreement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candidate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Must earn its own version-bound comparison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Unattempted / failed cases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Remain visible; never become successes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  <a:tr h="61531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Defensible alternatives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Separate from exact agreement and hard error labels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0C24AE-1B67-492B-A4E6-4D98E4470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38800"/>
            <a:ext cx="10953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Next clinical proof: blinded, independently adjudicated new cases—not another score on development examples.</a:t>
            </a:r>
          </a:p>
        </p:txBody>
      </p:sp>
    </p:spTree>
    <p:extLst>
      <p:ext uri="{BB962C8B-B14F-4D97-AF65-F5344CB8AC3E}">
        <p14:creationId xmlns:p14="http://schemas.microsoft.com/office/powerpoint/2010/main" val="8540659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283856-D315-4C3C-9CC8-95B7D8AE2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Smaller repairs are faster. Clinical lift is unproven.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FFB363-18DA-49F9-B863-CFA32190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Three usable fixed pairs; one wrong-draft pair excluded and retained in the audit.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1CD1C5-E55A-4056-9B35-5A421434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Independent take-home • Development evidence • 14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22E7FF-3563-4638-A96E-94685EA07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609600" y="2095500"/>
          <a:ext xmlns:a="http://schemas.openxmlformats.org/drawingml/2006/main" cx="10972800" cy="2952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743450"/>
                <a:gridCol w="3114675"/>
                <a:gridCol w="3114675"/>
              </a:tblGrid>
              <a:tr h="738188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Median / outcome</a:t>
                      </a:r>
                    </a:p>
                  </a:txBody>
                  <a:tcPr marL="133350" marR="133350" marT="114300" marB="114300">
                    <a:solidFill>
                      <a:srgbClr val="243D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Full regeneration</a:t>
                      </a:r>
                    </a:p>
                  </a:txBody>
                  <a:tcPr marL="133350" marR="133350" marT="114300" marB="114300">
                    <a:solidFill>
                      <a:srgbClr val="243D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Field-local patch</a:t>
                      </a:r>
                    </a:p>
                  </a:txBody>
                  <a:tcPr marL="133350" marR="133350" marT="114300" marB="114300">
                    <a:solidFill>
                      <a:srgbClr val="243D6A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Repair generation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18.233 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8.559 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Repair + fresh review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47.197 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43.622 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  <a:tr h="738188"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Judge-accepted drafts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/ 3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 / 3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7EA872-CD97-46AE-A6F0-8722AF59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00675"/>
            <a:ext cx="1085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53.1% less repair time → only 7.6% less repair-plus-review time.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36F4D8-7D03-4C46-B7EC-CE377B4E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858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Keep source and care checks. Optimize the bottleneck; do not optimize a pass label.</a:t>
            </a:r>
          </a:p>
        </p:txBody>
      </p:sp>
    </p:spTree>
    <p:extLst>
      <p:ext uri="{BB962C8B-B14F-4D97-AF65-F5344CB8AC3E}">
        <p14:creationId xmlns:p14="http://schemas.microsoft.com/office/powerpoint/2010/main" val="97349350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71EC40-7827-438B-BDD9-97F3DCE17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The browser—not the unit test—is the handoff test.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08A731-F23F-49C1-8098-AD920306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All v20 submissions are shown. Earlier v18/v19 failures remain in the report.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F49F5-A448-4022-9ECD-99CB623C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Independent take-home • Development evidence • 14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D16141-DD94-42BA-949E-D3CCF7292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057400"/>
          <a:ext xmlns:a="http://schemas.openxmlformats.org/drawingml/2006/main" cx="10972800" cy="36766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10000"/>
                <a:gridCol w="3257550"/>
                <a:gridCol w="3905250"/>
              </a:tblGrid>
              <a:tr h="525236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Live input</a:t>
                      </a:r>
                    </a:p>
                  </a:txBody>
                  <a:tcPr marL="133350" marR="133350" marT="114300" marB="114300">
                    <a:solidFill>
                      <a:srgbClr val="243D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Visible care</a:t>
                      </a:r>
                    </a:p>
                  </a:txBody>
                  <a:tcPr marL="133350" marR="133350" marT="114300" marB="114300">
                    <a:solidFill>
                      <a:srgbClr val="243D6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Completion</a:t>
                      </a:r>
                    </a:p>
                  </a:txBody>
                  <a:tcPr marL="133350" marR="133350" marT="114300" marB="114300">
                    <a:solidFill>
                      <a:srgbClr val="243D6A"/>
                    </a:solidFill>
                  </a:tcPr>
                </a:tc>
              </a:tr>
              <a:tr h="52523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Migraine refill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Priority async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Released • 87.7 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  <a:tr h="52523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Unchanged follow-up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Priority async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Released • 75.9 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  <a:tr h="52523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Chest-pressure case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Emergency now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Released • 46.4 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  <a:tr h="52523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Active-EMS update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Emergency now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Released • 43.7 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  <a:tr h="52523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Diabetic foot wound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In-person today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Released • 79.0 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  <a:tr h="525236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New airway symptoms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Emergency now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242B30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Released • 39.3 s</a:t>
                      </a:r>
                    </a:p>
                  </a:txBody>
                  <a:tcPr marL="133350" marR="133350" marT="114300" marB="114300">
                    <a:solidFill>
                      <a:srgbClr val="F7F4EB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BD112-738D-471F-A84E-56B4B7406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85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Every result remains tied to its version, input, sources, review and failure record.</a:t>
            </a:r>
          </a:p>
        </p:txBody>
      </p:sp>
    </p:spTree>
    <p:extLst>
      <p:ext uri="{BB962C8B-B14F-4D97-AF65-F5344CB8AC3E}">
        <p14:creationId xmlns:p14="http://schemas.microsoft.com/office/powerpoint/2010/main" val="9620610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7689B0-E590-481E-A161-1FC0AE34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5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Promote on measured benefit—not added complexity.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04052E-0051-4471-884D-DC2AF1A5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33500"/>
            <a:ext cx="10953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The implementation is real. The clinical and operational burden of proof remains.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0851F-0508-4BDB-8B54-9DEC747B6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29375"/>
            <a:ext cx="1009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Independent take-home • Development evidence • 14 September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7D01EB-2B9D-46D4-9AA5-DCB65D1C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29375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58656B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6F9C4A-6AC7-47E7-8407-8CF3F7ED3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52650"/>
            <a:ext cx="5000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Implemented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B53493-780C-43FF-86C6-AC5915838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00350"/>
            <a:ext cx="5143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800" b="0">
                <a:solidFill>
                  <a:srgbClr val="242B30"/>
                </a:solidFill>
                <a:latin typeface="Helvetica Neue"/>
                <a:ea typeface="Helvetica Neue"/>
                <a:cs typeface="Helvetica Neue"/>
              </a:defRPr>
            </a:pPr>
            <a:r>
              <a:t>Hash-bound patches and fresh review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800" b="0">
                <a:solidFill>
                  <a:srgbClr val="242B30"/>
                </a:solidFill>
                <a:latin typeface="Helvetica Neue"/>
                <a:ea typeface="Helvetica Neue"/>
                <a:cs typeface="Helvetica Neue"/>
              </a:defRPr>
            </a:pPr>
            <a:r>
              <a:t>Care-only fallback when no early notice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800" b="0">
                <a:solidFill>
                  <a:srgbClr val="242B30"/>
                </a:solidFill>
                <a:latin typeface="Helvetica Neue"/>
                <a:ea typeface="Helvetica Neue"/>
                <a:cs typeface="Helvetica Neue"/>
              </a:defRPr>
            </a:pPr>
            <a:r>
              <a:t>Truncation recovery; real Mastra build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800" b="0">
                <a:solidFill>
                  <a:srgbClr val="242B30"/>
                </a:solidFill>
                <a:latin typeface="Helvetica Neue"/>
                <a:ea typeface="Helvetica Neue"/>
                <a:cs typeface="Helvetica Neue"/>
              </a:defRPr>
            </a:pPr>
            <a:r>
              <a:t>One version-bound submission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AD761F-38F9-4D7E-B65B-199A40223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52650"/>
            <a:ext cx="5095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Before promotion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5A0BE6-8CCD-4FC1-8702-16BA11718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800350"/>
            <a:ext cx="5095875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800" b="0">
                <a:solidFill>
                  <a:srgbClr val="242B30"/>
                </a:solidFill>
                <a:latin typeface="Helvetica Neue"/>
                <a:ea typeface="Helvetica Neue"/>
                <a:cs typeface="Helvetica Neue"/>
              </a:defRPr>
            </a:pPr>
            <a:r>
              <a:t>Calibrate missed and excessive findings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800" b="0">
                <a:solidFill>
                  <a:srgbClr val="242B30"/>
                </a:solidFill>
                <a:latin typeface="Helvetica Neue"/>
                <a:ea typeface="Helvetica Neue"/>
                <a:cs typeface="Helvetica Neue"/>
              </a:defRPr>
            </a:pPr>
            <a:r>
              <a:t>Reduce latency and repair nonconvergence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800" b="0">
                <a:solidFill>
                  <a:srgbClr val="242B30"/>
                </a:solidFill>
                <a:latin typeface="Helvetica Neue"/>
                <a:ea typeface="Helvetica Neue"/>
                <a:cs typeface="Helvetica Neue"/>
              </a:defRPr>
            </a:pPr>
            <a:r>
              <a:t>Adjudicate new cases independently</a:t>
            </a:r>
          </a:p>
          <a:p xmlns:a="http://schemas.openxmlformats.org/drawingml/2006/main">
            <a:pPr marL="228600" indent="-114300">
              <a:spcAft>
                <a:spcPts val="1800"/>
              </a:spcAft>
              <a:buChar char="•"/>
              <a:defRPr sz="1800" b="0">
                <a:solidFill>
                  <a:srgbClr val="242B30"/>
                </a:solidFill>
                <a:latin typeface="Helvetica Neue"/>
                <a:ea typeface="Helvetica Neue"/>
                <a:cs typeface="Helvetica Neue"/>
              </a:defRPr>
            </a:pPr>
            <a:r>
              <a:t>Measure benefit, burden and cost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44731-956A-4A4C-A91D-7648E706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243D6A"/>
                </a:solidFill>
                <a:latin typeface="Helvetica Neue"/>
                <a:ea typeface="Helvetica Neue"/>
                <a:cs typeface="Helvetica Neue"/>
              </a:rPr>
              <a:t>Demo boundary: routing recommendation. No simulated clinician delivery or follow-up.</a:t>
            </a:r>
          </a:p>
        </p:txBody>
      </p:sp>
    </p:spTree>
    <p:extLst>
      <p:ext uri="{BB962C8B-B14F-4D97-AF65-F5344CB8AC3E}">
        <p14:creationId xmlns:p14="http://schemas.microsoft.com/office/powerpoint/2010/main" val="14328954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2026-09-14T17:58:04.8950000Z</dcterms:created>
  <dcterms:modified xsi:type="dcterms:W3CDTF">2026-09-14T17:58:04.8950000Z</dcterms:modified>
</coreProperties>
</file>
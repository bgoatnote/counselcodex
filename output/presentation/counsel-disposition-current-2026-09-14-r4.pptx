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e73a89ef784a05" /><Relationship Type="http://schemas.openxmlformats.org/officeDocument/2006/relationships/extended-properties" Target="/docProps/app.xml" Id="R42edbe9760084e2f" /><Relationship Type="http://schemas.openxmlformats.org/officeDocument/2006/relationships/officeDocument" Target="/ppt/presentation.xml" Id="R36d949fb353c4810" /></Relationships>
</file>

<file path=ppt/presentation.xml><?xml version="1.0" encoding="utf-8"?>
<p:presentation xmlns:p="http://schemas.openxmlformats.org/presentationml/2006/main">
  <p:sldMasterIdLst>
    <p:sldMasterId xmlns:r="http://schemas.openxmlformats.org/officeDocument/2006/relationships" id="2147483648" r:id="Rca904f678703438d"/>
  </p:sldMasterIdLst>
  <p:notesMasterIdLst>
    <p:notesMasterId xmlns:r="http://schemas.openxmlformats.org/officeDocument/2006/relationships" r:id="R7515b74827364b49"/>
  </p:notesMasterIdLst>
  <p:sldIdLst>
    <p:sldId xmlns:r="http://schemas.openxmlformats.org/officeDocument/2006/relationships" id="256" r:id="R605451bd700242d1"/>
    <p:sldId xmlns:r="http://schemas.openxmlformats.org/officeDocument/2006/relationships" id="257" r:id="Ree283aea82e6412f"/>
    <p:sldId xmlns:r="http://schemas.openxmlformats.org/officeDocument/2006/relationships" id="258" r:id="Rd9a32bf6840c44cc"/>
    <p:sldId xmlns:r="http://schemas.openxmlformats.org/officeDocument/2006/relationships" id="259" r:id="Rb604a55752e542ea"/>
    <p:sldId xmlns:r="http://schemas.openxmlformats.org/officeDocument/2006/relationships" id="260" r:id="R1b4c2a27e724482f"/>
    <p:sldId xmlns:r="http://schemas.openxmlformats.org/officeDocument/2006/relationships" id="261" r:id="R14c2dc3043214eb5"/>
    <p:sldId xmlns:r="http://schemas.openxmlformats.org/officeDocument/2006/relationships" id="262" r:id="Rb12a9c92a3184168"/>
    <p:sldId xmlns:r="http://schemas.openxmlformats.org/officeDocument/2006/relationships" id="263" r:id="Rbe97833e7e2540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f4409aff474eaa" /><Relationship Type="http://schemas.openxmlformats.org/officeDocument/2006/relationships/slideMaster" Target="/ppt/slideMasters/slideMaster1.xml" Id="Rca904f678703438d" /><Relationship Type="http://schemas.openxmlformats.org/officeDocument/2006/relationships/notesMaster" Target="/ppt/notesMasters/notesMaster1.xml" Id="R7515b74827364b49" /><Relationship Type="http://schemas.openxmlformats.org/officeDocument/2006/relationships/presProps" Target="/ppt/presProps.xml" Id="Rdf4507b4fb994adc" /><Relationship Type="http://schemas.openxmlformats.org/officeDocument/2006/relationships/tableStyles" Target="/ppt/tableStyles.xml" Id="Rf763c23e83f04395" /><Relationship Type="http://schemas.openxmlformats.org/officeDocument/2006/relationships/slide" Target="/ppt/slides/slide1.xml" Id="R605451bd700242d1" /><Relationship Type="http://schemas.openxmlformats.org/officeDocument/2006/relationships/slide" Target="/ppt/slides/slide2.xml" Id="Ree283aea82e6412f" /><Relationship Type="http://schemas.openxmlformats.org/officeDocument/2006/relationships/slide" Target="/ppt/slides/slide3.xml" Id="Rd9a32bf6840c44cc" /><Relationship Type="http://schemas.openxmlformats.org/officeDocument/2006/relationships/slide" Target="/ppt/slides/slide4.xml" Id="Rb604a55752e542ea" /><Relationship Type="http://schemas.openxmlformats.org/officeDocument/2006/relationships/slide" Target="/ppt/slides/slide5.xml" Id="R1b4c2a27e724482f" /><Relationship Type="http://schemas.openxmlformats.org/officeDocument/2006/relationships/slide" Target="/ppt/slides/slide6.xml" Id="R14c2dc3043214eb5" /><Relationship Type="http://schemas.openxmlformats.org/officeDocument/2006/relationships/slide" Target="/ppt/slides/slide7.xml" Id="Rb12a9c92a3184168" /><Relationship Type="http://schemas.openxmlformats.org/officeDocument/2006/relationships/slide" Target="/ppt/slides/slide8.xml" Id="Rbe97833e7e2540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b515ad49ab4c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ea7eeed095400e" /><Relationship Type="http://schemas.openxmlformats.org/officeDocument/2006/relationships/notesMaster" Target="/ppt/notesMasters/notesMaster1.xml" Id="R359e5228659047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70c52061014586" /><Relationship Type="http://schemas.openxmlformats.org/officeDocument/2006/relationships/notesMaster" Target="/ppt/notesMasters/notesMaster1.xml" Id="Ree5f08f19e2748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d1cacec55941fb" /><Relationship Type="http://schemas.openxmlformats.org/officeDocument/2006/relationships/notesMaster" Target="/ppt/notesMasters/notesMaster1.xml" Id="R5c461019359c4e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6c0168596941d7" /><Relationship Type="http://schemas.openxmlformats.org/officeDocument/2006/relationships/notesMaster" Target="/ppt/notesMasters/notesMaster1.xml" Id="R0bc8ee1c55b443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75ac56943046fa" /><Relationship Type="http://schemas.openxmlformats.org/officeDocument/2006/relationships/notesMaster" Target="/ppt/notesMasters/notesMaster1.xml" Id="R89f29a66040a41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8bd2f380bc450e" /><Relationship Type="http://schemas.openxmlformats.org/officeDocument/2006/relationships/notesMaster" Target="/ppt/notesMasters/notesMaster1.xml" Id="Rc8cf0868ab7c4f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8a7f71cc644930" /><Relationship Type="http://schemas.openxmlformats.org/officeDocument/2006/relationships/notesMaster" Target="/ppt/notesMasters/notesMaster1.xml" Id="R7605781cdcc747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b7ee41946d4b0d" /><Relationship Type="http://schemas.openxmlformats.org/officeDocument/2006/relationships/notesMaster" Target="/ppt/notesMasters/notesMaster1.xml" Id="R24471bd69d0740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take-home prototype informed by Counsel public work. The clinical scope is triage and thread routing with an evidence-linked reply. This is not an official Counsel service, prescribing system, dispatch integration or claim of production clinical readiness. Original C logo asset: apps/evaluation/public/counsel-symbol.svg, preserved with its original proportions. The deck describes candidate evidence-graph/v22. Historical incumbent results are not current-candidate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docs/CLINICAL_DISPOSITION_POLICY.md and docs/CURRENT_PIPELINE.md. These are the physician-selected development policy definitions, not an assertion about Counsel private service-level guarantees. Async destinations are Counsel clinician handoff stubs. Service availability is unconnected. Priority and Standard are both async clinician routes. Emergency transport can be new EMS activation, continuation of explicitly active EMS, or immediate ED attendance.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docs/CURRENT_PIPELINE.md; src/disposition/clinical-graph.ts; src/disposition/graph-prompts.ts. Haiku safety and context, Opus producer, Astra judge. Normally four calls, six with one repair. Confirmed failures can add bounded recovery calls, which are retained. Optional upgrade graph is shadow-only and disabled here. No original CSV label or physician reference enters the producer prompts. Public inspiration: https://mastra.ai/customers/counsel-health and https://www.counselhealth.com/blog/scaling-clinical-quality-assurance-with-ai-judges. This is our design, not a reproduction of private Counsel topology or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docs/CURRENT_PIPELINE.md; docs/CONTINUATION_VERIFICATION_2026-09-14.md; src/disposition/clinical-graph.ts; apps/evaluation/lib/preserved-care.ts. Hash consistency is not clinical truth or resistance to a malicious server fabricating all records. Failure preservation was exercised with deterministic injected faults, separate from current live complete runs. Stronger independently reviewed care may survive failed repair only with matching patient, producer, evidence, patch and judge bindings. Rejected prose/citations are never copied. Later adverse care review and cancellation cannot borrow an older approval. Live streaming of newly reviewed care before a still-running patch completes is not yet implemented. Current 600-second allowance is an engineering bound, not a clinical response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docs/PHYSICIAN_REVIEW_SCORECARD_2026-09-13.md; data/evaluation/physician-system-reference-v2.json; outputs/continuation-gui-2026-09-14/capture-final/summary.json; capture-end8/summary.json. Physician-engineer reported reviewing all 50 incumbent outputs after iterative development, agreeing with 49 and qualifying C25 DVT as defensible alternative/over-escalation concern. This is an attributable development reference, not independent held-out truth. First seven controlled v22 GUI runs comprise four original cohort inputs (C30,C02,C50,C19) and three off-cohort updates. All-window later capture has five exact eligible cohort targets out of 49, with 45/50 originals unattempted including qualified C25. The fifth original is an unattributed C01 run, not part of the controlled operator sequence. The later C02 retest adds no new original-case coverage. No new physician criterion attestation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outputs/continuation-gui-2026-09-14/capture-final/summary.json and matching raw runs/events. Locked observed window 2026-09-14T19:03:54.254Z to 2026-09-14T19:19:53.424Z. All seven v22 completed and had persisted trace and event log. Every run remains clinicalApproval=false. Displayed seconds are rounded server events, not browser paint. No early action means none issued, not a low-risk classification. C19 emitted a question at 9.518 seconds, not an early care instruction. C02 first early instruction was delayed 9.423 seconds. Later controlled C02 retest 673b7b70-4c56-4838-9218-c9667610912a: early 10.283s and final63.580s, one patientMessage patch. Extended capture contains nine starts: eight controlled plus actor-unattributed C01 822e69ce-65e2-4810-9e4e-64e86ef9b4eb. CapacityExceeded=true relative to max8 is retained. No later attempts omitted from source report. These selected sequential rehearsals do not establish clinical readiness, a general latency distribution or 50-case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outputs/safety-serialization-v22-live-2026-09-14/manifest.json and summary.json; outputs/grounding-first-plan-2026-09-14/manifest.json and summary.json. Serialization: 12 authored cases, two trials each, full unchanged safety schema and canonical admission, AB/BA scheduling, 48 complete calls, no transport/admission failures. Baseline action+transport target24/24 versus succinct23/24. Target miss is internal Standard async on C30 hypothetical, not demonstrated patient-facing overtriage. Succinct also invented a two-day duration in an unselected basis. Paired median latency difference is -97 ms; marginal medians are not that paired effect. Grounding-first: four selected fixed producer/evidence inputs, one sample each arm, 8 producers+8 judges. Baseline3/4 release-eligible versus candidate0/4; candidate one judge-contract failure. Producer medians17.131s versus17.090s, producer+judge medians37.847s versus37.342s including the failed review. Both are development experiments, not held-out clinical accuracy. Action-only matching and model acceptance are incomplete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docs/CONTINUATION_VERIFICATION_2026-09-14.md; docs/CURRENT_PIPELINE.md; current immutable GUI and fixed study artifacts. Strategic priorities are recommendations from the observed defects, not assertions about what any specific interviewer privately expects. Public context: https://www.counselhealth.com/blog/the-importance-of-practicality-in-medical-ai and https://www.counselhealth.com/blog/scaling-clinical-quality-assurance-with-ai-judges. Judge calibration must include false release and false withholding, materiality, action necessity, feasible actor, source entailment and patient grounding. Prospective validation needs independent physician adjudication on unseen cases with allowable alternatives and original failures retained. Clinic delivery, scheduling and follow-up integrations remain stubs. No current clinical readiness or end-to-end agent-lift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d1d361ba494a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3b7d6765454c64" /><Relationship Type="http://schemas.openxmlformats.org/officeDocument/2006/relationships/slideLayout" Target="/ppt/slideLayouts/slideLayout1.xml" Id="R9a52f0409d0f44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52f0409d0f44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10b197803d4a1d" /><Relationship Type="http://schemas.openxmlformats.org/officeDocument/2006/relationships/image" Target="/ppt/media/image.png" Id="Rdcd19359cc9d4953" /><Relationship Type="http://schemas.openxmlformats.org/officeDocument/2006/relationships/image" Target="/ppt/media/image.svg" Id="Rf9939483aaf54e0f" /><Relationship Type="http://schemas.openxmlformats.org/officeDocument/2006/relationships/notesSlide" Target="/ppt/notesSlides/notesSlide1.xml" Id="R8759c873d97149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4771cb599d46a1" /><Relationship Type="http://schemas.openxmlformats.org/officeDocument/2006/relationships/notesSlide" Target="/ppt/notesSlides/notesSlide2.xml" Id="R51f3aa6ca3654a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c6345458404663" /><Relationship Type="http://schemas.openxmlformats.org/officeDocument/2006/relationships/notesSlide" Target="/ppt/notesSlides/notesSlide3.xml" Id="Rab4d7efecd2b4a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bff28378e14dd8" /><Relationship Type="http://schemas.openxmlformats.org/officeDocument/2006/relationships/notesSlide" Target="/ppt/notesSlides/notesSlide4.xml" Id="R1cbf8b45dc1e4b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924c02f5554c4c" /><Relationship Type="http://schemas.openxmlformats.org/officeDocument/2006/relationships/notesSlide" Target="/ppt/notesSlides/notesSlide5.xml" Id="Raba071032c3d4c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9f9d48dda842ce" /><Relationship Type="http://schemas.openxmlformats.org/officeDocument/2006/relationships/notesSlide" Target="/ppt/notesSlides/notesSlide6.xml" Id="R45a47d7423ba47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403f9806854db4" /><Relationship Type="http://schemas.openxmlformats.org/officeDocument/2006/relationships/notesSlide" Target="/ppt/notesSlides/notesSlide7.xml" Id="R2b3c7decc8bc4f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bbd63389334e90" /><Relationship Type="http://schemas.openxmlformats.org/officeDocument/2006/relationships/notesSlide" Target="/ppt/notesSlides/notesSlide8.xml" Id="Rf296d065bed64028" /></Relationships>
</file>

<file path=ppt/slides/slide1.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cd19359cc9d4953">
            <a:extLst>
              <a:ext uri="{96DAC541-7B7A-43D3-8B79-37D633B846F1}">
                <asvg:svgBlip xmlns:asvg="http://schemas.microsoft.com/office/drawing/2016/SVG/main" r:embed="Rf9939483aaf54e0f"/>
              </a:ext>
            </a:extLst>
          </a:blip>
          <a:stretch xmlns:a="http://schemas.openxmlformats.org/drawingml/2006/main"/>
        </p:blipFill>
        <p:spPr>
          <a:xfrm xmlns:a="http://schemas.openxmlformats.org/drawingml/2006/main">
            <a:off x="628650" y="619125"/>
            <a:ext cx="666750" cy="68008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2F80242-1E32-4308-9426-7329FC9D0F4A}"/>
              </a:ext>
            </a:extLst>
          </p:cNvPr>
          <p:cNvSpPr>
            <a:spLocks xmlns:a="http://schemas.openxmlformats.org/drawingml/2006/main" noGrp="1"/>
          </p:cNvSpPr>
          <p:nvPr/>
        </p:nvSpPr>
        <p:spPr>
          <a:xfrm xmlns:a="http://schemas.openxmlformats.org/drawingml/2006/main">
            <a:off x="609600" y="2095500"/>
            <a:ext cx="10810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43866"/>
                </a:solidFill>
                <a:latin typeface="Helvetica Neue"/>
                <a:ea typeface="Helvetica Neue"/>
                <a:cs typeface="Helvetica Neue"/>
              </a:defRPr>
            </a:pPr>
            <a:r>
              <a:rPr sz="5400" b="1">
                <a:solidFill>
                  <a:srgbClr val="243866"/>
                </a:solidFill>
                <a:latin typeface="Helvetica Neue"/>
                <a:ea typeface="Helvetica Neue"/>
                <a:cs typeface="Helvetica Neue"/>
              </a:rPr>
              <a:t>Evidence-based</a:t>
            </a:r>
          </a:p>
          <a:p xmlns:a="http://schemas.openxmlformats.org/drawingml/2006/main">
            <a:pPr>
              <a:defRPr sz="5400" b="1">
                <a:solidFill>
                  <a:srgbClr val="243866"/>
                </a:solidFill>
                <a:latin typeface="Helvetica Neue"/>
                <a:ea typeface="Helvetica Neue"/>
                <a:cs typeface="Helvetica Neue"/>
              </a:defRPr>
            </a:pPr>
            <a:r>
              <a:rPr sz="5400" b="1">
                <a:solidFill>
                  <a:srgbClr val="243866"/>
                </a:solidFill>
                <a:latin typeface="Helvetica Neue"/>
                <a:ea typeface="Helvetica Neue"/>
                <a:cs typeface="Helvetica Neue"/>
              </a:rPr>
              <a:t>disposition</a:t>
            </a:r>
          </a:p>
        </p:txBody>
      </p:sp>
      <p:sp>
        <p:nvSpPr>
          <p:cNvPr id="3" name="">
            <a:extLst xmlns:a="http://schemas.openxmlformats.org/drawingml/2006/main">
              <a:ext uri="{FF2B5EF4-FFF2-40B4-BE49-F238E27FC236}">
                <a16:creationId xmlns:a16="http://schemas.microsoft.com/office/drawing/2014/main" id="{80CDC250-1295-44CD-8714-3A5C8A348535}"/>
              </a:ext>
            </a:extLst>
          </p:cNvPr>
          <p:cNvSpPr>
            <a:spLocks xmlns:a="http://schemas.openxmlformats.org/drawingml/2006/main" noGrp="1"/>
          </p:cNvSpPr>
          <p:nvPr/>
        </p:nvSpPr>
        <p:spPr>
          <a:xfrm xmlns:a="http://schemas.openxmlformats.org/drawingml/2006/main">
            <a:off x="638175" y="42386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52D31"/>
                </a:solidFill>
                <a:latin typeface="Helvetica Neue"/>
                <a:ea typeface="Helvetica Neue"/>
                <a:cs typeface="Helvetica Neue"/>
              </a:defRPr>
            </a:pPr>
            <a:r>
              <a:rPr sz="2400" b="0">
                <a:solidFill>
                  <a:srgbClr val="252D31"/>
                </a:solidFill>
                <a:latin typeface="Helvetica Neue"/>
                <a:ea typeface="Helvetica Neue"/>
                <a:cs typeface="Helvetica Neue"/>
              </a:rPr>
              <a:t>Physician AI Engineer take-home</a:t>
            </a:r>
          </a:p>
        </p:txBody>
      </p:sp>
      <p:sp>
        <p:nvSpPr>
          <p:cNvPr id="4" name="">
            <a:extLst xmlns:a="http://schemas.openxmlformats.org/drawingml/2006/main">
              <a:ext uri="{FF2B5EF4-FFF2-40B4-BE49-F238E27FC236}">
                <a16:creationId xmlns:a16="http://schemas.microsoft.com/office/drawing/2014/main" id="{AC026C1C-31FA-4105-9F3D-214A453E56AB}"/>
              </a:ext>
            </a:extLst>
          </p:cNvPr>
          <p:cNvSpPr>
            <a:spLocks xmlns:a="http://schemas.openxmlformats.org/drawingml/2006/main" noGrp="1"/>
          </p:cNvSpPr>
          <p:nvPr/>
        </p:nvSpPr>
        <p:spPr>
          <a:xfrm xmlns:a="http://schemas.openxmlformats.org/drawingml/2006/main">
            <a:off x="638175" y="54387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469"/>
                </a:solidFill>
                <a:latin typeface="Helvetica Neue"/>
                <a:ea typeface="Helvetica Neue"/>
                <a:cs typeface="Helvetica Neue"/>
              </a:defRPr>
            </a:pPr>
            <a:r>
              <a:rPr sz="1800" b="0">
                <a:solidFill>
                  <a:srgbClr val="586469"/>
                </a:solidFill>
                <a:latin typeface="Helvetica Neue"/>
                <a:ea typeface="Helvetica Neue"/>
                <a:cs typeface="Helvetica Neue"/>
              </a:rPr>
              <a:t>Candidate v22</a:t>
            </a:r>
          </a:p>
          <a:p xmlns:a="http://schemas.openxmlformats.org/drawingml/2006/main">
            <a:pPr>
              <a:defRPr sz="1800" b="0">
                <a:solidFill>
                  <a:srgbClr val="586469"/>
                </a:solidFill>
                <a:latin typeface="Helvetica Neue"/>
                <a:ea typeface="Helvetica Neue"/>
                <a:cs typeface="Helvetica Neue"/>
              </a:defRPr>
            </a:pPr>
            <a:r>
              <a:rPr sz="1800" b="0">
                <a:solidFill>
                  <a:srgbClr val="586469"/>
                </a:solidFill>
                <a:latin typeface="Helvetica Neue"/>
                <a:ea typeface="Helvetica Neue"/>
                <a:cs typeface="Helvetica Neue"/>
              </a:rPr>
              <a:t>14 September 2026</a:t>
            </a:r>
          </a:p>
        </p:txBody>
      </p:sp>
    </p:spTree>
    <p:extLst>
      <p:ext uri="{BB962C8B-B14F-4D97-AF65-F5344CB8AC3E}">
        <p14:creationId xmlns:p14="http://schemas.microsoft.com/office/powerpoint/2010/main" val="628993721"/>
      </p:ext>
    </p:extLst>
  </p:cSld>
</p:sld>
</file>

<file path=ppt/slides/slide2.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470575-44CD-446F-A6BB-3B1E98F99C55}"/>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Five routes and their clinical boundaries</a:t>
            </a:r>
          </a:p>
        </p:txBody>
      </p:sp>
      <p:sp>
        <p:nvSpPr>
          <p:cNvPr id="2" name="">
            <a:extLst xmlns:a="http://schemas.openxmlformats.org/drawingml/2006/main">
              <a:ext uri="{FF2B5EF4-FFF2-40B4-BE49-F238E27FC236}">
                <a16:creationId xmlns:a16="http://schemas.microsoft.com/office/drawing/2014/main" id="{55CD5A87-4A6E-4097-A119-EE908283B944}"/>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Refill is a work type. Urgency determines queue priority and care setting.</a:t>
            </a:r>
          </a:p>
        </p:txBody>
      </p:sp>
      <p:sp>
        <p:nvSpPr>
          <p:cNvPr id="3" name="">
            <a:extLst xmlns:a="http://schemas.openxmlformats.org/drawingml/2006/main">
              <a:ext uri="{FF2B5EF4-FFF2-40B4-BE49-F238E27FC236}">
                <a16:creationId xmlns:a16="http://schemas.microsoft.com/office/drawing/2014/main" id="{067DE6FA-4844-441A-8572-73F34088812E}"/>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2</a:t>
            </a:r>
          </a:p>
        </p:txBody>
      </p:sp>
      <p:graphicFrame>
        <p:nvGraphicFramePr>
          <p:cNvPr id="9" name=""/>
          <p:cNvGraphicFramePr/>
          <p:nvPr/>
        </p:nvGraphicFramePr>
        <p:xfrm>
          <a:off xmlns:a="http://schemas.openxmlformats.org/drawingml/2006/main" x="609600" y="2085975"/>
          <a:ext xmlns:a="http://schemas.openxmlformats.org/drawingml/2006/main" cx="10972800" cy="3429000"/>
        </p:xfrm>
        <a:graphic xmlns:a="http://schemas.openxmlformats.org/drawingml/2006/main">
          <a:graphicData uri="http://schemas.openxmlformats.org/drawingml/2006/table">
            <a:tbl>
              <a:tblPr/>
              <a:tblGrid>
                <a:gridCol w="3238500"/>
                <a:gridCol w="7734300"/>
              </a:tblGrid>
              <a:tr h="571500">
                <a:tc>
                  <a:txBody>
                    <a:bodyPr/>
                    <a:lstStyle/>
                    <a:p>
                      <a:r>
                        <a:rPr sz="1800" b="1">
                          <a:solidFill>
                            <a:srgbClr val="FFFFFF"/>
                          </a:solidFill>
                          <a:latin typeface="Helvetica Neue"/>
                          <a:ea typeface="Helvetica Neue"/>
                          <a:cs typeface="Helvetica Neue"/>
                        </a:rPr>
                        <a:t>Route</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Decision boundary</a:t>
                      </a:r>
                    </a:p>
                  </a:txBody>
                  <a:tcPr marL="123825" marR="123825" marT="85725" marB="85725">
                    <a:solidFill>
                      <a:srgbClr val="243866"/>
                    </a:solidFill>
                  </a:tcPr>
                </a:tc>
              </a:tr>
              <a:tr h="571500">
                <a:tc>
                  <a:txBody>
                    <a:bodyPr/>
                    <a:lstStyle/>
                    <a:p>
                      <a:r>
                        <a:rPr sz="1800">
                          <a:solidFill>
                            <a:srgbClr val="252D31"/>
                          </a:solidFill>
                          <a:latin typeface="Helvetica Neue"/>
                          <a:ea typeface="Helvetica Neue"/>
                          <a:cs typeface="Helvetica Neue"/>
                        </a:rPr>
                        <a:t>Self care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Guidance only. No current clinician task.</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Priority async</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Time-sensitive Counsel clinician assessment or prescribing.</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Standard async</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Lower queue priority during available service hours.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In-person today</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Physical examination, testing or treatment needed today.</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Immediate EMS or ED care. Preserve active EMS response.</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B9B693D8-3A14-4BE3-8BDF-A6EBDC06F86F}"/>
              </a:ext>
            </a:extLst>
          </p:cNvPr>
          <p:cNvSpPr>
            <a:spLocks xmlns:a="http://schemas.openxmlformats.org/drawingml/2006/main" noGrp="1"/>
          </p:cNvSpPr>
          <p:nvPr/>
        </p:nvSpPr>
        <p:spPr>
          <a:xfrm xmlns:a="http://schemas.openxmlformats.org/drawingml/2006/main">
            <a:off x="609600" y="5724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Both async routes have a prompt same-day target, subject to real availability.</a:t>
            </a:r>
          </a:p>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The prototype does not send, book or guarantee a clinician response.</a:t>
            </a:r>
          </a:p>
        </p:txBody>
      </p:sp>
    </p:spTree>
    <p:extLst>
      <p:ext uri="{BB962C8B-B14F-4D97-AF65-F5344CB8AC3E}">
        <p14:creationId xmlns:p14="http://schemas.microsoft.com/office/powerpoint/2010/main" val="2003597177"/>
      </p:ext>
    </p:extLst>
  </p:cSld>
</p:sld>
</file>

<file path=ppt/slides/slide3.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5C1006-A458-4D95-90F6-80787E2A897A}"/>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Mastra orchestration</a:t>
            </a:r>
          </a:p>
        </p:txBody>
      </p:sp>
      <p:sp>
        <p:nvSpPr>
          <p:cNvPr id="2" name="">
            <a:extLst xmlns:a="http://schemas.openxmlformats.org/drawingml/2006/main">
              <a:ext uri="{FF2B5EF4-FFF2-40B4-BE49-F238E27FC236}">
                <a16:creationId xmlns:a16="http://schemas.microsoft.com/office/drawing/2014/main" id="{1CCBC76A-7271-413D-928A-0E5A5E63162D}"/>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Safety and context begin in parallel. Retrieval and review have separate responsibilities.</a:t>
            </a:r>
          </a:p>
        </p:txBody>
      </p:sp>
      <p:sp>
        <p:nvSpPr>
          <p:cNvPr id="3" name="">
            <a:extLst xmlns:a="http://schemas.openxmlformats.org/drawingml/2006/main">
              <a:ext uri="{FF2B5EF4-FFF2-40B4-BE49-F238E27FC236}">
                <a16:creationId xmlns:a16="http://schemas.microsoft.com/office/drawing/2014/main" id="{7BBEA6FF-2FA4-401E-ABA5-ACE22F8524AC}"/>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3</a:t>
            </a:r>
          </a:p>
        </p:txBody>
      </p:sp>
      <p:graphicFrame>
        <p:nvGraphicFramePr>
          <p:cNvPr id="9" name=""/>
          <p:cNvGraphicFramePr/>
          <p:nvPr/>
        </p:nvGraphicFramePr>
        <p:xfrm>
          <a:off xmlns:a="http://schemas.openxmlformats.org/drawingml/2006/main" x="609600" y="2105025"/>
          <a:ext xmlns:a="http://schemas.openxmlformats.org/drawingml/2006/main" cx="10972800" cy="3429000"/>
        </p:xfrm>
        <a:graphic xmlns:a="http://schemas.openxmlformats.org/drawingml/2006/main">
          <a:graphicData uri="http://schemas.openxmlformats.org/drawingml/2006/table">
            <a:tbl>
              <a:tblPr/>
              <a:tblGrid>
                <a:gridCol w="2438400"/>
                <a:gridCol w="3267075"/>
                <a:gridCol w="5267325"/>
              </a:tblGrid>
              <a:tr h="571500">
                <a:tc>
                  <a:txBody>
                    <a:bodyPr/>
                    <a:lstStyle/>
                    <a:p>
                      <a:r>
                        <a:rPr sz="1800" b="1">
                          <a:solidFill>
                            <a:srgbClr val="FFFFFF"/>
                          </a:solidFill>
                          <a:latin typeface="Helvetica Neue"/>
                          <a:ea typeface="Helvetica Neue"/>
                          <a:cs typeface="Helvetica Neue"/>
                        </a:rPr>
                        <a:t>Component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Input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Responsibility</a:t>
                      </a:r>
                    </a:p>
                  </a:txBody>
                  <a:tcPr marL="123825" marR="123825" marT="85725" marB="85725">
                    <a:solidFill>
                      <a:srgbClr val="243866"/>
                    </a:solidFill>
                  </a:tcPr>
                </a:tc>
              </a:tr>
              <a:tr h="571500">
                <a:tc>
                  <a:txBody>
                    <a:bodyPr/>
                    <a:lstStyle/>
                    <a:p>
                      <a:r>
                        <a:rPr sz="1800">
                          <a:solidFill>
                            <a:srgbClr val="252D31"/>
                          </a:solidFill>
                          <a:latin typeface="Helvetica Neue"/>
                          <a:ea typeface="Helvetica Neue"/>
                          <a:cs typeface="Helvetica Neue"/>
                        </a:rPr>
                        <a:t>Haiku safety</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updates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Typed early care and exact quoted basis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Haiku context</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updates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Attributed facts and retrieval queries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Evidence layer</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Queries and sources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Hybrid PostgreSQL and vector retrieval</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Opus producer</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passages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Disposition, reply and cited claims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Astra judge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Exact draft and evidence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Review, scoped patch, fresh review</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DB25FB2D-5401-430E-8736-DFCBDE1D2F01}"/>
              </a:ext>
            </a:extLst>
          </p:cNvPr>
          <p:cNvSpPr>
            <a:spLocks xmlns:a="http://schemas.openxmlformats.org/drawingml/2006/main" noGrp="1"/>
          </p:cNvSpPr>
          <p:nvPr/>
        </p:nvSpPr>
        <p:spPr>
          <a:xfrm xmlns:a="http://schemas.openxmlformats.org/drawingml/2006/main">
            <a:off x="609600" y="5743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Early action is model-derived with standard rendering. It is not a cached case answer.</a:t>
            </a:r>
          </a:p>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The independent producer does not inherit the early route or reference label.</a:t>
            </a:r>
          </a:p>
        </p:txBody>
      </p:sp>
    </p:spTree>
    <p:extLst>
      <p:ext uri="{BB962C8B-B14F-4D97-AF65-F5344CB8AC3E}">
        <p14:creationId xmlns:p14="http://schemas.microsoft.com/office/powerpoint/2010/main" val="1916241215"/>
      </p:ext>
    </p:extLst>
  </p:cSld>
</p:sld>
</file>

<file path=ppt/slides/slide4.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B6E57B-7D6E-437B-B878-8093A376A494}"/>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Care preservation when an explanation fails</a:t>
            </a:r>
          </a:p>
        </p:txBody>
      </p:sp>
      <p:sp>
        <p:nvSpPr>
          <p:cNvPr id="2" name="">
            <a:extLst xmlns:a="http://schemas.openxmlformats.org/drawingml/2006/main">
              <a:ext uri="{FF2B5EF4-FFF2-40B4-BE49-F238E27FC236}">
                <a16:creationId xmlns:a16="http://schemas.microsoft.com/office/drawing/2014/main" id="{3553E444-4303-479B-8EEF-FA877142CB75}"/>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A care-only result must retain the evidence and review that authorized it.</a:t>
            </a:r>
          </a:p>
        </p:txBody>
      </p:sp>
      <p:sp>
        <p:nvSpPr>
          <p:cNvPr id="3" name="">
            <a:extLst xmlns:a="http://schemas.openxmlformats.org/drawingml/2006/main">
              <a:ext uri="{FF2B5EF4-FFF2-40B4-BE49-F238E27FC236}">
                <a16:creationId xmlns:a16="http://schemas.microsoft.com/office/drawing/2014/main" id="{044C86D1-18E1-4F6A-9319-91B95AB6FF32}"/>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4</a:t>
            </a:r>
          </a:p>
        </p:txBody>
      </p:sp>
      <p:graphicFrame>
        <p:nvGraphicFramePr>
          <p:cNvPr id="9" name=""/>
          <p:cNvGraphicFramePr/>
          <p:nvPr/>
        </p:nvGraphicFramePr>
        <p:xfrm>
          <a:off xmlns:a="http://schemas.openxmlformats.org/drawingml/2006/main" x="609600" y="2085975"/>
          <a:ext xmlns:a="http://schemas.openxmlformats.org/drawingml/2006/main" cx="10972800" cy="3038475"/>
        </p:xfrm>
        <a:graphic xmlns:a="http://schemas.openxmlformats.org/drawingml/2006/main">
          <a:graphicData uri="http://schemas.openxmlformats.org/drawingml/2006/table">
            <a:tbl>
              <a:tblPr/>
              <a:tblGrid>
                <a:gridCol w="4810125"/>
                <a:gridCol w="6162675"/>
              </a:tblGrid>
              <a:tr h="607695">
                <a:tc>
                  <a:txBody>
                    <a:bodyPr/>
                    <a:lstStyle/>
                    <a:p>
                      <a:r>
                        <a:rPr sz="1800" b="1">
                          <a:solidFill>
                            <a:srgbClr val="FFFFFF"/>
                          </a:solidFill>
                          <a:latin typeface="Helvetica Neue"/>
                          <a:ea typeface="Helvetica Neue"/>
                          <a:cs typeface="Helvetica Neue"/>
                        </a:rPr>
                        <a:t>Condition</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Permitted result</a:t>
                      </a:r>
                    </a:p>
                  </a:txBody>
                  <a:tcPr marL="123825" marR="123825" marT="85725" marB="85725">
                    <a:solidFill>
                      <a:srgbClr val="243866"/>
                    </a:solidFill>
                  </a:tcPr>
                </a:tc>
              </a:tr>
              <a:tr h="607695">
                <a:tc>
                  <a:txBody>
                    <a:bodyPr/>
                    <a:lstStyle/>
                    <a:p>
                      <a:r>
                        <a:rPr sz="1800">
                          <a:solidFill>
                            <a:srgbClr val="252D31"/>
                          </a:solidFill>
                          <a:latin typeface="Helvetica Neue"/>
                          <a:ea typeface="Helvetica Neue"/>
                          <a:cs typeface="Helvetica Neue"/>
                        </a:rPr>
                        <a:t>Admitted early action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the instruction visible if generation fails.</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Stronger care independently reviewed</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Carry forward only with exact current bindings.</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Rejected care, stale review or cancellation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No new recommendation from an old approval.</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Failed explanation or citations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Do not attach rejected content to preserved care.</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C787105B-173F-4DAE-8699-94DEF754B16E}"/>
              </a:ext>
            </a:extLst>
          </p:cNvPr>
          <p:cNvSpPr>
            <a:spLocks xmlns:a="http://schemas.openxmlformats.org/drawingml/2006/main" noGrp="1"/>
          </p:cNvSpPr>
          <p:nvPr/>
        </p:nvSpPr>
        <p:spPr>
          <a:xfrm xmlns:a="http://schemas.openxmlformats.org/drawingml/2006/main">
            <a:off x="609600" y="54387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Run journals and Mastra spans retain outputs, failures, source identity and timing.</a:t>
            </a:r>
          </a:p>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These are tested consistency controls, not HIPAA certification or clinical validation.</a:t>
            </a:r>
          </a:p>
        </p:txBody>
      </p:sp>
    </p:spTree>
    <p:extLst>
      <p:ext uri="{BB962C8B-B14F-4D97-AF65-F5344CB8AC3E}">
        <p14:creationId xmlns:p14="http://schemas.microsoft.com/office/powerpoint/2010/main" val="1108251022"/>
      </p:ext>
    </p:extLst>
  </p:cSld>
</p:sld>
</file>

<file path=ppt/slides/slide5.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E0FD87-1681-4FA9-A263-1F1DE090B638}"/>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Reference agreement and candidate evidence</a:t>
            </a:r>
          </a:p>
        </p:txBody>
      </p:sp>
      <p:sp>
        <p:nvSpPr>
          <p:cNvPr id="2" name="">
            <a:extLst xmlns:a="http://schemas.openxmlformats.org/drawingml/2006/main">
              <a:ext uri="{FF2B5EF4-FFF2-40B4-BE49-F238E27FC236}">
                <a16:creationId xmlns:a16="http://schemas.microsoft.com/office/drawing/2014/main" id="{B3550F96-119E-4956-BF13-2308931860E1}"/>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The original labels, physician review and current candidate answer different questions.</a:t>
            </a:r>
          </a:p>
        </p:txBody>
      </p:sp>
      <p:sp>
        <p:nvSpPr>
          <p:cNvPr id="3" name="">
            <a:extLst xmlns:a="http://schemas.openxmlformats.org/drawingml/2006/main">
              <a:ext uri="{FF2B5EF4-FFF2-40B4-BE49-F238E27FC236}">
                <a16:creationId xmlns:a16="http://schemas.microsoft.com/office/drawing/2014/main" id="{AB1C365F-DEC6-471B-845C-FBA6EFBA6BA8}"/>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5</a:t>
            </a:r>
          </a:p>
        </p:txBody>
      </p:sp>
      <p:graphicFrame>
        <p:nvGraphicFramePr>
          <p:cNvPr id="9" name=""/>
          <p:cNvGraphicFramePr/>
          <p:nvPr/>
        </p:nvGraphicFramePr>
        <p:xfrm>
          <a:off xmlns:a="http://schemas.openxmlformats.org/drawingml/2006/main" x="609600" y="2105025"/>
          <a:ext xmlns:a="http://schemas.openxmlformats.org/drawingml/2006/main" cx="10972800" cy="3086100"/>
        </p:xfrm>
        <a:graphic xmlns:a="http://schemas.openxmlformats.org/drawingml/2006/main">
          <a:graphicData uri="http://schemas.openxmlformats.org/drawingml/2006/table">
            <a:tbl>
              <a:tblPr/>
              <a:tblGrid>
                <a:gridCol w="4048125"/>
                <a:gridCol w="6924675"/>
              </a:tblGrid>
              <a:tr h="617220">
                <a:tc>
                  <a:txBody>
                    <a:bodyPr/>
                    <a:lstStyle/>
                    <a:p>
                      <a:r>
                        <a:rPr sz="1800" b="1">
                          <a:solidFill>
                            <a:srgbClr val="FFFFFF"/>
                          </a:solidFill>
                          <a:latin typeface="Helvetica Neue"/>
                          <a:ea typeface="Helvetica Neue"/>
                          <a:cs typeface="Helvetica Neue"/>
                        </a:rPr>
                        <a:t>Evidence</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What it supports</a:t>
                      </a:r>
                    </a:p>
                  </a:txBody>
                  <a:tcPr marL="123825" marR="123825" marT="85725" marB="85725">
                    <a:solidFill>
                      <a:srgbClr val="243866"/>
                    </a:solidFill>
                  </a:tcPr>
                </a:tc>
              </a:tr>
              <a:tr h="617220">
                <a:tc>
                  <a:txBody>
                    <a:bodyPr/>
                    <a:lstStyle/>
                    <a:p>
                      <a:r>
                        <a:rPr sz="1800">
                          <a:solidFill>
                            <a:srgbClr val="252D31"/>
                          </a:solidFill>
                          <a:latin typeface="Helvetica Neue"/>
                          <a:ea typeface="Helvetica Neue"/>
                          <a:cs typeface="Helvetica Neue"/>
                        </a:rPr>
                        <a:t>Counsel original 50 labels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An unchanged baseline to audit.</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Physician-reviewed incumbent</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49 agreements and one qualified DVT judgment.</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Controlled v22 GUI window</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Four original cases and three follow-up tests.</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Independent clinical validation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Not yet performed on new, blinded cases.</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AEE57D44-4827-4A41-8B89-1AD3AADAE315}"/>
              </a:ext>
            </a:extLst>
          </p:cNvPr>
          <p:cNvSpPr>
            <a:spLocks xmlns:a="http://schemas.openxmlformats.org/drawingml/2006/main" noGrp="1"/>
          </p:cNvSpPr>
          <p:nvPr/>
        </p:nvSpPr>
        <p:spPr>
          <a:xfrm xmlns:a="http://schemas.openxmlformats.org/drawingml/2006/main">
            <a:off x="609600" y="56102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Exact agreement, defensible alternatives, missed emergencies and unnecessary escalation</a:t>
            </a:r>
          </a:p>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remain distinct outcomes. Current model approval is not physician approval.</a:t>
            </a:r>
          </a:p>
        </p:txBody>
      </p:sp>
    </p:spTree>
    <p:extLst>
      <p:ext uri="{BB962C8B-B14F-4D97-AF65-F5344CB8AC3E}">
        <p14:creationId xmlns:p14="http://schemas.microsoft.com/office/powerpoint/2010/main" val="1550432983"/>
      </p:ext>
    </p:extLst>
  </p:cSld>
</p:sld>
</file>

<file path=ppt/slides/slide6.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97D113-D66C-4CC4-85C7-3DDC070FEABE}"/>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Seven controlled GUI assessments</a:t>
            </a:r>
          </a:p>
        </p:txBody>
      </p:sp>
      <p:sp>
        <p:nvSpPr>
          <p:cNvPr id="2" name="">
            <a:extLst xmlns:a="http://schemas.openxmlformats.org/drawingml/2006/main">
              <a:ext uri="{FF2B5EF4-FFF2-40B4-BE49-F238E27FC236}">
                <a16:creationId xmlns:a16="http://schemas.microsoft.com/office/drawing/2014/main" id="{13EF0328-E166-4411-B684-B82D83C7119F}"/>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All seven completed. Four required a repair before final release.</a:t>
            </a:r>
          </a:p>
        </p:txBody>
      </p:sp>
      <p:sp>
        <p:nvSpPr>
          <p:cNvPr id="3" name="">
            <a:extLst xmlns:a="http://schemas.openxmlformats.org/drawingml/2006/main">
              <a:ext uri="{FF2B5EF4-FFF2-40B4-BE49-F238E27FC236}">
                <a16:creationId xmlns:a16="http://schemas.microsoft.com/office/drawing/2014/main" id="{59E6D9FF-3A3D-46E0-9835-A00A73994F84}"/>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6</a:t>
            </a:r>
          </a:p>
        </p:txBody>
      </p:sp>
      <p:graphicFrame>
        <p:nvGraphicFramePr>
          <p:cNvPr id="9" name=""/>
          <p:cNvGraphicFramePr/>
          <p:nvPr/>
        </p:nvGraphicFramePr>
        <p:xfrm>
          <a:off xmlns:a="http://schemas.openxmlformats.org/drawingml/2006/main" x="609600" y="2047875"/>
          <a:ext xmlns:a="http://schemas.openxmlformats.org/drawingml/2006/main" cx="10972800" cy="3562350"/>
        </p:xfrm>
        <a:graphic xmlns:a="http://schemas.openxmlformats.org/drawingml/2006/main">
          <a:graphicData uri="http://schemas.openxmlformats.org/drawingml/2006/table">
            <a:tbl>
              <a:tblPr/>
              <a:tblGrid>
                <a:gridCol w="3133725"/>
                <a:gridCol w="3038475"/>
                <a:gridCol w="2409825"/>
                <a:gridCol w="2390775"/>
              </a:tblGrid>
              <a:tr h="445294">
                <a:tc>
                  <a:txBody>
                    <a:bodyPr/>
                    <a:lstStyle/>
                    <a:p>
                      <a:r>
                        <a:rPr sz="1725" b="1">
                          <a:solidFill>
                            <a:srgbClr val="FFFFFF"/>
                          </a:solidFill>
                          <a:latin typeface="Helvetica Neue"/>
                          <a:ea typeface="Helvetica Neue"/>
                          <a:cs typeface="Helvetica Neue"/>
                        </a:rPr>
                        <a:t>Input</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Final care</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Early action</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Final answer</a:t>
                      </a:r>
                    </a:p>
                  </a:txBody>
                  <a:tcPr marL="123825" marR="123825" marT="85725" marB="85725">
                    <a:solidFill>
                      <a:srgbClr val="243866"/>
                    </a:solidFill>
                  </a:tcPr>
                </a:tc>
              </a:tr>
              <a:tr h="445294">
                <a:tc>
                  <a:txBody>
                    <a:bodyPr/>
                    <a:lstStyle/>
                    <a:p>
                      <a:r>
                        <a:rPr sz="1725">
                          <a:solidFill>
                            <a:srgbClr val="252D31"/>
                          </a:solidFill>
                          <a:latin typeface="Helvetica Neue"/>
                          <a:ea typeface="Helvetica Neue"/>
                          <a:cs typeface="Helvetica Neue"/>
                        </a:rPr>
                        <a:t>C30 rash</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Self care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73.9 s</a:t>
                      </a:r>
                    </a:p>
                  </a:txBody>
                  <a:tcPr marL="123825" marR="123825" marT="85725" marB="85725">
                    <a:solidFill>
                      <a:srgbClr val="F7F4EB"/>
                    </a:solidFill>
                  </a:tcPr>
                </a:tc>
              </a:tr>
              <a:tr h="445294">
                <a:tc>
                  <a:txBody>
                    <a:bodyPr/>
                    <a:lstStyle/>
                    <a:p>
                      <a:r>
                        <a:rPr sz="1725">
                          <a:solidFill>
                            <a:srgbClr val="252D31"/>
                          </a:solidFill>
                          <a:latin typeface="Helvetica Neue"/>
                          <a:ea typeface="Helvetica Neue"/>
                          <a:cs typeface="Helvetica Neue"/>
                        </a:rPr>
                        <a:t>C02 chest pressure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9.4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68.2 s</a:t>
                      </a:r>
                    </a:p>
                  </a:txBody>
                  <a:tcPr marL="123825" marR="123825" marT="85725" marB="85725">
                    <a:solidFill>
                      <a:srgbClr val="F7F4EB"/>
                    </a:solidFill>
                  </a:tcPr>
                </a:tc>
              </a:tr>
              <a:tr h="445294">
                <a:tc>
                  <a:txBody>
                    <a:bodyPr/>
                    <a:lstStyle/>
                    <a:p>
                      <a:r>
                        <a:rPr sz="1725">
                          <a:solidFill>
                            <a:srgbClr val="252D31"/>
                          </a:solidFill>
                          <a:latin typeface="Helvetica Neue"/>
                          <a:ea typeface="Helvetica Neue"/>
                          <a:cs typeface="Helvetica Neue"/>
                        </a:rPr>
                        <a:t>Active EMS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4.3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44.8 s</a:t>
                      </a:r>
                    </a:p>
                  </a:txBody>
                  <a:tcPr marL="123825" marR="123825" marT="85725" marB="85725">
                    <a:solidFill>
                      <a:srgbClr val="F7F4EB"/>
                    </a:solidFill>
                  </a:tcPr>
                </a:tc>
              </a:tr>
              <a:tr h="445294">
                <a:tc>
                  <a:txBody>
                    <a:bodyPr/>
                    <a:lstStyle/>
                    <a:p>
                      <a:r>
                        <a:rPr sz="1725">
                          <a:solidFill>
                            <a:srgbClr val="252D31"/>
                          </a:solidFill>
                          <a:latin typeface="Helvetica Neue"/>
                          <a:ea typeface="Helvetica Neue"/>
                          <a:cs typeface="Helvetica Neue"/>
                        </a:rPr>
                        <a:t>C50 usual migraine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Priority async</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69.6 s</a:t>
                      </a:r>
                    </a:p>
                  </a:txBody>
                  <a:tcPr marL="123825" marR="123825" marT="85725" marB="85725">
                    <a:solidFill>
                      <a:srgbClr val="F7F4EB"/>
                    </a:solidFill>
                  </a:tcPr>
                </a:tc>
              </a:tr>
              <a:tr h="445294">
                <a:tc>
                  <a:txBody>
                    <a:bodyPr/>
                    <a:lstStyle/>
                    <a:p>
                      <a:r>
                        <a:rPr sz="1725">
                          <a:solidFill>
                            <a:srgbClr val="252D31"/>
                          </a:solidFill>
                          <a:latin typeface="Helvetica Neue"/>
                          <a:ea typeface="Helvetica Neue"/>
                          <a:cs typeface="Helvetica Neue"/>
                        </a:rPr>
                        <a:t>New neurological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3.3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46.1 s</a:t>
                      </a:r>
                    </a:p>
                  </a:txBody>
                  <a:tcPr marL="123825" marR="123825" marT="85725" marB="85725">
                    <a:solidFill>
                      <a:srgbClr val="F7F4EB"/>
                    </a:solidFill>
                  </a:tcPr>
                </a:tc>
              </a:tr>
              <a:tr h="445294">
                <a:tc>
                  <a:txBody>
                    <a:bodyPr/>
                    <a:lstStyle/>
                    <a:p>
                      <a:r>
                        <a:rPr sz="1725">
                          <a:solidFill>
                            <a:srgbClr val="252D31"/>
                          </a:solidFill>
                          <a:latin typeface="Helvetica Neue"/>
                          <a:ea typeface="Helvetica Neue"/>
                          <a:cs typeface="Helvetica Neue"/>
                        </a:rPr>
                        <a:t>C19 diabetic foot</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In-person today</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72.5 s</a:t>
                      </a:r>
                    </a:p>
                  </a:txBody>
                  <a:tcPr marL="123825" marR="123825" marT="85725" marB="85725">
                    <a:solidFill>
                      <a:srgbClr val="F7F4EB"/>
                    </a:solidFill>
                  </a:tcPr>
                </a:tc>
              </a:tr>
              <a:tr h="445294">
                <a:tc>
                  <a:txBody>
                    <a:bodyPr/>
                    <a:lstStyle/>
                    <a:p>
                      <a:r>
                        <a:rPr sz="1725">
                          <a:solidFill>
                            <a:srgbClr val="252D31"/>
                          </a:solidFill>
                          <a:latin typeface="Helvetica Neue"/>
                          <a:ea typeface="Helvetica Neue"/>
                          <a:cs typeface="Helvetica Neue"/>
                        </a:rPr>
                        <a:t>New airway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3.4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38.2 s</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B353FA37-4DE6-42DE-A3FA-72BD4A9DDBC6}"/>
              </a:ext>
            </a:extLst>
          </p:cNvPr>
          <p:cNvSpPr>
            <a:spLocks xmlns:a="http://schemas.openxmlformats.org/drawingml/2006/main" noGrp="1"/>
          </p:cNvSpPr>
          <p:nvPr/>
        </p:nvSpPr>
        <p:spPr>
          <a:xfrm xmlns:a="http://schemas.openxmlformats.org/drawingml/2006/main">
            <a:off x="609600" y="581977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86469"/>
                </a:solidFill>
                <a:latin typeface="Helvetica Neue"/>
                <a:ea typeface="Helvetica Neue"/>
                <a:cs typeface="Helvetica Neue"/>
              </a:defRPr>
            </a:pPr>
            <a:r>
              <a:rPr sz="1575" b="0">
                <a:solidFill>
                  <a:srgbClr val="586469"/>
                </a:solidFill>
                <a:latin typeface="Helvetica Neue"/>
                <a:ea typeface="Helvetica Neue"/>
                <a:cs typeface="Helvetica Neue"/>
              </a:rPr>
              <a:t>Later C02 retest: 10.3 s early, 63.6 s final. One unattributed C01 start is retained separately.</a:t>
            </a:r>
          </a:p>
          <a:p xmlns:a="http://schemas.openxmlformats.org/drawingml/2006/main">
            <a:pPr>
              <a:defRPr sz="1575" b="0">
                <a:solidFill>
                  <a:srgbClr val="586469"/>
                </a:solidFill>
                <a:latin typeface="Helvetica Neue"/>
                <a:ea typeface="Helvetica Neue"/>
                <a:cs typeface="Helvetica Neue"/>
              </a:defRPr>
            </a:pPr>
            <a:r>
              <a:rPr sz="1575" b="0">
                <a:solidFill>
                  <a:srgbClr val="586469"/>
                </a:solidFill>
                <a:latin typeface="Helvetica Neue"/>
                <a:ea typeface="Helvetica Neue"/>
                <a:cs typeface="Helvetica Neue"/>
              </a:rPr>
              <a:t>The extended nine-start window exceeded the planned eight-run count.</a:t>
            </a:r>
          </a:p>
        </p:txBody>
      </p:sp>
    </p:spTree>
    <p:extLst>
      <p:ext uri="{BB962C8B-B14F-4D97-AF65-F5344CB8AC3E}">
        <p14:creationId xmlns:p14="http://schemas.microsoft.com/office/powerpoint/2010/main" val="1429174421"/>
      </p:ext>
    </p:extLst>
  </p:cSld>
</p:sld>
</file>

<file path=ppt/slides/slide7.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8CF599-8C23-44A2-91D6-0A4602A35821}"/>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Two prompt optimizations were not promoted</a:t>
            </a:r>
          </a:p>
        </p:txBody>
      </p:sp>
      <p:sp>
        <p:nvSpPr>
          <p:cNvPr id="2" name="">
            <a:extLst xmlns:a="http://schemas.openxmlformats.org/drawingml/2006/main">
              <a:ext uri="{FF2B5EF4-FFF2-40B4-BE49-F238E27FC236}">
                <a16:creationId xmlns:a16="http://schemas.microsoft.com/office/drawing/2014/main" id="{65FD5632-88A9-4E07-A3FA-C4D310785EDF}"/>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Fixed-input experiments retained negative outcomes and every failed attempt.</a:t>
            </a:r>
          </a:p>
        </p:txBody>
      </p:sp>
      <p:sp>
        <p:nvSpPr>
          <p:cNvPr id="3" name="">
            <a:extLst xmlns:a="http://schemas.openxmlformats.org/drawingml/2006/main">
              <a:ext uri="{FF2B5EF4-FFF2-40B4-BE49-F238E27FC236}">
                <a16:creationId xmlns:a16="http://schemas.microsoft.com/office/drawing/2014/main" id="{C99E3C36-77DA-488C-B948-252B9305A203}"/>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7</a:t>
            </a:r>
          </a:p>
        </p:txBody>
      </p:sp>
      <p:graphicFrame>
        <p:nvGraphicFramePr>
          <p:cNvPr id="9" name=""/>
          <p:cNvGraphicFramePr/>
          <p:nvPr/>
        </p:nvGraphicFramePr>
        <p:xfrm>
          <a:off xmlns:a="http://schemas.openxmlformats.org/drawingml/2006/main" x="609600" y="2124075"/>
          <a:ext xmlns:a="http://schemas.openxmlformats.org/drawingml/2006/main" cx="10972800" cy="2733675"/>
        </p:xfrm>
        <a:graphic xmlns:a="http://schemas.openxmlformats.org/drawingml/2006/main">
          <a:graphicData uri="http://schemas.openxmlformats.org/drawingml/2006/table">
            <a:tbl>
              <a:tblPr/>
              <a:tblGrid>
                <a:gridCol w="3314700"/>
                <a:gridCol w="4371975"/>
                <a:gridCol w="3286125"/>
              </a:tblGrid>
              <a:tr h="911225">
                <a:tc>
                  <a:txBody>
                    <a:bodyPr/>
                    <a:lstStyle/>
                    <a:p>
                      <a:r>
                        <a:rPr sz="1800" b="1">
                          <a:solidFill>
                            <a:srgbClr val="FFFFFF"/>
                          </a:solidFill>
                          <a:latin typeface="Helvetica Neue"/>
                          <a:ea typeface="Helvetica Neue"/>
                          <a:cs typeface="Helvetica Neue"/>
                        </a:rPr>
                        <a:t>Experiment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Observed result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Decision</a:t>
                      </a:r>
                    </a:p>
                  </a:txBody>
                  <a:tcPr marL="123825" marR="123825" marT="85725" marB="85725">
                    <a:solidFill>
                      <a:srgbClr val="243866"/>
                    </a:solidFill>
                  </a:tcPr>
                </a:tc>
              </a:tr>
              <a:tr h="911225">
                <a:tc>
                  <a:txBody>
                    <a:bodyPr/>
                    <a:lstStyle/>
                    <a:p>
                      <a:r>
                        <a:rPr sz="1800">
                          <a:solidFill>
                            <a:srgbClr val="252D31"/>
                          </a:solidFill>
                          <a:latin typeface="Helvetica Neue"/>
                          <a:ea typeface="Helvetica Neue"/>
                          <a:cs typeface="Helvetica Neue"/>
                        </a:rPr>
                        <a:t>Succinct safety</a:t>
                      </a:r>
                    </a:p>
                    <a:p>
                      <a:r>
                        <a:rPr sz="1800">
                          <a:solidFill>
                            <a:srgbClr val="252D31"/>
                          </a:solidFill>
                          <a:latin typeface="Helvetica Neue"/>
                          <a:ea typeface="Helvetica Neue"/>
                          <a:cs typeface="Helvetica Neue"/>
                        </a:rPr>
                        <a:t>48 calls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Action targets 24/24 vs 23/24.</a:t>
                      </a:r>
                    </a:p>
                    <a:p>
                      <a:r>
                        <a:rPr sz="1800">
                          <a:solidFill>
                            <a:srgbClr val="252D31"/>
                          </a:solidFill>
                          <a:latin typeface="Helvetica Neue"/>
                          <a:ea typeface="Helvetica Neue"/>
                          <a:cs typeface="Helvetica Neue"/>
                        </a:rPr>
                        <a:t>Paired median gain only 0.097 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full prompt.</a:t>
                      </a:r>
                    </a:p>
                    <a:p>
                      <a:r>
                        <a:rPr sz="1800">
                          <a:solidFill>
                            <a:srgbClr val="252D31"/>
                          </a:solidFill>
                          <a:latin typeface="Helvetica Neue"/>
                          <a:ea typeface="Helvetica Neue"/>
                          <a:cs typeface="Helvetica Neue"/>
                        </a:rPr>
                        <a:t>Internal grounding defects remain.</a:t>
                      </a:r>
                    </a:p>
                  </a:txBody>
                  <a:tcPr marL="123825" marR="123825" marT="85725" marB="85725">
                    <a:solidFill>
                      <a:srgbClr val="F7F4EB"/>
                    </a:solidFill>
                  </a:tcPr>
                </a:tc>
              </a:tr>
              <a:tr h="911225">
                <a:tc>
                  <a:txBody>
                    <a:bodyPr/>
                    <a:lstStyle/>
                    <a:p>
                      <a:r>
                        <a:rPr sz="1800">
                          <a:solidFill>
                            <a:srgbClr val="252D31"/>
                          </a:solidFill>
                          <a:latin typeface="Helvetica Neue"/>
                          <a:ea typeface="Helvetica Neue"/>
                          <a:cs typeface="Helvetica Neue"/>
                        </a:rPr>
                        <a:t>Grounding-first producer</a:t>
                      </a:r>
                    </a:p>
                    <a:p>
                      <a:r>
                        <a:rPr sz="1800">
                          <a:solidFill>
                            <a:srgbClr val="252D31"/>
                          </a:solidFill>
                          <a:latin typeface="Helvetica Neue"/>
                          <a:ea typeface="Helvetica Neue"/>
                          <a:cs typeface="Helvetica Neue"/>
                        </a:rPr>
                        <a:t>16 calls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Release-eligible 3/4 vs 0/4.</a:t>
                      </a:r>
                    </a:p>
                    <a:p>
                      <a:r>
                        <a:rPr sz="1800">
                          <a:solidFill>
                            <a:srgbClr val="252D31"/>
                          </a:solidFill>
                          <a:latin typeface="Helvetica Neue"/>
                          <a:ea typeface="Helvetica Neue"/>
                          <a:cs typeface="Helvetica Neue"/>
                        </a:rPr>
                        <a:t>One candidate review failed.</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baseline.</a:t>
                      </a:r>
                    </a:p>
                    <a:p>
                      <a:r>
                        <a:rPr sz="1800">
                          <a:solidFill>
                            <a:srgbClr val="252D31"/>
                          </a:solidFill>
                          <a:latin typeface="Helvetica Neue"/>
                          <a:ea typeface="Helvetica Neue"/>
                          <a:cs typeface="Helvetica Neue"/>
                        </a:rPr>
                        <a:t>No demonstrated benefit.</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33D34004-B9D9-4C67-A94A-26BEB49FAD33}"/>
              </a:ext>
            </a:extLst>
          </p:cNvPr>
          <p:cNvSpPr>
            <a:spLocks xmlns:a="http://schemas.openxmlformats.org/drawingml/2006/main" noGrp="1"/>
          </p:cNvSpPr>
          <p:nvPr/>
        </p:nvSpPr>
        <p:spPr>
          <a:xfrm xmlns:a="http://schemas.openxmlformats.org/drawingml/2006/main">
            <a:off x="609600" y="53244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3866"/>
                </a:solidFill>
                <a:latin typeface="Helvetica Neue"/>
                <a:ea typeface="Helvetica Neue"/>
                <a:cs typeface="Helvetica Neue"/>
              </a:defRPr>
            </a:pPr>
            <a:r>
              <a:rPr sz="2025" b="0">
                <a:solidFill>
                  <a:srgbClr val="243866"/>
                </a:solidFill>
                <a:latin typeface="Helvetica Neue"/>
                <a:ea typeface="Helvetica Neue"/>
                <a:cs typeface="Helvetica Neue"/>
              </a:rPr>
              <a:t>Neither faster text nor a passed action label establishes safer routing.</a:t>
            </a:r>
          </a:p>
          <a:p xmlns:a="http://schemas.openxmlformats.org/drawingml/2006/main">
            <a:pPr>
              <a:defRPr sz="2025" b="0">
                <a:solidFill>
                  <a:srgbClr val="243866"/>
                </a:solidFill>
                <a:latin typeface="Helvetica Neue"/>
                <a:ea typeface="Helvetica Neue"/>
                <a:cs typeface="Helvetica Neue"/>
              </a:defRPr>
            </a:pPr>
            <a:r>
              <a:rPr sz="2025" b="0">
                <a:solidFill>
                  <a:srgbClr val="243866"/>
                </a:solidFill>
                <a:latin typeface="Helvetica Neue"/>
                <a:ea typeface="Helvetica Neue"/>
                <a:cs typeface="Helvetica Neue"/>
              </a:rPr>
              <a:t>The next comparison must measure errors corrected and introduced in the full workflow.</a:t>
            </a:r>
          </a:p>
        </p:txBody>
      </p:sp>
    </p:spTree>
    <p:extLst>
      <p:ext uri="{BB962C8B-B14F-4D97-AF65-F5344CB8AC3E}">
        <p14:creationId xmlns:p14="http://schemas.microsoft.com/office/powerpoint/2010/main" val="2456850"/>
      </p:ext>
    </p:extLst>
  </p:cSld>
</p:sld>
</file>

<file path=ppt/slides/slide8.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B416E0-7F6B-4B51-845C-4FAF0F99D927}"/>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Release gaps and the next clinical proof</a:t>
            </a:r>
          </a:p>
        </p:txBody>
      </p:sp>
      <p:sp>
        <p:nvSpPr>
          <p:cNvPr id="2" name="">
            <a:extLst xmlns:a="http://schemas.openxmlformats.org/drawingml/2006/main">
              <a:ext uri="{FF2B5EF4-FFF2-40B4-BE49-F238E27FC236}">
                <a16:creationId xmlns:a16="http://schemas.microsoft.com/office/drawing/2014/main" id="{4C91E239-FC7F-419F-83B8-E9A63E1F35CB}"/>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The main remaining burden is a reliable, concise answer with demonstrable clinical benefit.</a:t>
            </a:r>
          </a:p>
        </p:txBody>
      </p:sp>
      <p:sp>
        <p:nvSpPr>
          <p:cNvPr id="3" name="">
            <a:extLst xmlns:a="http://schemas.openxmlformats.org/drawingml/2006/main">
              <a:ext uri="{FF2B5EF4-FFF2-40B4-BE49-F238E27FC236}">
                <a16:creationId xmlns:a16="http://schemas.microsoft.com/office/drawing/2014/main" id="{736A831E-140B-4008-8599-124FCAAC6C65}"/>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21012360-0416-48F6-8FF7-0F249F6A835A}"/>
              </a:ext>
            </a:extLst>
          </p:cNvPr>
          <p:cNvSpPr>
            <a:spLocks xmlns:a="http://schemas.openxmlformats.org/drawingml/2006/main" noGrp="1"/>
          </p:cNvSpPr>
          <p:nvPr/>
        </p:nvSpPr>
        <p:spPr>
          <a:xfrm xmlns:a="http://schemas.openxmlformats.org/drawingml/2006/main">
            <a:off x="609600" y="2228850"/>
            <a:ext cx="109728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Shorten C02’s early instruction and the serial review/repair path without weakening context checks.</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Calibrate the judge on missed contradictions, unnecessary care burden and false withholding.</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Compare a simpler baseline on new physician-adjudicated cases, with the same evidence and sampling.</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Report emergency misses, over-escalation, claim support, all-attempt latency and unfinished runs.</a:t>
            </a:r>
          </a:p>
        </p:txBody>
      </p:sp>
      <p:sp>
        <p:nvSpPr>
          <p:cNvPr id="5" name="">
            <a:extLst xmlns:a="http://schemas.openxmlformats.org/drawingml/2006/main">
              <a:ext uri="{FF2B5EF4-FFF2-40B4-BE49-F238E27FC236}">
                <a16:creationId xmlns:a16="http://schemas.microsoft.com/office/drawing/2014/main" id="{82AEADCB-922E-4395-94FE-34980372EB66}"/>
              </a:ext>
            </a:extLst>
          </p:cNvPr>
          <p:cNvSpPr>
            <a:spLocks xmlns:a="http://schemas.openxmlformats.org/drawingml/2006/main" noGrp="1"/>
          </p:cNvSpPr>
          <p:nvPr/>
        </p:nvSpPr>
        <p:spPr>
          <a:xfrm xmlns:a="http://schemas.openxmlformats.org/drawingml/2006/main">
            <a:off x="609600" y="5686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866"/>
                </a:solidFill>
                <a:latin typeface="Helvetica Neue"/>
                <a:ea typeface="Helvetica Neue"/>
                <a:cs typeface="Helvetica Neue"/>
              </a:defRPr>
            </a:pPr>
            <a:r>
              <a:rPr sz="1875" b="1">
                <a:solidFill>
                  <a:srgbClr val="243866"/>
                </a:solidFill>
                <a:latin typeface="Helvetica Neue"/>
                <a:ea typeface="Helvetica Neue"/>
                <a:cs typeface="Helvetica Neue"/>
              </a:rPr>
              <a:t>Demonstrated: a running, observable disposition prototype.</a:t>
            </a:r>
          </a:p>
          <a:p xmlns:a="http://schemas.openxmlformats.org/drawingml/2006/main">
            <a:pPr>
              <a:defRPr sz="1875" b="1">
                <a:solidFill>
                  <a:srgbClr val="243866"/>
                </a:solidFill>
                <a:latin typeface="Helvetica Neue"/>
                <a:ea typeface="Helvetica Neue"/>
                <a:cs typeface="Helvetica Neue"/>
              </a:defRPr>
            </a:pPr>
            <a:r>
              <a:rPr sz="1875" b="1">
                <a:solidFill>
                  <a:srgbClr val="243866"/>
                </a:solidFill>
                <a:latin typeface="Helvetica Neue"/>
                <a:ea typeface="Helvetica Neue"/>
                <a:cs typeface="Helvetica Neue"/>
              </a:rPr>
              <a:t>Still unproven: independent clinical accuracy and net benefit from each added agent.</a:t>
            </a:r>
          </a:p>
        </p:txBody>
      </p:sp>
    </p:spTree>
    <p:extLst>
      <p:ext uri="{BB962C8B-B14F-4D97-AF65-F5344CB8AC3E}">
        <p14:creationId xmlns:p14="http://schemas.microsoft.com/office/powerpoint/2010/main" val="7176376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2026-09-14T19:42:56.6720000Z</dcterms:created>
  <dcterms:modified xsi:type="dcterms:W3CDTF">2026-09-14T19:42:56.6720000Z</dcterms:modified>
</coreProperties>
</file>
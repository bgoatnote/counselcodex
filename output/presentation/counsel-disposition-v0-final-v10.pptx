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16f9ac96c4e84" /><Relationship Type="http://schemas.openxmlformats.org/officeDocument/2006/relationships/extended-properties" Target="/docProps/app.xml" Id="R07ccf0a00a744bcb" /><Relationship Type="http://schemas.openxmlformats.org/officeDocument/2006/relationships/officeDocument" Target="/ppt/presentation.xml" Id="Rbad78a7ac4a949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bd5d87fb994779"/>
  </p:sldMasterIdLst>
  <p:notesMasterIdLst>
    <p:notesMasterId xmlns:r="http://schemas.openxmlformats.org/officeDocument/2006/relationships" r:id="R7fd65d51ed4c40a2"/>
  </p:notesMasterIdLst>
  <p:sldIdLst>
    <p:sldId xmlns:r="http://schemas.openxmlformats.org/officeDocument/2006/relationships" id="256" r:id="R9e17634d14104efb"/>
    <p:sldId xmlns:r="http://schemas.openxmlformats.org/officeDocument/2006/relationships" id="257" r:id="R196712c2ece54967"/>
    <p:sldId xmlns:r="http://schemas.openxmlformats.org/officeDocument/2006/relationships" id="258" r:id="Rfdd37783cf254f12"/>
    <p:sldId xmlns:r="http://schemas.openxmlformats.org/officeDocument/2006/relationships" id="259" r:id="R2affe8979a9b497d"/>
    <p:sldId xmlns:r="http://schemas.openxmlformats.org/officeDocument/2006/relationships" id="260" r:id="R9b06806019ba47c4"/>
    <p:sldId xmlns:r="http://schemas.openxmlformats.org/officeDocument/2006/relationships" id="261" r:id="R675f17c954f5420d"/>
    <p:sldId xmlns:r="http://schemas.openxmlformats.org/officeDocument/2006/relationships" id="262" r:id="R000985d10dd14faa"/>
    <p:sldId xmlns:r="http://schemas.openxmlformats.org/officeDocument/2006/relationships" id="263" r:id="Rbd73a8dd65524680"/>
    <p:sldId xmlns:r="http://schemas.openxmlformats.org/officeDocument/2006/relationships" id="264" r:id="R9c8e5bdbb4c54dfc"/>
    <p:sldId xmlns:r="http://schemas.openxmlformats.org/officeDocument/2006/relationships" id="265" r:id="R3944d8acf2684c66"/>
    <p:sldId xmlns:r="http://schemas.openxmlformats.org/officeDocument/2006/relationships" id="266" r:id="R82740c5ae60b4447"/>
    <p:sldId xmlns:r="http://schemas.openxmlformats.org/officeDocument/2006/relationships" id="267" r:id="R9ef1cf3482814d8c"/>
    <p:sldId xmlns:r="http://schemas.openxmlformats.org/officeDocument/2006/relationships" id="268" r:id="Rd09905f9191c41fb"/>
    <p:sldId xmlns:r="http://schemas.openxmlformats.org/officeDocument/2006/relationships" id="269" r:id="R4a5e0e287b4b44ea"/>
    <p:sldId xmlns:r="http://schemas.openxmlformats.org/officeDocument/2006/relationships" id="270" r:id="Rc2cc1fbd73474efd"/>
    <p:sldId xmlns:r="http://schemas.openxmlformats.org/officeDocument/2006/relationships" id="271" r:id="Rc40f4094861d417c"/>
    <p:sldId xmlns:r="http://schemas.openxmlformats.org/officeDocument/2006/relationships" id="272" r:id="Rffafbd34c626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a03e301144c88" /><Relationship Type="http://schemas.openxmlformats.org/officeDocument/2006/relationships/slideMaster" Target="/ppt/slideMasters/slideMaster1.xml" Id="R7cbd5d87fb994779" /><Relationship Type="http://schemas.openxmlformats.org/officeDocument/2006/relationships/notesMaster" Target="/ppt/notesMasters/notesMaster1.xml" Id="R7fd65d51ed4c40a2" /><Relationship Type="http://schemas.openxmlformats.org/officeDocument/2006/relationships/presProps" Target="/ppt/presProps.xml" Id="Rfdb2dbc3ac43430c" /><Relationship Type="http://schemas.openxmlformats.org/officeDocument/2006/relationships/tableStyles" Target="/ppt/tableStyles.xml" Id="R63855d2201d248d8" /><Relationship Type="http://schemas.openxmlformats.org/officeDocument/2006/relationships/slide" Target="/ppt/slides/slide1.xml" Id="R9e17634d14104efb" /><Relationship Type="http://schemas.openxmlformats.org/officeDocument/2006/relationships/slide" Target="/ppt/slides/slide2.xml" Id="R196712c2ece54967" /><Relationship Type="http://schemas.openxmlformats.org/officeDocument/2006/relationships/slide" Target="/ppt/slides/slide3.xml" Id="Rfdd37783cf254f12" /><Relationship Type="http://schemas.openxmlformats.org/officeDocument/2006/relationships/slide" Target="/ppt/slides/slide4.xml" Id="R2affe8979a9b497d" /><Relationship Type="http://schemas.openxmlformats.org/officeDocument/2006/relationships/slide" Target="/ppt/slides/slide5.xml" Id="R9b06806019ba47c4" /><Relationship Type="http://schemas.openxmlformats.org/officeDocument/2006/relationships/slide" Target="/ppt/slides/slide6.xml" Id="R675f17c954f5420d" /><Relationship Type="http://schemas.openxmlformats.org/officeDocument/2006/relationships/slide" Target="/ppt/slides/slide7.xml" Id="R000985d10dd14faa" /><Relationship Type="http://schemas.openxmlformats.org/officeDocument/2006/relationships/slide" Target="/ppt/slides/slide8.xml" Id="Rbd73a8dd65524680" /><Relationship Type="http://schemas.openxmlformats.org/officeDocument/2006/relationships/slide" Target="/ppt/slides/slide9.xml" Id="R9c8e5bdbb4c54dfc" /><Relationship Type="http://schemas.openxmlformats.org/officeDocument/2006/relationships/slide" Target="/ppt/slides/slide10.xml" Id="R3944d8acf2684c66" /><Relationship Type="http://schemas.openxmlformats.org/officeDocument/2006/relationships/slide" Target="/ppt/slides/slide11.xml" Id="R82740c5ae60b4447" /><Relationship Type="http://schemas.openxmlformats.org/officeDocument/2006/relationships/slide" Target="/ppt/slides/slide12.xml" Id="R9ef1cf3482814d8c" /><Relationship Type="http://schemas.openxmlformats.org/officeDocument/2006/relationships/slide" Target="/ppt/slides/slide13.xml" Id="Rd09905f9191c41fb" /><Relationship Type="http://schemas.openxmlformats.org/officeDocument/2006/relationships/slide" Target="/ppt/slides/slide14.xml" Id="R4a5e0e287b4b44ea" /><Relationship Type="http://schemas.openxmlformats.org/officeDocument/2006/relationships/slide" Target="/ppt/slides/slide15.xml" Id="Rc2cc1fbd73474efd" /><Relationship Type="http://schemas.openxmlformats.org/officeDocument/2006/relationships/slide" Target="/ppt/slides/slide16.xml" Id="Rc40f4094861d417c" /><Relationship Type="http://schemas.openxmlformats.org/officeDocument/2006/relationships/slide" Target="/ppt/slides/slide17.xml" Id="Rffafbd34c626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13dc4f015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ad76dcf454f60" /><Relationship Type="http://schemas.openxmlformats.org/officeDocument/2006/relationships/notesMaster" Target="/ppt/notesMasters/notesMaster1.xml" Id="Rec63f0cc8564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8ee752bc4d46a6" /><Relationship Type="http://schemas.openxmlformats.org/officeDocument/2006/relationships/notesMaster" Target="/ppt/notesMasters/notesMaster1.xml" Id="R33fd5eda3c87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1ea8572e14fdc" /><Relationship Type="http://schemas.openxmlformats.org/officeDocument/2006/relationships/notesMaster" Target="/ppt/notesMasters/notesMaster1.xml" Id="R8a0d9ead4e84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2a0efb84845f0" /><Relationship Type="http://schemas.openxmlformats.org/officeDocument/2006/relationships/notesMaster" Target="/ppt/notesMasters/notesMaster1.xml" Id="R9f71f9d44a5f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62e68f124415b" /><Relationship Type="http://schemas.openxmlformats.org/officeDocument/2006/relationships/notesMaster" Target="/ppt/notesMasters/notesMaster1.xml" Id="Rfb58ab0b49b24a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00c7ccb9e54ae1" /><Relationship Type="http://schemas.openxmlformats.org/officeDocument/2006/relationships/notesMaster" Target="/ppt/notesMasters/notesMaster1.xml" Id="R0534aeb4c443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853111906b4c03" /><Relationship Type="http://schemas.openxmlformats.org/officeDocument/2006/relationships/notesMaster" Target="/ppt/notesMasters/notesMaster1.xml" Id="R8dcbdc7d2633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09cfc395484804" /><Relationship Type="http://schemas.openxmlformats.org/officeDocument/2006/relationships/notesMaster" Target="/ppt/notesMasters/notesMaster1.xml" Id="R4ff232a331a3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b4a0b85fd24f50" /><Relationship Type="http://schemas.openxmlformats.org/officeDocument/2006/relationships/notesMaster" Target="/ppt/notesMasters/notesMaster1.xml" Id="R43a3c386c2da4a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59773295fd446c" /><Relationship Type="http://schemas.openxmlformats.org/officeDocument/2006/relationships/notesMaster" Target="/ppt/notesMasters/notesMaster1.xml" Id="R95688dffe7c549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385c60b53f4231" /><Relationship Type="http://schemas.openxmlformats.org/officeDocument/2006/relationships/notesMaster" Target="/ppt/notesMasters/notesMaster1.xml" Id="R34b64d10c7dc43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602bdb24394982" /><Relationship Type="http://schemas.openxmlformats.org/officeDocument/2006/relationships/notesMaster" Target="/ppt/notesMasters/notesMaster1.xml" Id="R3845f3b735564f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ef279ce2d04f0c" /><Relationship Type="http://schemas.openxmlformats.org/officeDocument/2006/relationships/notesMaster" Target="/ppt/notesMasters/notesMaster1.xml" Id="R1b792a08595747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93b87f6b174d40" /><Relationship Type="http://schemas.openxmlformats.org/officeDocument/2006/relationships/notesMaster" Target="/ppt/notesMasters/notesMaster1.xml" Id="R6120061a85b94e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c3a69e9b484968" /><Relationship Type="http://schemas.openxmlformats.org/officeDocument/2006/relationships/notesMaster" Target="/ppt/notesMasters/notesMaster1.xml" Id="R38865ab44e9243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2df2ce81154bcd" /><Relationship Type="http://schemas.openxmlformats.org/officeDocument/2006/relationships/notesMaster" Target="/ppt/notesMasters/notesMaster1.xml" Id="Rd0851f4ac08a47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a2ea51857d4057" /><Relationship Type="http://schemas.openxmlformats.org/officeDocument/2006/relationships/notesMaster" Target="/ppt/notesMasters/notesMaster1.xml" Id="Rb73369b62650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decision: this is a narrow, auditable routing workflow, not an AI doctor and not a clinical 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goal is to improve the care handoff: the right message reaches the right accountable person at the right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Counsel Physician AI Engineer Take-Home Project 8.7.26 (supplied PDF).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brief says 20 messages. The delivered CSV has 50, so I kept and evaluated all 50 rather than silently choosing a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performed a case-by-case safety review and found 12 disagreements: eight possible under-triage errors and four possible over-triage errors. These are hypotheses for clinician adjudication, not new truth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rules were written with the full slice visible. That is useful for regression testing and invalid for a generalization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PDF and CSV. CSV SHA-256: d17771ed706c6866d2b13f2d7f5344824acf51aaf281b8af6368637586d71a15.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 (current public product describes support for adults 18+; the supplied data includes pediatric rows).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route is not a diagnosis. Each label must map to a time window, an accountable owner, and an observable operational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SELF_CARE does not mean an unreviewed generative message goes to a patient. In V0, it is only a routing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Unknown inputs go to a clinician. A safety-system failure goes to urgent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take-home PDF; implementation contract in README.md and docs/TAKE_HOME_ACCOUNTING.md.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real registered workflow in Mastra Studio, not a conceptual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red-flag checklist and intent/history step run in parallel. The hard escalation gate executes before residual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emergency branch shares no mutable state with the intent branch. Downstream routing is structurally unable to downgrade a locked urgent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from the synthetic V0; src/mastra/workflows/disposition-workflow.ts.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 (Counsel describes parallel supervisor agents running alongside core patient-history agents).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live-demo backup if Studio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C08, verify disposition URGENT_ESCALATION, subtype ed_911, locked true, overrideBlocked true, origin hard_gate, and thunderclap_or_sah in the red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run the mixed-intent attack: a refill request plus crushing chest pain. The emergency result must dominate.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using the supplied synthetic C08 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correction. The 50 rows were visible while the rules were authored, so 50-of-50 is development replay, not a test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38-of-50 agreement compares the supplied labels with one reviewer's candidates. It reveals disagreement; it cannot tell us which side is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workbook leaves Reviewer B, adjudication, and final-reference fields visibly blank. That is a feature: it prevents the artifact from laundering an opinion into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output/evaluation/counsel-disposition-adjudication-workbook.xlsx, outputs/metrics.json,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boundary explicit before anyone asks. This is a verified software artifact and a clinically unvalidated reference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HealthBench used 262 physicians across 60 countries and 26 specialties, yet its Hard subset remained intentionally difficult: the paper reports o3 at 0.32 on Hard versus 0.60 overall. Difficulty and unresolved error are signals to investigate, not blemishes to hide.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published clinical-QA study likewise reports task-specific performance rather than perfection: 96.59% URI accuracy, 81.52% sinusitis accuracy, and moderate overall agreement (Cohen's kappa about 0.56).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https://openai.com/index/healthbench/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https://cdn.openai.com/pdf/bd7a39d5-9e9f-47b3-903c-8b847ca650c7/healthbench_paper.pdf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https://www.counselhealth.com/ai-report/llm-as-a-judge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suite includes mutation attempts against the router, branch fault injection, privacy canaries, actual Mastra parity, persisted-trace readback, and a production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component ablation is causal within the development corpus: removing the emergency lane produces 22 missed development urgent labels and 18 red-team misses. Retrieval failure preserves the emergency gate and removes self-care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chest-pain miss is exactly why a green development replay is not a clinical result. RT-035 regression-locks the discovered phrase; it does not establish coverage of unseen paraphrases.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Boris Cherny's public engineering guidance emphasizes explicit targets, test-run-iterate loops, and visual verification. Anthropic's property-based testing work motivates asserting invariants and searching for counterexamples rather than accumulating only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repository tests/, scripts/red-team.mjs, and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use is useful now for the Studio graph and trace UI. It is not a substitute for API-level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multi-turn successor, use Mastra multi-turn evals across the entire conversation. Use binary gates for deterministic actions and LLM judges only for subjective communication quality, calibrated against clinician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suspend/resume would require an approved encrypted or tokenized store. The current V0 intentionally disables durable raw workflow snapshots.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https://mastra.ai/blog/introducing-gates-and-verdicts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clinical measure is not a displayed label. It is whether the urgent handoff is recognized and completed within the intended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adjudication workbook operationalizes this method: each reviewer must name decision-critical missing context, select a route and confidence independently, and preserve disagreements for tie-break adjudication.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Pre-specify thresholds, subgroup minimums, missing-data policy, and stopping rules before opening the holdout.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public governance writing similarly emphasizes hard stops, mandatory physician escalation, auditability, and lifecycle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zoom-out: routing is only the first control point in a supervised care pathway.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Mastra case study describes patient history agents, parallel emergency supervisors, custom RAG over guidelines and records, and a physician cockpit.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published g-AMIE study describes history gathering and clinician-facing drafts with physician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Counsel's public stack supports all four directions, but its stated values also emphasize simplicity and doing fewer things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full-stack role names Next.js, Tailwind, Postgres/Supabase, and AWS. The current backend role describes a production RAG/search harness over structured and unstructured health data with strict permission and audit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V0 therefore adds a typed retrieval contract, not a vector database. At five policy snippets, vector search has no demonstrated retrieval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Tailwind interface becomes valuable when we can test a physician cockpit. Kubernetes becomes valuable after a PHI, tenant, load, and reliability envelope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https://mastra.ai/rag-pipeline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Mastra creates the valuable comparison: one agent contract, one tool surface, one trace/eval system, and provider-neutral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models only where open-ended synthesis can help. The deterministic workflow computes disposition first and passes it as locked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at least five trials per case on an untouched patient-and-episode holdout. Randomize and blind outputs. Use deterministic gates, cross-provider decomposed judges, and two calibrated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 from the quality, safety, latency, and cost frontier. Do not infer a universal winner from an average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configs/model-bakeoff.json and docs/MODEL_BAKEOFF.md.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https://mastra.ai/blog/model-router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feature roadmap. The V0 is worth continuing because it exposes the right system boundaries and can be tested rigorously.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unit of evidence is not another prompt. It is an adjudicated protocol and untouched holdout, followed by human-factors and shadow-mode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longer-term health mission is credible only if the system measurably expands safe access for underserved patients without hiding uncertainty or shifting risk to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docs/TAKE_HOME_ACCOUNTING.md and docs/VALIDATION_PLAN.md.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reviewer hypotheses. A blinded multi-clinician study must decide the intended route and timing for the actual Counsel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guidance supports prioritizing review of transient stroke symptoms, acute thunderclap headache, and possible cauda equina syndrome.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 and data/REFERENCE_STANDARD.md.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https://newsroom.heart.org/news/stroke-symptoms-even-if-they-disappear-within-an-hour-need-emergency-assessment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https://www.acep.org/siteassets/sites/acep/media/clinical-policies/cp-headache.pdf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https://www.nice.org.uk/guidance/ng127/chapter/Recommendations-for-adults-aged-over-16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Within the development labels, the always-urgent baseline exposes a metric-design failure: a safety-weighted cost can reward unusable over-triage.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why clinical utility needs capacity and workload constraints in addition to under-triage sensitivity.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data/gold_standard.csv, outputs/metrics.json,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 and Mastra: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mission: https://www.counselhealth.com/about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governance: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clinical QA: https://www.counselhealth.com/blog/scaling-clinical-quality-assurance-with-ai-judges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LLM-as-a-judge results: https://www.counselhealth.com/ai-report/llm-as-a-judge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HealthBench: https://openai.com/index/healthbench/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HealthBench paper: https://cdn.openai.com/pdf/bd7a39d5-9e9f-47b3-903c-8b847ca650c7/healthbench_paper.pdf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RAG: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full-stack role: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backend role: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g-AMIE: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Med-PaLM: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health-equity toolbox: https://research.google/pubs/a-toolbox-for-surfacing-health-equity-harms-and-biases-in-large-language-models/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best practices: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property testing: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agent evals: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model lifecycle: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model guidance: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RAG: https://mastra.ai/rag-pipeline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model router: https://mastra.ai/blog/model-router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eval gates: https://mastra.ai/blog/introducing-gates-and-verdicts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multi-turn evals: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HITL: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FGA: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GMLP: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CDS: https://www.fda.gov/regulatory-information/search-fda-guidance-documents/clinical-decision-support-software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RMF GenAI Profile: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2dbf0a47d45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3b8894b8cc4b2c" /><Relationship Type="http://schemas.openxmlformats.org/officeDocument/2006/relationships/slideLayout" Target="/ppt/slideLayouts/slideLayout1.xml" Id="Rd7f1d5df99fd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1d5df99fd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44e2303524798" /><Relationship Type="http://schemas.openxmlformats.org/officeDocument/2006/relationships/notesSlide" Target="/ppt/notesSlides/notesSlide1.xml" Id="Rd8c032ac44c04e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c41a316a5434b" /><Relationship Type="http://schemas.openxmlformats.org/officeDocument/2006/relationships/notesSlide" Target="/ppt/notesSlides/notesSlide2.xml" Id="Rdf5adeba48c3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c02a432674c2f" /><Relationship Type="http://schemas.openxmlformats.org/officeDocument/2006/relationships/notesSlide" Target="/ppt/notesSlides/notesSlide3.xml" Id="R5d2ce25c04b1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111c9fde84f12" /><Relationship Type="http://schemas.openxmlformats.org/officeDocument/2006/relationships/image" Target="/ppt/media/image.jpeg" Id="R3d6c5d1b2e3c49b2" /><Relationship Type="http://schemas.openxmlformats.org/officeDocument/2006/relationships/notesSlide" Target="/ppt/notesSlides/notesSlide4.xml" Id="R274bbb8d116f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c53734ea0458c" /><Relationship Type="http://schemas.openxmlformats.org/officeDocument/2006/relationships/image" Target="/ppt/media/image2.jpeg" Id="Rf0f660725cc34a60" /><Relationship Type="http://schemas.openxmlformats.org/officeDocument/2006/relationships/notesSlide" Target="/ppt/notesSlides/notesSlide5.xml" Id="R7fa1e45a5ee2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7a1a73a94d4a" /><Relationship Type="http://schemas.openxmlformats.org/officeDocument/2006/relationships/notesSlide" Target="/ppt/notesSlides/notesSlide6.xml" Id="Ree67ed27fe7543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0da028011491b" /><Relationship Type="http://schemas.openxmlformats.org/officeDocument/2006/relationships/notesSlide" Target="/ppt/notesSlides/notesSlide7.xml" Id="R35875f8e37254c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3b50e61fc4e84" /><Relationship Type="http://schemas.openxmlformats.org/officeDocument/2006/relationships/notesSlide" Target="/ppt/notesSlides/notesSlide8.xml" Id="Rc92575d0278d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6a01834214416" /><Relationship Type="http://schemas.openxmlformats.org/officeDocument/2006/relationships/notesSlide" Target="/ppt/notesSlides/notesSlide9.xml" Id="R622c70f237e6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baf53d3494911" /><Relationship Type="http://schemas.openxmlformats.org/officeDocument/2006/relationships/notesSlide" Target="/ppt/notesSlides/notesSlide10.xml" Id="Rce2fadb956d243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e439e9a44702" /><Relationship Type="http://schemas.openxmlformats.org/officeDocument/2006/relationships/notesSlide" Target="/ppt/notesSlides/notesSlide11.xml" Id="R88a97bb40c5140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c998e934b436d" /><Relationship Type="http://schemas.openxmlformats.org/officeDocument/2006/relationships/notesSlide" Target="/ppt/notesSlides/notesSlide12.xml" Id="Rbf5fe42023b640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3e3230de34463" /><Relationship Type="http://schemas.openxmlformats.org/officeDocument/2006/relationships/notesSlide" Target="/ppt/notesSlides/notesSlide13.xml" Id="Rf913aeae3b0b46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947c4b9c9414a" /><Relationship Type="http://schemas.openxmlformats.org/officeDocument/2006/relationships/notesSlide" Target="/ppt/notesSlides/notesSlide14.xml" Id="R5330f3317a4849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b43e5756d4eae" /><Relationship Type="http://schemas.openxmlformats.org/officeDocument/2006/relationships/notesSlide" Target="/ppt/notesSlides/notesSlide15.xml" Id="R7903170b3b2b4a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8be403774337" /><Relationship Type="http://schemas.openxmlformats.org/officeDocument/2006/relationships/notesSlide" Target="/ppt/notesSlides/notesSlide16.xml" Id="R460c96afff634a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0eaf069064bdc" /><Relationship Type="http://schemas.openxmlformats.org/officeDocument/2006/relationships/notesSlide" Target="/ppt/notesSlides/notesSlide17.xml" Id="Rf5204ab45fcd4e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7B249-AE7F-480B-9AA7-95287706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rPr>
              <a:t>PHYSICIAN AI ENGINEER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2108E-BBB0-4CB0-AB5A-EFC37BC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safer front door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 asynchronous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15C31-6F23-4151-9F4B-5C21FD2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rPr>
              <a:t>Disposition V0  |  Mastra 1.64.0  |  50 synthetic 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39823-9379-4EC6-B5E7-7282475D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rPr>
              <a:t>Decision support only. No diagnosis, treatment, chart write, or autonomous dispatch.</a:t>
            </a:r>
          </a:p>
        </p:txBody>
      </p:sp>
    </p:spTree>
    <p:extLst>
      <p:ext uri="{BB962C8B-B14F-4D97-AF65-F5344CB8AC3E}">
        <p14:creationId xmlns:p14="http://schemas.microsoft.com/office/powerpoint/2010/main" val="50337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36994-26EB-466C-B90D-FB04E3AA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CLINICAL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44C5D-A55C-4EFB-B740-A48E49C1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first deliverable is a reference-standard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75454-87AF-408E-977E-ABE07E4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198A7-0FF9-4D3F-BD4B-F6F5EF3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BA33-C32C-4A87-B6DA-E63C6C4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messages in the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2BE03-3498-4820-B90D-70F17B0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94482-43F9-4698-BA99-D983CB9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rows in the supplied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E46A4-3B70-443C-ACB4-8FA80C6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43C7-AF63-40E0-9457-9E43F6A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label disagreements to adjudicate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19150" y="3810000"/>
          <a:ext xmlns:a="http://schemas.openxmlformats.org/drawingml/2006/main" cx="104584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  <a:gridCol w="6076950"/>
              </a:tblGrid>
              <a:tr h="476250">
                <a:tc>
                  <a:txBody>
                    <a:bodyPr/>
                    <a:lstStyle/>
                    <a:p>
                      <a:r>
                        <a:t>Review finding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missed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TIA, thunderclap headache, cauda equina, GI bleed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false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refills, localized dermatitis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19B4F-8A27-467A-82FB-81553DA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Use all 50 for development. Call Reviewer A's labels candidates—not clinical truth.</a:t>
            </a:r>
          </a:p>
        </p:txBody>
      </p:sp>
    </p:spTree>
    <p:extLst>
      <p:ext uri="{BB962C8B-B14F-4D97-AF65-F5344CB8AC3E}">
        <p14:creationId xmlns:p14="http://schemas.microsoft.com/office/powerpoint/2010/main" val="850631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86A30-BFE1-4EBA-84BD-BB24F31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D8F2F-ED4F-42A8-81A2-80BA4EC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V0 stops at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9334D-9F07-419D-A968-D0015EBB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143250"/>
                <a:gridCol w="2381250"/>
                <a:gridCol w="2724150"/>
              </a:tblGrid>
              <a:tr h="785813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Operational 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Accountable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 action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URGENT_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May not safely wait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ops /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 route; show directive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ASYNC_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PHYSICIAN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judgment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Place in review queue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SELF_CARE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low-risk pattern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content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Route; do not send advice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ADBEA-A107-4D56-8F88-1E7644D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Excluded: diagnosis, prescribing, orders, chart mutation, patient messaging, emergency dispatch.</a:t>
            </a:r>
          </a:p>
        </p:txBody>
      </p:sp>
    </p:spTree>
    <p:extLst>
      <p:ext uri="{BB962C8B-B14F-4D97-AF65-F5344CB8AC3E}">
        <p14:creationId xmlns:p14="http://schemas.microsoft.com/office/powerpoint/2010/main" val="1091783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9CC21-B7C9-41A1-A077-02B60C71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EXECUTABLE MASTRA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07668-DCCD-4427-910E-08A3DB4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emergency supervisor runs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D7F7-6BE4-4EED-97CE-9B4EA47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c5d1b2e3c49b2"/>
          <a:stretch xmlns:a="http://schemas.openxmlformats.org/drawingml/2006/main"/>
        </p:blipFill>
        <p:spPr>
          <a:xfrm xmlns:a="http://schemas.openxmlformats.org/drawingml/2006/main">
            <a:off x="1735667" y="1295400"/>
            <a:ext cx="8720667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84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08042-7F25-4CDE-86C9-4EBAA89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LIVE SYNTHETIC RUN: C08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A053F-387E-4A83-A2B1-801D62E1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red flag becomes a non-bypassable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C61E9-065B-4E98-B8F3-6945CE0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660725cc34a60"/>
          <a:stretch xmlns:a="http://schemas.openxmlformats.org/drawingml/2006/main"/>
        </p:blipFill>
        <p:spPr>
          <a:xfrm xmlns:a="http://schemas.openxmlformats.org/drawingml/2006/main">
            <a:off x="1693333" y="1295400"/>
            <a:ext cx="880533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77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AFD54-F9C2-4190-974C-5808CCF3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EVALUATION 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2EACE-9654-4D3A-9A0B-A14454F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No clinical score is reportable yet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EB146-6092-48FE-9BFC-D5B0CE3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85900"/>
          <a:ext xmlns:a="http://schemas.openxmlformats.org/drawingml/2006/main" cx="108585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4953000"/>
              </a:tblGrid>
              <a:tr h="606425">
                <a:tc>
                  <a:txBody>
                    <a:bodyPr/>
                    <a:lstStyle/>
                    <a:p>
                      <a:r>
                        <a:t>Evidence 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the current data support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Clinical generalization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ESTIMATED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untouched patient/episode holdout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Reference 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ESTABLISHED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reviewer; zero adjudicated cases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Independent adjudication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/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Reviewer B and tie-break fields remain blank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Supplied vs Reviewer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 / 50 agree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label-disagreement signal, not accuracy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Prototype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 /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Software follows labels used during development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9645E-96F5-43C7-A893-A0690CF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The number Counsel should trust today is the blank clinical-performance field.</a:t>
            </a:r>
          </a:p>
        </p:txBody>
      </p:sp>
    </p:spTree>
    <p:extLst>
      <p:ext uri="{BB962C8B-B14F-4D97-AF65-F5344CB8AC3E}">
        <p14:creationId xmlns:p14="http://schemas.microsoft.com/office/powerpoint/2010/main" val="225024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3913D-A70F-4DEC-A523-4A7C93A2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D7345-56CA-45BD-B12F-FCA63C56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Clinical performance is not estimated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A909F-59A5-4530-AFC9-A30D9A8F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AD299-049E-4640-85C7-08BE345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69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N/A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7699F-4CFC-423A-9856-38760B08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honest clinical estimate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14FEA-5AF1-4CE6-9038-8AF594EC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6667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Software behavior: verified on known and adversarial cases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Reference validity: incomplete and explicitly unresolved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Generalization: unknown until a frozen external holdout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Reliability: unknown until repeated trials and worst-of-n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Clinical utility: unknown until workflow and outcome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6E2E9-49F6-4E7A-8144-7B3B0905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Supported claim: the implementation follows a declared development policy and protects its hard-gate invariant.</a:t>
            </a:r>
          </a:p>
        </p:txBody>
      </p:sp>
    </p:spTree>
    <p:extLst>
      <p:ext uri="{BB962C8B-B14F-4D97-AF65-F5344CB8AC3E}">
        <p14:creationId xmlns:p14="http://schemas.microsoft.com/office/powerpoint/2010/main" val="268175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E6CE-C618-4D25-86D0-9A83008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RED TEAM AND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EBB76-1BFA-4CE2-871B-80ACB79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Software checks target concrete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A7ECF-FEE3-428C-BF19-B56A5BC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810000"/>
              </a:tblGrid>
              <a:tr h="650875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is exercised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condition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Schemas, boundaries, determinism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 malformed state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 properties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 dominance, no downgrade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 invariants hold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Fault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Either parallel branch fails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Conservative route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Adversarial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Negation, Unicode, mixed intent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urgent miss; no leakage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Real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Parity, runEvals, Studio, 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software gate passes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8B5F5-A70E-4243-B454-1097297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RT-035 now catches the earlier miss: ‘crushing chest pain and trouble breathing.’</a:t>
            </a:r>
          </a:p>
        </p:txBody>
      </p:sp>
    </p:spTree>
    <p:extLst>
      <p:ext uri="{BB962C8B-B14F-4D97-AF65-F5344CB8AC3E}">
        <p14:creationId xmlns:p14="http://schemas.microsoft.com/office/powerpoint/2010/main" val="1779140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E0A89-A1D4-4D44-BA1A-A2D95E74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MULTI-TURN HISTORY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3B3C1-476A-43EB-B18B-729E6314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Test the whole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6F947-7D77-40B0-B530-D990317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953000"/>
                <a:gridCol w="3067050"/>
              </a:tblGrid>
              <a:tr h="66675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in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release rule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Urgency delay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 appears on any 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Never ask or suspend after signal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Unsafe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bound to exact tool arguments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approval, no side effect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Resume abuse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Stale, duplicate, unauthorized resume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 closed; audit actor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order, loops, context truncation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Deterministic gate still owns route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Silent quality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Versioned datasets, trace feedback, live 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Alert and stop by threshold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82168-6D19-48DF-8081-856724E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Judge communication with clinicians. Verify routing, tools, approvals, and state in code.</a:t>
            </a:r>
          </a:p>
        </p:txBody>
      </p:sp>
    </p:spTree>
    <p:extLst>
      <p:ext uri="{BB962C8B-B14F-4D97-AF65-F5344CB8AC3E}">
        <p14:creationId xmlns:p14="http://schemas.microsoft.com/office/powerpoint/2010/main" val="1985923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C6FDB-99F7-4449-9513-B4104892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HOW TO DECIDE WHAT ‘GOOD’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30738-B257-40F3-8EC0-D845833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evaluation is the clinical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2AE1-4E48-4D1C-B2FC-91F5EE88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400675"/>
                <a:gridCol w="3143250"/>
              </a:tblGrid>
              <a:tr h="6985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Stop condition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Intended 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Route, timing, owner, and available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Bucket semantics unresolved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blinded clinicians + adjudicator + uncertainty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Decision-critical context missing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patient/episode split; severity and prevalence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Any development contamination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Metrics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sensitivity bound, workload, abstention, equity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Pre-specified threshold missed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Human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Repeated trials, worst-of-n, shadow-mode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Delay, near miss, or drift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E2447-C1D7-4D2B-AA24-4E12554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No PHI, integration, or controlled release until clinical, safety, privacy, security, and operations owners sign off.</a:t>
            </a:r>
          </a:p>
        </p:txBody>
      </p:sp>
    </p:spTree>
    <p:extLst>
      <p:ext uri="{BB962C8B-B14F-4D97-AF65-F5344CB8AC3E}">
        <p14:creationId xmlns:p14="http://schemas.microsoft.com/office/powerpoint/2010/main" val="71706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8EDE4-944B-4BAD-8D15-F5701FA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COUNSEL-SHAPED NEXT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10774-1F6C-48DC-9EAB-D6D836A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Build capacity around the physician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E29C3-F61B-41B0-9438-E1FFA58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B672-CCD1-4A8F-BC9F-0967AE7C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29C28-0780-461E-A8B6-67FDE9D6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Collect only the history that changes the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8A112-2240-4603-96B5-BD6A8634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2DA51-CB21-4404-BBEE-9DF8CDF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Retrieve longitudinal record, local guidance, and in-network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74F00-C2FB-4C26-AC1B-1B1BA0FE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82C4B-AF26-4EDF-835D-E010EABA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Give the physician a concise cockpit with provenance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C00C9-22E4-41AC-866D-9138888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296D2-282F-4CD3-8918-A7CA000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Measure safe resolution, time saved, continuity, and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02BE-D9EB-48DD-BD5E-FF0B6978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outcome is accountable care delivered, not an impressive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1815995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E5C18-3E31-4231-BB3C-EEB0DEE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STACK ALIGNMENT AND EVIDENCE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B9C2D-7ADB-4B54-B09A-9CFAC6C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Four technologies, four admission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ACFA7-4423-4B78-8C0C-C3E6370D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14350" y="1390650"/>
          <a:ext xmlns:a="http://schemas.openxmlformats.org/drawingml/2006/main" cx="111633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190750"/>
                <a:gridCol w="3305175"/>
                <a:gridCol w="3714750"/>
              </a:tblGrid>
              <a:tr h="704850"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adds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required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RAG + vector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increment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Longitudinal context and sourced guidance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Recall, entailment, freshness, tenant isolation, no urgent-route regression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Tailwind cockpit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retrieval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provenance and action 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Faster review with no missed warning, false certainty, or accessibility loss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Kubernetes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Isolation, rollout, recovery, 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Owned SLO, load, failover, least privilege, rollback, incident exercise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Mastra model router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Controlled bakeoff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contract across GPT and Claude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tools/context, blinded repeats, clinician review, paired uncertainty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4197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EB0E8-58FA-4CF1-845E-3615E7E0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MASTRA AS THE EXPERIMENT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E1288-E643-4411-B85D-29CA713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governed GPT–Claude bakeoff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ED709-CCF7-4D51-B190-B8A08579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47700" y="1371600"/>
          <a:ext xmlns:a="http://schemas.openxmlformats.org/drawingml/2006/main" cx="108966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714750"/>
                <a:gridCol w="4943475"/>
              </a:tblGrid>
              <a:tr h="47625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Initial 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OpenAI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GPT-5.6 Terra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history summary and response draft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Anthropic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Claude Sonnet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Same prompt, context, tools, schema, and budget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3105150"/>
          <a:ext xmlns:a="http://schemas.openxmlformats.org/drawingml/2006/main" cx="108966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562350"/>
              </a:tblGrid>
              <a:tr h="49149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rule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Locked route + forbidden-action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gate violations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Clinical usefulness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blinded clinicians + adjudication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Prespecified paired threshold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Grounding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Citation provenance and entailment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invented source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trials/case; latency, failures, tokens,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Report frontier and Pass⁵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62163-9AD7-4AD0-9BF9-4D0E765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Status: preregistered, not run. Neither model may change disposition.</a:t>
            </a:r>
          </a:p>
        </p:txBody>
      </p:sp>
    </p:spTree>
    <p:extLst>
      <p:ext uri="{BB962C8B-B14F-4D97-AF65-F5344CB8AC3E}">
        <p14:creationId xmlns:p14="http://schemas.microsoft.com/office/powerpoint/2010/main" val="1602247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E5E18-4134-44CE-824E-85126627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DECISION AND NEXT THREE MOVES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F0430-C835-4EB3-95C8-69290EE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Keep V0 in the sandbox; proceed with the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20165-6015-48BE-8C2D-85DADDBE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B3924-3BA2-4968-A52C-C63B671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3751E-A41A-41D1-91F3-BDFBFBD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764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Adjudicate the 12 disagreements and lock the adult routing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EADA9-9D7D-42FC-96C4-F1D9215A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E81D7-BA28-4A6B-9208-F9733320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Build an untouched, representative holdout with explicit release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38976-FB45-47F7-8D3C-DB7F329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7660F-C920-4B7B-A2A9-EC2D2F8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Test the human handoff in shadow mode before adding autonomy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8612-B7DC-4275-856C-B8759A95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Current verdict: useful engineering instrument; clinical performance not estimated.</a:t>
            </a:r>
          </a:p>
        </p:txBody>
      </p:sp>
    </p:spTree>
    <p:extLst>
      <p:ext uri="{BB962C8B-B14F-4D97-AF65-F5344CB8AC3E}">
        <p14:creationId xmlns:p14="http://schemas.microsoft.com/office/powerpoint/2010/main" val="19538969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55BBF-4748-4155-91F4-42430EB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F604-19E2-4E56-A653-6698827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eight possible missed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93B96-2858-411F-B902-30B5BFBA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3571875"/>
                <a:gridCol w="6496050"/>
              </a:tblGrid>
              <a:tr h="518583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 + stiff neck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subarachnoid hemorrhage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COPD + marked dyspnea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respiratory decompensation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Infant fever + low intake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dehydration or serious infection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Bladder + saddle symptoms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cauda equina syndrome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Resolved focal neurology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transient ischemic attack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Warm swollen calf post-flight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deep vein thrombosis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Melena + orthostasis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clinically important GI bleed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Edema + orthopnea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decompensated heart failure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607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32167-D28F-4410-8855-83ECF4F3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074E-A991-4059-A43A-CC4499C8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four possible false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64B73-89D6-4F0A-BF6F-8D98B3D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619250"/>
          <a:ext xmlns:a="http://schemas.openxmlformats.org/drawingml/2006/main" cx="10439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5295900"/>
              </a:tblGrid>
              <a:tr h="62865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losartan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garden rash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spread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poison ivy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systemic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finasteride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0D06E-D7B6-4135-9C0B-4C39E3E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Over-triage is safer than under-triage case by case, but systematic over-triage destroys access and trust.</a:t>
            </a:r>
          </a:p>
        </p:txBody>
      </p:sp>
    </p:spTree>
    <p:extLst>
      <p:ext uri="{BB962C8B-B14F-4D97-AF65-F5344CB8AC3E}">
        <p14:creationId xmlns:p14="http://schemas.microsoft.com/office/powerpoint/2010/main" val="20511678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A5DC4-99F9-4B1F-9E3C-20EBF91C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RESEARCH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03EFC-AF51-44E8-9FCF-3020C43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Selected source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DA87D-8183-42C1-831F-9818EF2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BE6FD-7E52-42B4-9F65-F4415D8D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00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+ Mastra customer case study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responsible AI governance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clinical QA with specialist judges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OpenAI HealthBench + HealthBench Hard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87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g-AMIE physician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87C24-D1C1-444D-8819-EC6E951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048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health-equity evaluation toolbox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Anthropic engineering and property testing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Mastra RAG, routing, gates, HITL, FGA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FDA GMLP and CDS guidance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NIST AI RMF Generative AI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E9027-C667-427B-86AF-F064009F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Full URLs and presentation talk track are embedded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716110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2026-09-06T02:41:37.7560000Z</dcterms:created>
  <dcterms:modified xsi:type="dcterms:W3CDTF">2026-09-06T02:41:37.7560000Z</dcterms:modified>
</coreProperties>
</file>
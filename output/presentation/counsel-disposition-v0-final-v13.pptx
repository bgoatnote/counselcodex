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cb7d00e11c4859" /><Relationship Type="http://schemas.openxmlformats.org/officeDocument/2006/relationships/extended-properties" Target="/docProps/app.xml" Id="R6c38f566817f4033" /><Relationship Type="http://schemas.openxmlformats.org/officeDocument/2006/relationships/officeDocument" Target="/ppt/presentation.xml" Id="Rca9fc2f3088148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acc5ee0864b7a"/>
  </p:sldMasterIdLst>
  <p:notesMasterIdLst>
    <p:notesMasterId xmlns:r="http://schemas.openxmlformats.org/officeDocument/2006/relationships" r:id="R4788e4317310443e"/>
  </p:notesMasterIdLst>
  <p:sldIdLst>
    <p:sldId xmlns:r="http://schemas.openxmlformats.org/officeDocument/2006/relationships" id="256" r:id="R48884016bc1a4fc9"/>
    <p:sldId xmlns:r="http://schemas.openxmlformats.org/officeDocument/2006/relationships" id="257" r:id="R43889be6c6e64255"/>
    <p:sldId xmlns:r="http://schemas.openxmlformats.org/officeDocument/2006/relationships" id="258" r:id="Raf71b25e9e6049ff"/>
    <p:sldId xmlns:r="http://schemas.openxmlformats.org/officeDocument/2006/relationships" id="259" r:id="R728a4c39ec6646f3"/>
    <p:sldId xmlns:r="http://schemas.openxmlformats.org/officeDocument/2006/relationships" id="260" r:id="Rec273678a2944e47"/>
    <p:sldId xmlns:r="http://schemas.openxmlformats.org/officeDocument/2006/relationships" id="261" r:id="Rfe00d51cebb3450b"/>
    <p:sldId xmlns:r="http://schemas.openxmlformats.org/officeDocument/2006/relationships" id="262" r:id="R732dbc5dd34d4b3d"/>
    <p:sldId xmlns:r="http://schemas.openxmlformats.org/officeDocument/2006/relationships" id="263" r:id="Rc1f9c5ae18d149b0"/>
    <p:sldId xmlns:r="http://schemas.openxmlformats.org/officeDocument/2006/relationships" id="264" r:id="R6ed0986446164f9a"/>
    <p:sldId xmlns:r="http://schemas.openxmlformats.org/officeDocument/2006/relationships" id="265" r:id="R3881cdf73ee94b0f"/>
    <p:sldId xmlns:r="http://schemas.openxmlformats.org/officeDocument/2006/relationships" id="266" r:id="Ra33f762844304b50"/>
    <p:sldId xmlns:r="http://schemas.openxmlformats.org/officeDocument/2006/relationships" id="267" r:id="R0d68b4690e6049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12813274374d53" /><Relationship Type="http://schemas.openxmlformats.org/officeDocument/2006/relationships/slideMaster" Target="/ppt/slideMasters/slideMaster1.xml" Id="Rf77acc5ee0864b7a" /><Relationship Type="http://schemas.openxmlformats.org/officeDocument/2006/relationships/notesMaster" Target="/ppt/notesMasters/notesMaster1.xml" Id="R4788e4317310443e" /><Relationship Type="http://schemas.openxmlformats.org/officeDocument/2006/relationships/presProps" Target="/ppt/presProps.xml" Id="R7ad4e8fd7f1d4106" /><Relationship Type="http://schemas.openxmlformats.org/officeDocument/2006/relationships/tableStyles" Target="/ppt/tableStyles.xml" Id="R83e1d979de7d41c4" /><Relationship Type="http://schemas.openxmlformats.org/officeDocument/2006/relationships/slide" Target="/ppt/slides/slide1.xml" Id="R48884016bc1a4fc9" /><Relationship Type="http://schemas.openxmlformats.org/officeDocument/2006/relationships/slide" Target="/ppt/slides/slide2.xml" Id="R43889be6c6e64255" /><Relationship Type="http://schemas.openxmlformats.org/officeDocument/2006/relationships/slide" Target="/ppt/slides/slide3.xml" Id="Raf71b25e9e6049ff" /><Relationship Type="http://schemas.openxmlformats.org/officeDocument/2006/relationships/slide" Target="/ppt/slides/slide4.xml" Id="R728a4c39ec6646f3" /><Relationship Type="http://schemas.openxmlformats.org/officeDocument/2006/relationships/slide" Target="/ppt/slides/slide5.xml" Id="Rec273678a2944e47" /><Relationship Type="http://schemas.openxmlformats.org/officeDocument/2006/relationships/slide" Target="/ppt/slides/slide6.xml" Id="Rfe00d51cebb3450b" /><Relationship Type="http://schemas.openxmlformats.org/officeDocument/2006/relationships/slide" Target="/ppt/slides/slide7.xml" Id="R732dbc5dd34d4b3d" /><Relationship Type="http://schemas.openxmlformats.org/officeDocument/2006/relationships/slide" Target="/ppt/slides/slide8.xml" Id="Rc1f9c5ae18d149b0" /><Relationship Type="http://schemas.openxmlformats.org/officeDocument/2006/relationships/slide" Target="/ppt/slides/slide9.xml" Id="R6ed0986446164f9a" /><Relationship Type="http://schemas.openxmlformats.org/officeDocument/2006/relationships/slide" Target="/ppt/slides/slide10.xml" Id="R3881cdf73ee94b0f" /><Relationship Type="http://schemas.openxmlformats.org/officeDocument/2006/relationships/slide" Target="/ppt/slides/slide11.xml" Id="Ra33f762844304b50" /><Relationship Type="http://schemas.openxmlformats.org/officeDocument/2006/relationships/slide" Target="/ppt/slides/slide12.xml" Id="R0d68b4690e6049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07177154f24f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e768ff750a44bd" /><Relationship Type="http://schemas.openxmlformats.org/officeDocument/2006/relationships/notesMaster" Target="/ppt/notesMasters/notesMaster1.xml" Id="R3859207dd74f47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253de2600a47d5" /><Relationship Type="http://schemas.openxmlformats.org/officeDocument/2006/relationships/notesMaster" Target="/ppt/notesMasters/notesMaster1.xml" Id="R361fd13fbba54c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3e8f5995ca46de" /><Relationship Type="http://schemas.openxmlformats.org/officeDocument/2006/relationships/notesMaster" Target="/ppt/notesMasters/notesMaster1.xml" Id="R4ebb5cd8cace47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8b422f24924830" /><Relationship Type="http://schemas.openxmlformats.org/officeDocument/2006/relationships/notesMaster" Target="/ppt/notesMasters/notesMaster1.xml" Id="R3c29744b29aa47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697c8fc91c4217" /><Relationship Type="http://schemas.openxmlformats.org/officeDocument/2006/relationships/notesMaster" Target="/ppt/notesMasters/notesMaster1.xml" Id="Rc5db836d22ae46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358c1de8d24a38" /><Relationship Type="http://schemas.openxmlformats.org/officeDocument/2006/relationships/notesMaster" Target="/ppt/notesMasters/notesMaster1.xml" Id="R78b2808bab3f41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8c5fb865a64430" /><Relationship Type="http://schemas.openxmlformats.org/officeDocument/2006/relationships/notesMaster" Target="/ppt/notesMasters/notesMaster1.xml" Id="R09cd50b23c524d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8a195968ec468d" /><Relationship Type="http://schemas.openxmlformats.org/officeDocument/2006/relationships/notesMaster" Target="/ppt/notesMasters/notesMaster1.xml" Id="R5acb8d77a8a04a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b8c72e8baa4304" /><Relationship Type="http://schemas.openxmlformats.org/officeDocument/2006/relationships/notesMaster" Target="/ppt/notesMasters/notesMaster1.xml" Id="Rdb2cbde7856a4f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f80cb150424c9f" /><Relationship Type="http://schemas.openxmlformats.org/officeDocument/2006/relationships/notesMaster" Target="/ppt/notesMasters/notesMaster1.xml" Id="Rd13d4293e0f94e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dfee51ac874275" /><Relationship Type="http://schemas.openxmlformats.org/officeDocument/2006/relationships/notesMaster" Target="/ppt/notesMasters/notesMaster1.xml" Id="R529a0d841c5748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87c8ad2ff04190" /><Relationship Type="http://schemas.openxmlformats.org/officeDocument/2006/relationships/notesMaster" Target="/ppt/notesMasters/notesMaster1.xml" Id="R06153669c66f49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the operating decision. This V0 routes synthetic async messages to an accountable care path and stops before diagnosis, treatment, chart mutation, or patient messaging.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take-home is designed for one clinician-engineer. The development review is complete, while consensus truth and clinical performance remain outside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Counsel Physician AI Engineer Take-Home Project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brief describes 20 messages, while the supplied CSV contains 50. I retained all 50 and fixed the source hash rather than selecting a convenient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case-by-case physician review found 12 disagreements. Eight may represent urgent under-triage. That evidence made a plain accuracy optimizer unacceptable.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findings are a complete take-home development review. They are not a validated population error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PDF and CSV. CSV SHA-256: d17771ed706c6866d2b13f2d7f5344824acf51aaf281b8af6368637586d71a15.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demonstration case. The source route was async physician. My clinician development review routes urgently because a thunderclap headache with meningismus requires immediate evaluation for subarachnoid hemorrhage.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V0 finds the explicit red flag in an independent branch and locks the route before residual routing. The case becomes a permanent regression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synthetic case C08, data/clinician_development_review.csv, outputs/predictions.csv.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disposition label matters only when it changes ownership, timing, and the next observable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Unknown or underspecified input goes to a clinician. A fired emergency gate can only promote urgency and cannot be downgraded.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boundary avoids performing higher-risk clinical actions in a take-home prototype.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assignment and implementation contracts in README.md and docs/TAKE_HOME_ACCOUNTING.md.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registered workflow rendered in Mastra Studio.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deterministic emergency supervisor and the bounded history-intake path run in parallel. The hard gate runs before residual disposition and prevents a downstream downgrade.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agent can gather and summarize context with one read-only source. It never owns the emergency floor or performs a clinical side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Mastra Studio verification and src/mastra/workflows/disposition-workflow.ts.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describes parallel emergency supervisors, routed special-purpose agents, custom RAG, and shared TypeScript in its published Mastra case study: https://mastra.ai/customers/counsel-health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workbench joins the source message, supplied label, clinician development review, and V0 trace by case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opens on possible urgent misses, supports disagreement and over-triage filters, and includes method and 25-million-case views.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application is static and read-only. There is no identity store, clinical database, or mutation API in this exercise.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apps/evaluation and docs/EVALUATION_WORKBENCH_VERIFICATION.md.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central accounting. The 50 visible messages support software verification and a clinician-engineer's defended target. They do not support confidence intervals or release-readiness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next meaningful clinical experiment is an untouched patient-and-episode holdout with a frozen rubric and calibrated review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docs/EVALUATION.md and outputs/metrics.json.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Deterministic properties use deterministic checks. Subjective handoff qualities can use a rubric judge only after meta-evaluation against clinician ratings.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Computer use is valuable here for confirming the actual Studio topology and the clinician-facing browser workflow. It does not substitute for automated workflow assertions.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recommends tracing, versioned datasets, scorers, cost and latency monitoring, OpenTelemetry, and explicit sensitive-data filtering: https://mastra.ai/ai-agent-observability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workflow guidance covers typed steps, parallel branches, suspend and resume, offline datasets, and online monitoring: https://mastra.ai/articles/agentic-workflows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in-sample development ablations against the clinician-authored set. They are mechanism tests, not clinical comparators.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Removing the emergency branch misses all 22 urgent development cases. Disabling retrieval preserves the urgent floor because retrieval does not own disposition. Always urgent preserves recall and destroys routing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outputs/component-ablation-v1.json and docs/TRACE_AND_ABLATION.md.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Counsel's public quality work describes specialized LLM judges that evaluate every thread against clinician-defined rubrics. At scale, automated coverage and human sampling solve different problems.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Probability samples estimate population quality. Incident and active-learning queues discover failures but cannot estimate prevalence without known inclusion probabilities and weighting.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Multi-clinician overlap belongs on a calibration subset and on high-severity ambiguity where disagreement changes the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https://www.counselhealth.com/blog/scaling-clinical-quality-assurance-with-ai-judges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https://www.counselhealth.com/ai-report/llm-as-a-judge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docs/CLINICAL_EVALUATION_PROTOCOL.md.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Counsel's published stack includes custom RAG, Kubernetes private cloud hosting, Next.js, shared TypeScript, and Mastra Studio. This V0 reproduces the architectural principles and declines infrastructure that cannot improve this experiment.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provider-neutral comparison is preregistered for clinician-handoff quality after deterministic disposition. The hard safety route cannot change between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candidates are the cost-balanced OpenAI GPT-5.6 Terra and Anthropic Claude Sonnet 5. The experiment is proposed and has not been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https://developers.openai.com/api/docs/models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https://docs.anthropic.com/en/docs/about-claude/model-deprecations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configs/model-bakeoff.json and docs/MODEL_BAKEOFF.md.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decision is to keep the workflow in a synthetic or shadow environment until an untouched study measures urgent sensitivity, precision, destination accuracy, severe false negatives, workload, latency, subgroup behavior, and completed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mission metric is not a model score. It is a safer and faster completed care transition that increases access without displacing clinical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emphasizes physician supervision, constrained domains, traceable evidence, deterministic escalation logic, hard stops, and continuous monitoring: https://www.counselhealth.com/blog/responsible-ai-governance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docs/EVALUATION.md, docs/CLINICAL_EVALUATION_PROTOCOL.md, and docs/ROLE_EVIDENCE.md.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dcb506e4a43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c369cb95214a2b" /><Relationship Type="http://schemas.openxmlformats.org/officeDocument/2006/relationships/slideLayout" Target="/ppt/slideLayouts/slideLayout1.xml" Id="R457fee9f89914c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7fee9f89914c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dcdf3f443462a" /><Relationship Type="http://schemas.openxmlformats.org/officeDocument/2006/relationships/notesSlide" Target="/ppt/notesSlides/notesSlide1.xml" Id="R867f3114b12346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49d79e24348bd" /><Relationship Type="http://schemas.openxmlformats.org/officeDocument/2006/relationships/notesSlide" Target="/ppt/notesSlides/notesSlide2.xml" Id="Rb6547f58045f4b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790bba904459c" /><Relationship Type="http://schemas.openxmlformats.org/officeDocument/2006/relationships/notesSlide" Target="/ppt/notesSlides/notesSlide3.xml" Id="Rfae8573377c248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8bace1ec54694" /><Relationship Type="http://schemas.openxmlformats.org/officeDocument/2006/relationships/notesSlide" Target="/ppt/notesSlides/notesSlide4.xml" Id="R646790b857d14e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506eea0ad4494" /><Relationship Type="http://schemas.openxmlformats.org/officeDocument/2006/relationships/image" Target="/ppt/media/image.jpeg" Id="Rc8844936a33e4c3e" /><Relationship Type="http://schemas.openxmlformats.org/officeDocument/2006/relationships/notesSlide" Target="/ppt/notesSlides/notesSlide5.xml" Id="R2d79dcfa4f7843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c990f3d8b4831" /><Relationship Type="http://schemas.openxmlformats.org/officeDocument/2006/relationships/image" Target="/ppt/media/image2.jpeg" Id="R33fbaa48de924abf" /><Relationship Type="http://schemas.openxmlformats.org/officeDocument/2006/relationships/notesSlide" Target="/ppt/notesSlides/notesSlide6.xml" Id="Re27272dc6aea42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c1df24aa1471e" /><Relationship Type="http://schemas.openxmlformats.org/officeDocument/2006/relationships/notesSlide" Target="/ppt/notesSlides/notesSlide7.xml" Id="R3abef2f17da446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ab0e1f57b4554" /><Relationship Type="http://schemas.openxmlformats.org/officeDocument/2006/relationships/notesSlide" Target="/ppt/notesSlides/notesSlide8.xml" Id="R8c7df856a97147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9166deb164c50" /><Relationship Type="http://schemas.openxmlformats.org/officeDocument/2006/relationships/notesSlide" Target="/ppt/notesSlides/notesSlide9.xml" Id="R33667d8737bb4b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b9131d29c4fe2" /><Relationship Type="http://schemas.openxmlformats.org/officeDocument/2006/relationships/notesSlide" Target="/ppt/notesSlides/notesSlide10.xml" Id="R7cbaa8567f7942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9e9ad01964fc5" /><Relationship Type="http://schemas.openxmlformats.org/officeDocument/2006/relationships/notesSlide" Target="/ppt/notesSlides/notesSlide11.xml" Id="Rb40ad7a79e0540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4111c5f5a45d9" /><Relationship Type="http://schemas.openxmlformats.org/officeDocument/2006/relationships/notesSlide" Target="/ppt/notesSlides/notesSlide12.xml" Id="R886b8136994c45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E99CC-1FB0-4DA5-97FB-2AAC48CA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71D4C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71D4C3"/>
                </a:solidFill>
                <a:latin typeface="Avenir Next"/>
                <a:ea typeface="Avenir Next"/>
                <a:cs typeface="Avenir Next"/>
              </a:rPr>
              <a:t>PHYSICIAN AI ENGINEER TAKE-HOME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E4A66-59FC-4F02-B495-06437C8A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001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safer front door</a:t>
            </a:r>
          </a:p>
          <a:p xmlns:a="http://schemas.openxmlformats.org/drawingml/2006/main">
            <a:pPr>
              <a:def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for asynchronous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E0FEE-EA26-4D05-A2E2-976EF4C7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BDD7D2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BDD7D2"/>
                </a:solidFill>
                <a:latin typeface="Avenir Next"/>
                <a:ea typeface="Avenir Next"/>
                <a:cs typeface="Avenir Next"/>
              </a:rPr>
              <a:t>One clinician. 50 synthetic cases. One accountable V0.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39AA-A34B-4541-8478-BE3317C6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7DDB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7DDBD"/>
                </a:solidFill>
                <a:latin typeface="Avenir Next"/>
                <a:ea typeface="Avenir Next"/>
                <a:cs typeface="Avenir Next"/>
              </a:rPr>
              <a:t>The result is an auditable handoff system, not a clinical 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869981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BAC47-BFE3-44D2-9E17-62B59544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CURRENT-STATE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4776F-43F4-40FD-A2AC-A1FAAAA6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data changed the product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C256E-01CC-4A1C-B143-AC326024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6791D-BA84-439D-8119-9F7C08A7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83548-2696-40FF-8053-03513C38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rows delivered</a:t>
            </a:r>
          </a:p>
          <a:p xmlns:a="http://schemas.openxmlformats.org/drawingml/2006/main">
            <a:pPr>
              <a:def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in the 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F6BA3-8B36-4F0D-9CA3-BC2C559F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714F7-1F27-48B1-923B-EE71732A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527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supplied-label</a:t>
            </a:r>
          </a:p>
          <a:p xmlns:a="http://schemas.openxmlformats.org/drawingml/2006/main">
            <a:pPr>
              <a:def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disagreements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CBB2D-1C0B-4783-97E3-946E29AC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764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5F5A5-1DC7-4D90-A28F-DA06AD6C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527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possible urgent</a:t>
            </a:r>
          </a:p>
          <a:p xmlns:a="http://schemas.openxmlformats.org/drawingml/2006/main">
            <a:pPr>
              <a:def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misses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19150" y="3638550"/>
          <a:ext xmlns:a="http://schemas.openxmlformats.org/drawingml/2006/main" cx="104584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333500"/>
                <a:gridCol w="6172200"/>
              </a:tblGrid>
              <a:tr h="495300">
                <a:tc>
                  <a:txBody>
                    <a:bodyPr/>
                    <a:lstStyle/>
                    <a:p>
                      <a:r>
                        <a:t>Clinician finding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Possible urgent under-triage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Thunderclap headache, TIA, cauda equina, GI bleed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Possible urgent over-triage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refills, localized contact dermatitis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47475-DC1A-454B-B440-6BF48CDD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All 50 received a single-clinician development review. None is presented as consensus gold.</a:t>
            </a:r>
          </a:p>
        </p:txBody>
      </p:sp>
    </p:spTree>
    <p:extLst>
      <p:ext uri="{BB962C8B-B14F-4D97-AF65-F5344CB8AC3E}">
        <p14:creationId xmlns:p14="http://schemas.microsoft.com/office/powerpoint/2010/main" val="1681468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7EAF0-26C0-4179-9388-EC2D55BD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CLINICAL REASONING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B0335-E39A-404F-A176-953EEBB8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Case C08 exposes the failure that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C5B45-CB5C-4BE7-8FE3-7EE41E69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15024-F842-44D2-BDA8-A9FA6BAF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572250" cy="20383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CCD6D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4E7F4-9510-4EED-A555-2BAB2E8F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240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PATIENT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A0E95-89D7-48B6-BB22-7794050B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“Worst headache of my life” with sudden thunderclap onset and neck stiffness.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DF51A-D821-4D8F-8C22-3E65485E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85900"/>
            <a:ext cx="3905250" cy="20383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B83A2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073E1-80C0-4476-99AC-82C7D182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240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SUPPLIED ROUTE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4E9B2-8061-449F-BA05-D46153F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431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ASYNC PHYSICIAN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DB81C-E816-41BB-A970-DD29E076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Potential harm: delayed evaluation for subarachnoid hemorrhage.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85800" y="3895725"/>
          <a:ext xmlns:a="http://schemas.openxmlformats.org/drawingml/2006/main" cx="10820400" cy="145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676650"/>
                <a:gridCol w="4572000"/>
              </a:tblGrid>
              <a:tr h="485775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Observed 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</a:t>
                      </a:r>
                    </a:p>
                  </a:txBody>
                  <a:tcPr marL="91440" marR="91440" marT="45720" marB="45720"/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Clinician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ESCALATION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SAH must be excluded now</a:t>
                      </a:r>
                    </a:p>
                  </a:txBody>
                  <a:tcPr marL="91440" marR="91440" marT="45720" marB="45720"/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V0 hard 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ESCALATION, locked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thunderclap_or_sah signal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9B85B-2845-4E64-81B2-EB15C317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A safety component earns its place by catching a named harm mechanism.</a:t>
            </a:r>
          </a:p>
        </p:txBody>
      </p:sp>
    </p:spTree>
    <p:extLst>
      <p:ext uri="{BB962C8B-B14F-4D97-AF65-F5344CB8AC3E}">
        <p14:creationId xmlns:p14="http://schemas.microsoft.com/office/powerpoint/2010/main" val="638835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CE7C6-0B1B-4230-AE93-81E42AD3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V0 PRODUCT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7A686-81F1-496C-856E-7A81817D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Each route has an owner and an observable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500D4-EA3D-45DF-88A3-A0CDCE8F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257550"/>
                <a:gridCol w="2333625"/>
                <a:gridCol w="2752725"/>
              </a:tblGrid>
              <a:tr h="785813">
                <a:tc>
                  <a:txBody>
                    <a:bodyPr/>
                    <a:lstStyle/>
                    <a:p>
                      <a:r>
                        <a:t>Route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Operational meaning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Accountable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V0 action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URGENT ESCALATION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May not safely wait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ops and clinician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Lock route and directive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ASYNC PHYSICIAN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Clinical judgment needed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Licensed clinician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Queue for review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SELF CARE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Named low-risk pattern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Approved content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Route only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3DB41-2ABF-4BB7-B818-E760B923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9525">
            <a:solidFill>
              <a:srgbClr val="B83A2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74318-95D5-4858-8C8B-4EA3A5F7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Excluded from V0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6F44D-A46A-4FA1-8D89-075D0729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91125"/>
            <a:ext cx="786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Diagnosis, prescribing, orders, chart writes, patient messages, and autonomous dispatch.</a:t>
            </a:r>
          </a:p>
        </p:txBody>
      </p:sp>
    </p:spTree>
    <p:extLst>
      <p:ext uri="{BB962C8B-B14F-4D97-AF65-F5344CB8AC3E}">
        <p14:creationId xmlns:p14="http://schemas.microsoft.com/office/powerpoint/2010/main" val="963839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31EC1-9BEA-4047-9180-DF07B5D2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EXECUTABLE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E3CF1-D18C-4339-88A9-69F335C9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Mastra makes the safety topology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D404C-4D6D-4A67-9E18-0A7AF97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44936a33e4c3e"/>
          <a:stretch xmlns:a="http://schemas.openxmlformats.org/drawingml/2006/main"/>
        </p:blipFill>
        <p:spPr>
          <a:xfrm xmlns:a="http://schemas.openxmlformats.org/drawingml/2006/main">
            <a:off x="1735667" y="1295400"/>
            <a:ext cx="8720667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950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6F7D6-8987-433B-AB30-8589364A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READ-ONLY EVALUATION WORKBENCH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1F8C2-3978-4D83-98BC-1952E055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Clinicians can challenge every case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D95A7-6231-47A7-8375-6E30EF23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baa48de924abf"/>
          <a:stretch xmlns:a="http://schemas.openxmlformats.org/drawingml/2006/main"/>
        </p:blipFill>
        <p:spPr>
          <a:xfrm xmlns:a="http://schemas.openxmlformats.org/drawingml/2006/main">
            <a:off x="2391833" y="1333500"/>
            <a:ext cx="7408333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09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EDF44-9834-4BEB-9B07-45BB9379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CLAIMS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F030A-F255-4CE1-B193-3F681582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evidence boundary stays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85D42-2692-4830-BDC0-68A5385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466850"/>
          <a:ext xmlns:a="http://schemas.openxmlformats.org/drawingml/2006/main" cx="108585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1952625"/>
                <a:gridCol w="5143500"/>
              </a:tblGrid>
              <a:tr h="606425">
                <a:tc>
                  <a:txBody>
                    <a:bodyPr/>
                    <a:lstStyle/>
                    <a:p>
                      <a:r>
                        <a:t>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Observed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Permitted interpretation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Single-clinician case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50 of 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Complete take-home development target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Supplied-label agreement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38 of 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Audit signal on this synthetic slice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Possible urgent misses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 cases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Named failures requiring investigation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V0 development replay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50 of 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Code fits its authored specification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Untouched representative holdout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Clinical performance remains unestimated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3EAC6-E0A1-41AD-ACDE-08D62956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Perfect replay is expected in development. It is not evidence of perfect medicine.</a:t>
            </a:r>
          </a:p>
        </p:txBody>
      </p:sp>
    </p:spTree>
    <p:extLst>
      <p:ext uri="{BB962C8B-B14F-4D97-AF65-F5344CB8AC3E}">
        <p14:creationId xmlns:p14="http://schemas.microsoft.com/office/powerpoint/2010/main" val="1515556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59C5E-5375-4AD1-889D-E39C6BBD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TEST AND RED-TEAM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43E6E-DE53-405B-8A32-994C1E32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Verification follows the risk, not the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55A20-6F81-4A95-AAC5-B8ED37DC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1428750"/>
          <a:ext xmlns:a="http://schemas.openxmlformats.org/drawingml/2006/main" cx="109347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572000"/>
                <a:gridCol w="4029075"/>
              </a:tblGrid>
              <a:tr h="571500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Executable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Failure it exposes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Contracts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Schema, determinism, postconditions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Malformed and unstable outputs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Clinical regression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50 reviewed cases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Known route failures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Adversarial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Negation, mixed intent, Unicode, injection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Bypass and parsing failures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Fault injection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Model, tool, schema, trace failures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Unsafe fail-open behavior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Mastra graph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Parallelism, gate order, full trajectory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Framework integration drift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Computer 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Studio graph and web workbench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Rendered topology and UI defects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88E62-6B30-4532-9FC3-68FA6D9A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Clinical claims require a separate study. Software claims must remain continuously executable.</a:t>
            </a:r>
          </a:p>
        </p:txBody>
      </p:sp>
    </p:spTree>
    <p:extLst>
      <p:ext uri="{BB962C8B-B14F-4D97-AF65-F5344CB8AC3E}">
        <p14:creationId xmlns:p14="http://schemas.microsoft.com/office/powerpoint/2010/main" val="1236637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6AEE4-1967-4440-8B91-A07C0CCB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MECHANISM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A857C-37CA-4F63-AB11-72DFA0F2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Ablation separates safety from utility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682FA-AA23-4D53-B625-6A98689B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90550" y="1466850"/>
          <a:ext xmlns:a="http://schemas.openxmlformats.org/drawingml/2006/main" cx="110109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00250"/>
                <a:gridCol w="1809750"/>
                <a:gridCol w="2000250"/>
                <a:gridCol w="2152650"/>
              </a:tblGrid>
              <a:tr h="581025">
                <a:tc>
                  <a:txBody>
                    <a:bodyPr/>
                    <a:lstStyle/>
                    <a:p>
                      <a:r>
                        <a:t>Development variant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misses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recall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Escalation 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Interpretation</a:t>
                      </a:r>
                    </a:p>
                  </a:txBody>
                  <a:tcPr marL="91440" marR="91440" marT="45720" marB="45720"/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Full V0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 of 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Fits authored set</a:t>
                      </a:r>
                    </a:p>
                  </a:txBody>
                  <a:tcPr marL="91440" marR="91440" marT="45720" marB="45720"/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 emergency 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 of 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Safety collapses</a:t>
                      </a:r>
                    </a:p>
                  </a:txBody>
                  <a:tcPr marL="91440" marR="91440" marT="45720" marB="45720"/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Retrieval unavailable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 of 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Fails closed</a:t>
                      </a:r>
                    </a:p>
                  </a:txBody>
                  <a:tcPr marL="91440" marR="91440" marT="45720" marB="45720"/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Always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 of 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routing utility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21B1C-7AB4-4C49-92EE-C8C708C2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B76A1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2A11C-E656-447E-8969-381E70C7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B76A1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76A12"/>
                </a:solidFill>
                <a:latin typeface="Avenir Next"/>
                <a:ea typeface="Avenir Next"/>
                <a:cs typeface="Avenir Next"/>
              </a:rPr>
              <a:t>Inversion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FAA9C-C8C7-410A-A863-0C78AE4E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53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Urgent recall alone rewards the useless always-urgent policy. Safety and capacity must be measured together.</a:t>
            </a:r>
          </a:p>
        </p:txBody>
      </p:sp>
    </p:spTree>
    <p:extLst>
      <p:ext uri="{BB962C8B-B14F-4D97-AF65-F5344CB8AC3E}">
        <p14:creationId xmlns:p14="http://schemas.microsoft.com/office/powerpoint/2010/main" val="10309425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E95A2-533A-475E-AA33-53D327F3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CLINICAL QUALITY AT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9DD88-E38B-4B08-B74D-664943CD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At scale, automate coverage and sample judgment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970AF-C41C-400F-81A9-82BD479B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0800"/>
                <a:gridCol w="5162550"/>
                <a:gridCol w="3257550"/>
              </a:tblGrid>
              <a:tr h="631825">
                <a:tc>
                  <a:txBody>
                    <a:bodyPr/>
                    <a:lstStyle/>
                    <a:p>
                      <a:r>
                        <a:t>Stream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Selection rule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 marL="91440" marR="91440" marT="45720" marB="45720"/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Automated coverage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Safety rules and validated rubric judges on every thread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Signals and audit trail</a:t>
                      </a:r>
                    </a:p>
                  </a:txBody>
                  <a:tcPr marL="91440" marR="91440" marT="45720" marB="45720"/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Incident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Every severe near miss and safety event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Root cause and correction</a:t>
                      </a:r>
                    </a:p>
                  </a:txBody>
                  <a:tcPr marL="91440" marR="91440" marT="45720" marB="45720"/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Estimation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Risk-stratified probability sample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Weighted metrics and intervals</a:t>
                      </a:r>
                    </a:p>
                  </a:txBody>
                  <a:tcPr marL="91440" marR="91440" marT="45720" marB="45720"/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Discovery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Disagreement, uncertainty, novelty, drift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New failure modes</a:t>
                      </a:r>
                    </a:p>
                  </a:txBody>
                  <a:tcPr marL="91440" marR="91440" marT="45720" marB="45720"/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Regression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Frozen sentinels and resolved failures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Every-release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919FE-89C5-4588-9F29-CD537CC7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Use multiple clinicians to calibrate the instrument and resolve high-stakes ambiguity, not to label every case.</a:t>
            </a:r>
          </a:p>
        </p:txBody>
      </p:sp>
    </p:spTree>
    <p:extLst>
      <p:ext uri="{BB962C8B-B14F-4D97-AF65-F5344CB8AC3E}">
        <p14:creationId xmlns:p14="http://schemas.microsoft.com/office/powerpoint/2010/main" val="17788913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0DA97-B38B-4CA5-8B17-09D5B9A2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STACK JUDGMENT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3EED7-04C8-4B3F-8301-1FD51A7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Every technology decision has an admission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4313F-15DC-400C-AB01-F0E59812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14350" y="1390650"/>
          <a:ext xmlns:a="http://schemas.openxmlformats.org/drawingml/2006/main" cx="111633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286000"/>
                <a:gridCol w="3429000"/>
                <a:gridCol w="3448050"/>
              </a:tblGrid>
              <a:tr h="650875">
                <a:tc>
                  <a:txBody>
                    <a:bodyPr/>
                    <a:lstStyle/>
                    <a:p>
                      <a:r>
                        <a:t>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Admission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Mastra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Typed graph and trace verification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Workflow is the product surface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RAG and vectors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Exact source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Better recall and citation fidelity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Tiny reviewed corpus needs no vector index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Model bakeoff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Protocol frozen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Better handoff with no safety regression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GPT and Claude compare downstream only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Tailwind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Responsive review workflow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Fast, inspectable clinician UX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Kubernetes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Defer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Load, isolation, and ops need justify 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Deployment theater adds no take-home evidence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AFD40-1404-4B32-B77F-E9E4CD07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Proposed bakeoff budget: under $10 pilot, $100 hard maximum. No external spend has occurred.</a:t>
            </a:r>
          </a:p>
        </p:txBody>
      </p:sp>
    </p:spTree>
    <p:extLst>
      <p:ext uri="{BB962C8B-B14F-4D97-AF65-F5344CB8AC3E}">
        <p14:creationId xmlns:p14="http://schemas.microsoft.com/office/powerpoint/2010/main" val="4152109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B7110-FB96-49D5-A109-2FBA68B3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22D9C-EF69-4C1B-9181-CB913729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next milestone is evidence from unseen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47B35-061A-496E-8943-32520506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962400"/>
                <a:gridCol w="4286250"/>
              </a:tblGrid>
              <a:tr h="640080"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Next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Decision it enables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Freeze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Holdout protocol and labeling manual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Prevent development leakage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Retrospective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Patient-independent representative sample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Estimate safety and utility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Shadow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Completed handoff, overrides, latency, drift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Validate operations and human factors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Controlled release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Governance, monitoring, rollback drills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Approve a narrow intended use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F9243-D880-4118-BEE9-51A5E607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9D4EE-9CCF-42D5-AE53-935B5585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904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Keep V0 in a synthetic or shadow sandbox. Use it to test whether safer routing creates a faster completed handoff.</a:t>
            </a:r>
          </a:p>
        </p:txBody>
      </p:sp>
    </p:spTree>
    <p:extLst>
      <p:ext uri="{BB962C8B-B14F-4D97-AF65-F5344CB8AC3E}">
        <p14:creationId xmlns:p14="http://schemas.microsoft.com/office/powerpoint/2010/main" val="748734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2026-09-06T14:09:40.1100000Z</dcterms:created>
  <dcterms:modified xsi:type="dcterms:W3CDTF">2026-09-06T14:09:40.1100000Z</dcterms:modified>
</coreProperties>
</file>
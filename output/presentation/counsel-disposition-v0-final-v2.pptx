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f2743974524e3b" /><Relationship Type="http://schemas.openxmlformats.org/officeDocument/2006/relationships/extended-properties" Target="/docProps/app.xml" Id="Rdabb0ba1c9144855" /><Relationship Type="http://schemas.openxmlformats.org/officeDocument/2006/relationships/officeDocument" Target="/ppt/presentation.xml" Id="R28ce8fe2a865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28c989d7b04046"/>
  </p:sldMasterIdLst>
  <p:notesMasterIdLst>
    <p:notesMasterId xmlns:r="http://schemas.openxmlformats.org/officeDocument/2006/relationships" r:id="Rd3488dcd7f014f99"/>
  </p:notesMasterIdLst>
  <p:sldIdLst>
    <p:sldId xmlns:r="http://schemas.openxmlformats.org/officeDocument/2006/relationships" id="256" r:id="Rf65c1fa563a24fb7"/>
    <p:sldId xmlns:r="http://schemas.openxmlformats.org/officeDocument/2006/relationships" id="257" r:id="R6babb2b96352404c"/>
    <p:sldId xmlns:r="http://schemas.openxmlformats.org/officeDocument/2006/relationships" id="258" r:id="R8cb5196f122e4467"/>
    <p:sldId xmlns:r="http://schemas.openxmlformats.org/officeDocument/2006/relationships" id="259" r:id="R08942932ac384d2e"/>
    <p:sldId xmlns:r="http://schemas.openxmlformats.org/officeDocument/2006/relationships" id="260" r:id="Rdaa358f3381e432c"/>
    <p:sldId xmlns:r="http://schemas.openxmlformats.org/officeDocument/2006/relationships" id="261" r:id="R4b4de42a7cb342c6"/>
    <p:sldId xmlns:r="http://schemas.openxmlformats.org/officeDocument/2006/relationships" id="262" r:id="R3051704ab724477a"/>
    <p:sldId xmlns:r="http://schemas.openxmlformats.org/officeDocument/2006/relationships" id="263" r:id="Rdaffe72fde9f4496"/>
    <p:sldId xmlns:r="http://schemas.openxmlformats.org/officeDocument/2006/relationships" id="264" r:id="Ra85d5e954a9f4b03"/>
    <p:sldId xmlns:r="http://schemas.openxmlformats.org/officeDocument/2006/relationships" id="265" r:id="Rae287c2c9432416c"/>
    <p:sldId xmlns:r="http://schemas.openxmlformats.org/officeDocument/2006/relationships" id="266" r:id="R747ef05126f2411d"/>
    <p:sldId xmlns:r="http://schemas.openxmlformats.org/officeDocument/2006/relationships" id="267" r:id="R4dba152be0ed45a3"/>
    <p:sldId xmlns:r="http://schemas.openxmlformats.org/officeDocument/2006/relationships" id="268" r:id="Rd79afb2323424b46"/>
    <p:sldId xmlns:r="http://schemas.openxmlformats.org/officeDocument/2006/relationships" id="269" r:id="Rf11605ee337c43d8"/>
    <p:sldId xmlns:r="http://schemas.openxmlformats.org/officeDocument/2006/relationships" id="270" r:id="R0d0412c0200941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c3c12e39f24f84" /><Relationship Type="http://schemas.openxmlformats.org/officeDocument/2006/relationships/slideMaster" Target="/ppt/slideMasters/slideMaster1.xml" Id="R4f28c989d7b04046" /><Relationship Type="http://schemas.openxmlformats.org/officeDocument/2006/relationships/notesMaster" Target="/ppt/notesMasters/notesMaster1.xml" Id="Rd3488dcd7f014f99" /><Relationship Type="http://schemas.openxmlformats.org/officeDocument/2006/relationships/presProps" Target="/ppt/presProps.xml" Id="R81bfb179c8e04e33" /><Relationship Type="http://schemas.openxmlformats.org/officeDocument/2006/relationships/tableStyles" Target="/ppt/tableStyles.xml" Id="R144832fa363a4daa" /><Relationship Type="http://schemas.openxmlformats.org/officeDocument/2006/relationships/slide" Target="/ppt/slides/slide1.xml" Id="Rf65c1fa563a24fb7" /><Relationship Type="http://schemas.openxmlformats.org/officeDocument/2006/relationships/slide" Target="/ppt/slides/slide2.xml" Id="R6babb2b96352404c" /><Relationship Type="http://schemas.openxmlformats.org/officeDocument/2006/relationships/slide" Target="/ppt/slides/slide3.xml" Id="R8cb5196f122e4467" /><Relationship Type="http://schemas.openxmlformats.org/officeDocument/2006/relationships/slide" Target="/ppt/slides/slide4.xml" Id="R08942932ac384d2e" /><Relationship Type="http://schemas.openxmlformats.org/officeDocument/2006/relationships/slide" Target="/ppt/slides/slide5.xml" Id="Rdaa358f3381e432c" /><Relationship Type="http://schemas.openxmlformats.org/officeDocument/2006/relationships/slide" Target="/ppt/slides/slide6.xml" Id="R4b4de42a7cb342c6" /><Relationship Type="http://schemas.openxmlformats.org/officeDocument/2006/relationships/slide" Target="/ppt/slides/slide7.xml" Id="R3051704ab724477a" /><Relationship Type="http://schemas.openxmlformats.org/officeDocument/2006/relationships/slide" Target="/ppt/slides/slide8.xml" Id="Rdaffe72fde9f4496" /><Relationship Type="http://schemas.openxmlformats.org/officeDocument/2006/relationships/slide" Target="/ppt/slides/slide9.xml" Id="Ra85d5e954a9f4b03" /><Relationship Type="http://schemas.openxmlformats.org/officeDocument/2006/relationships/slide" Target="/ppt/slides/slide10.xml" Id="Rae287c2c9432416c" /><Relationship Type="http://schemas.openxmlformats.org/officeDocument/2006/relationships/slide" Target="/ppt/slides/slide11.xml" Id="R747ef05126f2411d" /><Relationship Type="http://schemas.openxmlformats.org/officeDocument/2006/relationships/slide" Target="/ppt/slides/slide12.xml" Id="R4dba152be0ed45a3" /><Relationship Type="http://schemas.openxmlformats.org/officeDocument/2006/relationships/slide" Target="/ppt/slides/slide13.xml" Id="Rd79afb2323424b46" /><Relationship Type="http://schemas.openxmlformats.org/officeDocument/2006/relationships/slide" Target="/ppt/slides/slide14.xml" Id="Rf11605ee337c43d8" /><Relationship Type="http://schemas.openxmlformats.org/officeDocument/2006/relationships/slide" Target="/ppt/slides/slide15.xml" Id="R0d0412c02009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df7924b9f24d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42f2cba28c48c5" /><Relationship Type="http://schemas.openxmlformats.org/officeDocument/2006/relationships/notesMaster" Target="/ppt/notesMasters/notesMaster1.xml" Id="Ra10b0bef862945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da69ea10147a4" /><Relationship Type="http://schemas.openxmlformats.org/officeDocument/2006/relationships/notesMaster" Target="/ppt/notesMasters/notesMaster1.xml" Id="Rd35d8be4311546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5e3e525b514fc6" /><Relationship Type="http://schemas.openxmlformats.org/officeDocument/2006/relationships/notesMaster" Target="/ppt/notesMasters/notesMaster1.xml" Id="R1304401c73aa4c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3ce7c32d68426d" /><Relationship Type="http://schemas.openxmlformats.org/officeDocument/2006/relationships/notesMaster" Target="/ppt/notesMasters/notesMaster1.xml" Id="R71f2f76ddbca46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72995067524037" /><Relationship Type="http://schemas.openxmlformats.org/officeDocument/2006/relationships/notesMaster" Target="/ppt/notesMasters/notesMaster1.xml" Id="R60b383010e6843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0fe2cd5cb54207" /><Relationship Type="http://schemas.openxmlformats.org/officeDocument/2006/relationships/notesMaster" Target="/ppt/notesMasters/notesMaster1.xml" Id="Rdfde859fac3845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631263a21d47cd" /><Relationship Type="http://schemas.openxmlformats.org/officeDocument/2006/relationships/notesMaster" Target="/ppt/notesMasters/notesMaster1.xml" Id="Ra9990cc18aaf47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8dafc41134413d" /><Relationship Type="http://schemas.openxmlformats.org/officeDocument/2006/relationships/notesMaster" Target="/ppt/notesMasters/notesMaster1.xml" Id="Rb60403a0c63e41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4d503d969a450b" /><Relationship Type="http://schemas.openxmlformats.org/officeDocument/2006/relationships/notesMaster" Target="/ppt/notesMasters/notesMaster1.xml" Id="Rff34b6f74cc440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8bd7dc116a4d52" /><Relationship Type="http://schemas.openxmlformats.org/officeDocument/2006/relationships/notesMaster" Target="/ppt/notesMasters/notesMaster1.xml" Id="R3b80df82809646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6580b515d24b77" /><Relationship Type="http://schemas.openxmlformats.org/officeDocument/2006/relationships/notesMaster" Target="/ppt/notesMasters/notesMaster1.xml" Id="R44614941384649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37258f3aeb4af9" /><Relationship Type="http://schemas.openxmlformats.org/officeDocument/2006/relationships/notesMaster" Target="/ppt/notesMasters/notesMaster1.xml" Id="Re586096ef1144e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3ab6bc075a41de" /><Relationship Type="http://schemas.openxmlformats.org/officeDocument/2006/relationships/notesMaster" Target="/ppt/notesMasters/notesMaster1.xml" Id="R865016e6557349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50c953006c47e6" /><Relationship Type="http://schemas.openxmlformats.org/officeDocument/2006/relationships/notesMaster" Target="/ppt/notesMasters/notesMaster1.xml" Id="Rea55fbc03dc44c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79976aa6ed43ff" /><Relationship Type="http://schemas.openxmlformats.org/officeDocument/2006/relationships/notesMaster" Target="/ppt/notesMasters/notesMaster1.xml" Id="R2e12d8f9e2ac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decision: this is a narrow, auditable routing workflow, not an AI doctor and not a clinical performance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goal is to improve the care handoff: the right message reaches the right accountable person at the right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Counsel Physician AI Engineer Take-Home Project 8.7.26 (supplied PDF).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brief says 20 messages. The delivered CSV has 50, so I kept and evaluated all 50 rather than silently choosing a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performed a case-by-case safety review and found 12 disagreements: eight possible under-triage errors and four possible over-triage errors. These are hypotheses for clinician adjudication, not new truth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rules were written with the full slice visible. That is useful for regression testing and invalid for a generalization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PDF and CSV. CSV SHA-256: d17771ed706c6866d2b13f2d7f5344824acf51aaf281b8af6368637586d71a15.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 (current public product describes support for adults 18+; the supplied data includes pediatric rows).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route is not a diagnosis. Each label must map to a time window, an accountable owner, and an observable operational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SELF_CARE does not mean an unreviewed generative message goes to a patient. In V0, it is only a routing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Unknown inputs go to a clinician. A safety-system failure goes to urgent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take-home PDF; implementation contract in README.md and docs/TAKE_HOME_ACCOUNTING.md.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real registered workflow in Mastra Studio, not a conceptual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red-flag checklist and intent/history step run in parallel. The hard escalation gate executes before residual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emergency branch shares no mutable state with the intent branch. Downstream routing is structurally unable to downgrade a locked urgent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screenshot from the synthetic V0; src/mastra/workflows/disposition-workflow.ts.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 (Counsel describes parallel supervisor agents running alongside core patient-history agents).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live-demo backup if Studio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C08, verify disposition URGENT_ESCALATION, subtype ed_911, locked true, overrideBlocked true, origin hard_gate, and thunderclap_or_sah in the red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run the mixed-intent attack: a refill request plus crushing chest pain. The emergency result must dominate.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screenshot using the supplied synthetic C08 message.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evaluation uses an asymmetric harm cost: urgent to self-care costs 25; urgent to async costs 20; over-triage costs less.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Wilson intervals quantify sampling uncertainty conditional on the provisional labels. They do not fix label uncertainty or development leakage.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Always urgent has lower cost than the supplied labels despite 44% accuracy. This exposes a Goodhart failure in the single cost metric. Release thresholds must jointly constrain recall, precision, workload, and completed escalation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outputs/metrics.json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evidence boundary explicit before anyone asks. This is a verified software artifact and a clinically unvalidated reference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Karan Singhal's Med-PaLM work is relevant here: automated benchmark scores are not sufficient; clinical quality needs human review of factuality, reasoning, possible harm, and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https://research.google/pubs/large-language-models-encode-clinical-knowledge/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https://research.google/pubs/a-toolbox-for-surfacing-health-equity-harms-and-biases-in-large-language-models/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suite includes mutation attempts against the router, branch fault injection, privacy canaries, actual Mastra parity, and a production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Boris Cherny's public engineering guidance emphasizes explicit targets, test-run-iterate loops, and visual verification. Anthropic's property-based testing work motivates asserting invariants and searching for counterexamples rather than accumulating only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https://www.anthropic.com/engineering/claude-code-best-practices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https://www.anthropic.com/research/property-based-testing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repository tests/, scripts/red-team.mjs, and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Computer use is useful now for the Studio graph and trace UI. It is not a substitute for API-level assertions.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multi-turn successor, use Mastra multi-turn evals across the entire conversation. Use binary gates for deterministic actions and LLM judges only for subjective communication quality, calibrated against clinician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Durable suspend/resume would require an approved encrypted or tokenized store. The current V0 intentionally disables durable raw workflow snapshots.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https://mastra.ai/blog/introducing-multi-turn-evals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https://mastra.ai/blog/hitl-where-to-put-approval-in-agents-and-workflows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https://mastra.ai/blog/introducing-fine-grained-authorization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https://mastra.ai/blog/introducing-gates-and-verdicts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clinical measure is not a displayed label. It is whether the urgent handoff is recognized and completed within the intended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Pre-specify thresholds, subgroup minimums, missing-data policy, and stopping rules before opening the holdout.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public governance writing similarly emphasizes hard stops, mandatory physician escalation, auditability, and lifecycle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https://www.fda.gov/medical-devices/software-medical-device-samd/good-machine-learning-practice-medical-device-development-guiding-principles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zoom-out: routing is only the first control point in a supervised care pathway.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Mastra case study describes patient history agents, parallel emergency supervisors, custom RAG over guidelines and records, and a physician cockpit.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published g-AMIE study describes history gathering and clinician-facing drafts with physician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https://research.google/blog/enabling-physician-centered-oversight-for-amie/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https://www.counselhealth.com/blog/rag-ai-framework-enhancing-patient-care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decision, not a feature roadmap. The V0 is worth continuing because it exposes the right system boundaries and can be tested rigorously.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next unit of evidence is not another prompt. It is an adjudicated protocol and untouched holdout, followed by human-factors and shadow-mode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longer-term health mission is credible only if the system measurably expands safe access for underserved patients without hiding uncertainty or shifting risk to clinicians.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docs/TAKE_HOME_ACCOUNTING.md and docs/VALIDATION_PLAN.md.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reviewer hypotheses. A blinded multi-clinician study must decide the intended route and timing for the actual Counsel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guidance supports prioritizing review of transient stroke symptoms, acute thunderclap headache, and possible cauda equina syndrome.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data/gold_standard.csv and data/REFERENCE_STANDARD.md.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https://newsroom.heart.org/news/stroke-symptoms-even-if-they-disappear-within-an-hour-need-emergency-assessment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https://www.acep.org/siteassets/sites/acep/media/clinical-policies/cp-headache.pdf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https://www.nice.org.uk/guidance/ng127/chapter/Recommendations-for-adults-aged-over-16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always-urgent baseline makes this tradeoff visible. It achieves perfect urgent recall and only 44% accuracy, with a lower weighted cost than the supplied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is why clinical utility needs capacity and workload constraints in addition to a safety-weighted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data/gold_standard.csv, outputs/metrics.json,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 and Mastra: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mission: https://www.counselhealth.com/about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governance: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clinical QA: https://www.counselhealth.com/blog/scaling-clinical-quality-assurance-with-ai-judges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RAG: https://www.counselhealth.com/blog/rag-ai-framework-enhancing-patient-care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g-AMIE: https://research.google/blog/enabling-physician-centered-oversight-for-amie/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Med-PaLM: https://research.google/pubs/large-language-models-encode-clinical-knowledge/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health-equity toolbox: https://research.google/pubs/a-toolbox-for-surfacing-health-equity-harms-and-biases-in-large-language-models/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best practices: https://www.anthropic.com/engineering/claude-code-best-practices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property testing: https://www.anthropic.com/research/property-based-testing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eval gates: https://mastra.ai/blog/introducing-gates-and-verdicts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multi-turn evals: https://mastra.ai/blog/introducing-multi-turn-evals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HITL: https://mastra.ai/blog/hitl-where-to-put-approval-in-agents-and-workflows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FGA: https://mastra.ai/blog/introducing-fine-grained-authorization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FDA GMLP: https://www.fda.gov/medical-devices/software-medical-device-samd/good-machine-learning-practice-medical-device-development-guiding-principles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FDA CDS: https://www.fda.gov/regulatory-information/search-fda-guidance-documents/clinical-decision-support-software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RMF GenAI Profile: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e5d1cdfd74c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5c48a9cc4644fa" /><Relationship Type="http://schemas.openxmlformats.org/officeDocument/2006/relationships/slideLayout" Target="/ppt/slideLayouts/slideLayout1.xml" Id="Ra76939c61dce47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939c61dce47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fad970e4d4cfd" /><Relationship Type="http://schemas.openxmlformats.org/officeDocument/2006/relationships/notesSlide" Target="/ppt/notesSlides/notesSlide1.xml" Id="R54cc3dbe08c648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ff8ed07104e40" /><Relationship Type="http://schemas.openxmlformats.org/officeDocument/2006/relationships/notesSlide" Target="/ppt/notesSlides/notesSlide2.xml" Id="R66b89c5ff80b48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9961d4b3b4a54" /><Relationship Type="http://schemas.openxmlformats.org/officeDocument/2006/relationships/notesSlide" Target="/ppt/notesSlides/notesSlide3.xml" Id="R9ecc5575e2f44d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2fa76efb4432f" /><Relationship Type="http://schemas.openxmlformats.org/officeDocument/2006/relationships/image" Target="/ppt/media/image.jpeg" Id="Rabff904e5e694bc6" /><Relationship Type="http://schemas.openxmlformats.org/officeDocument/2006/relationships/notesSlide" Target="/ppt/notesSlides/notesSlide4.xml" Id="R7704c24c859a4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37d4187b0499a" /><Relationship Type="http://schemas.openxmlformats.org/officeDocument/2006/relationships/image" Target="/ppt/media/image2.jpeg" Id="Rd5d957fa868c4eaf" /><Relationship Type="http://schemas.openxmlformats.org/officeDocument/2006/relationships/notesSlide" Target="/ppt/notesSlides/notesSlide5.xml" Id="R68279d7c3d0749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53e03731a482d" /><Relationship Type="http://schemas.openxmlformats.org/officeDocument/2006/relationships/notesSlide" Target="/ppt/notesSlides/notesSlide6.xml" Id="Rb44b8b1601a94f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6cdefba1a46d2" /><Relationship Type="http://schemas.openxmlformats.org/officeDocument/2006/relationships/notesSlide" Target="/ppt/notesSlides/notesSlide7.xml" Id="Rd47e12ce4c834e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d669e85994164" /><Relationship Type="http://schemas.openxmlformats.org/officeDocument/2006/relationships/notesSlide" Target="/ppt/notesSlides/notesSlide8.xml" Id="R9de9fd3b900445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f6869ef0543db" /><Relationship Type="http://schemas.openxmlformats.org/officeDocument/2006/relationships/notesSlide" Target="/ppt/notesSlides/notesSlide9.xml" Id="Re82ba49c328540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41a4fdf7644c2" /><Relationship Type="http://schemas.openxmlformats.org/officeDocument/2006/relationships/notesSlide" Target="/ppt/notesSlides/notesSlide10.xml" Id="R1598339e3e8640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9c3a173414b1d" /><Relationship Type="http://schemas.openxmlformats.org/officeDocument/2006/relationships/notesSlide" Target="/ppt/notesSlides/notesSlide11.xml" Id="Rb17a5ffc18424c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6f4c119fb4662" /><Relationship Type="http://schemas.openxmlformats.org/officeDocument/2006/relationships/notesSlide" Target="/ppt/notesSlides/notesSlide12.xml" Id="R85b49244c0df4c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dc166dad7409c" /><Relationship Type="http://schemas.openxmlformats.org/officeDocument/2006/relationships/notesSlide" Target="/ppt/notesSlides/notesSlide13.xml" Id="Rc1ca2bf229644b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6d51e349241d7" /><Relationship Type="http://schemas.openxmlformats.org/officeDocument/2006/relationships/notesSlide" Target="/ppt/notesSlides/notesSlide14.xml" Id="R5002f5b989db45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ac5e6c5f046f9" /><Relationship Type="http://schemas.openxmlformats.org/officeDocument/2006/relationships/notesSlide" Target="/ppt/notesSlides/notesSlide15.xml" Id="Re2748505a6d94b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3DD4A-4C92-4849-AA4A-1D1D44FB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rPr>
              <a:t>PHYSICIAN AI ENGINEER 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A2790-59C2-44D7-B000-FB82F0A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safer front door</a:t>
            </a:r>
          </a:p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for asynchronous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6E642-BD66-4557-93CF-C2CF5E9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rPr>
              <a:t>Disposition V0  |  Mastra 1.64.0  |  50 synthetic messages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323E3-3B01-4139-A3C1-200E04F7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rPr>
              <a:t>Decision support only. No diagnosis, treatment, chart write, or autonomous dispatch.</a:t>
            </a:r>
          </a:p>
        </p:txBody>
      </p:sp>
    </p:spTree>
    <p:extLst>
      <p:ext uri="{BB962C8B-B14F-4D97-AF65-F5344CB8AC3E}">
        <p14:creationId xmlns:p14="http://schemas.microsoft.com/office/powerpoint/2010/main" val="81967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8D47A-EE42-4880-9EB8-ABA6C0FB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B527A-9CAA-4D9D-B8EB-45178E0B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first discovery was a data-quality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22F1C-6B31-4267-9B8C-9F488A50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76DA4-E331-4EC1-AFB6-2460AA6B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78D77-ED3C-47D9-82BC-3F699555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messages in the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B7BC1-538F-461E-8164-1AAD6B5E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FA8AF-F093-4151-8911-EE6E3F79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rows in the supplied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D9581-8883-4B71-BBB8-5F6E135B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A59A1-32E7-4EFA-920C-FFDB0DF4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label disagreements to adjudicate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19150" y="3810000"/>
          <a:ext xmlns:a="http://schemas.openxmlformats.org/drawingml/2006/main" cx="104584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333500"/>
                <a:gridCol w="6076950"/>
              </a:tblGrid>
              <a:tr h="476250">
                <a:tc>
                  <a:txBody>
                    <a:bodyPr/>
                    <a:lstStyle/>
                    <a:p>
                      <a:r>
                        <a:t>Review finding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missed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TIA, thunderclap headache, cauda equina, GI bleed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false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refills, localized dermatitis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1A564-3B85-422F-9DCC-CF7899F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Use all 50. Preserve the supplied labels. Call the new set provisional, not gold.</a:t>
            </a:r>
          </a:p>
        </p:txBody>
      </p:sp>
    </p:spTree>
    <p:extLst>
      <p:ext uri="{BB962C8B-B14F-4D97-AF65-F5344CB8AC3E}">
        <p14:creationId xmlns:p14="http://schemas.microsoft.com/office/powerpoint/2010/main" val="579567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E2B23-94C4-46B6-8963-43D6B49E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PRODUCT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BA8A6-8926-495C-BB6D-9EF191B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V0 stops at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47B45-5B56-4B3E-8D0A-E25A3A76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143250"/>
                <a:gridCol w="2381250"/>
                <a:gridCol w="2724150"/>
              </a:tblGrid>
              <a:tr h="785813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Operational meaning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Accountable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V0 action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URGENT_</a:t>
                      </a:r>
                    </a:p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ESCALATION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May not safely wait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Safety ops /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 route; show directive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ASYNC_</a:t>
                      </a:r>
                    </a:p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PHYSICIAN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Clinical judgment needed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Licensed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Place in review queue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SELF_CARE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Named low-risk pattern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Approved content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Route; do not send advice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15A13-611C-4872-B17F-CBE32E94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Excluded: diagnosis, prescribing, orders, chart mutation, patient messaging, emergency dispatch.</a:t>
            </a:r>
          </a:p>
        </p:txBody>
      </p:sp>
    </p:spTree>
    <p:extLst>
      <p:ext uri="{BB962C8B-B14F-4D97-AF65-F5344CB8AC3E}">
        <p14:creationId xmlns:p14="http://schemas.microsoft.com/office/powerpoint/2010/main" val="1904877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98B47-33FF-46FF-8320-A21E471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EXECUTABLE MASTRA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8C578-A8BC-4213-9F61-64185BAA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emergency supervisor runs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CE902-315C-417A-9583-313B55EE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f904e5e694bc6"/>
          <a:stretch xmlns:a="http://schemas.openxmlformats.org/drawingml/2006/main"/>
        </p:blipFill>
        <p:spPr>
          <a:xfrm xmlns:a="http://schemas.openxmlformats.org/drawingml/2006/main">
            <a:off x="1735667" y="1295400"/>
            <a:ext cx="8720667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9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C588E-25E2-428A-8869-FA36066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LIVE SYNTHETIC RUN: C08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E4992-E5A1-46E2-8CBA-99C9C998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 red flag becomes a non-bypassable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6DAF7-44A8-47D7-9B24-20720240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957fa868c4eaf"/>
          <a:stretch xmlns:a="http://schemas.openxmlformats.org/drawingml/2006/main"/>
        </p:blipFill>
        <p:spPr>
          <a:xfrm xmlns:a="http://schemas.openxmlformats.org/drawingml/2006/main">
            <a:off x="1693333" y="1295400"/>
            <a:ext cx="8805333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16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93100-B1E8-40E9-899D-65A30A40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IN-SAMPLE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1C740-56A4-4B1F-8A4A-E21FA1A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result is useful only with its caveat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0D8D0-2DD0-4685-BF60-02BE794B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8590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857500"/>
                <a:gridCol w="2476500"/>
                <a:gridCol w="1524000"/>
              </a:tblGrid>
              <a:tr h="647700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Accuracy (95% CI)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recall (95% CI)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 (0.929–1.000)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 (0.851–1.000)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Supplied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0.760 (0.626–0.857)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0.636 (0.430–0.803)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169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Always async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446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Always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1337B-1DD6-4ED8-BB0F-C1424A28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The V0 saw the test rows during development. Treat 1.00 as a saturated regression suite.</a:t>
            </a:r>
          </a:p>
        </p:txBody>
      </p:sp>
    </p:spTree>
    <p:extLst>
      <p:ext uri="{BB962C8B-B14F-4D97-AF65-F5344CB8AC3E}">
        <p14:creationId xmlns:p14="http://schemas.microsoft.com/office/powerpoint/2010/main" val="1548452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5E4A1-1CB1-4E57-BA99-4F7A5638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3C39B-1AA6-4CCB-B5B8-740E0522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1.00 does not mean clinically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7FF47-D45B-4F18-BFD8-8532AB6E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0AAEE-32FB-4762-8F70-8C3D04D1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69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1.00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281CE-E8F0-42D9-8B69-A100D792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in-sample exact disposition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F22BB-A1CB-4499-980E-DC7D7C8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64293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Single reviewer; no blinded clinician adjudication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Rules authored after seeing all 50 cases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Synthetic slice; no patient or episode holdout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Three labels collapse destination, timing, and completion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No evidence yet on workload, equity, or downstream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F8CB7-E118-4ACD-8C15-FFE96F4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Claim supported: the implementation reproduces its declared policy and protects its hard-gate invariant.</a:t>
            </a:r>
          </a:p>
        </p:txBody>
      </p:sp>
    </p:spTree>
    <p:extLst>
      <p:ext uri="{BB962C8B-B14F-4D97-AF65-F5344CB8AC3E}">
        <p14:creationId xmlns:p14="http://schemas.microsoft.com/office/powerpoint/2010/main" val="189307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35B37-8F77-40A1-A178-10AB40CD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RED TEAM AND 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65669-04E6-4AC1-8330-5F1AF1E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Verification targets failure modes, not demos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7ADD6-1277-47D6-B2C2-09BF03AC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76750"/>
                <a:gridCol w="3810000"/>
              </a:tblGrid>
              <a:tr h="650875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is exercised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condition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Contracts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Schemas, boundaries, determinism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Reject malformed state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Safety properties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 dominance, no downgrade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All invariants hold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Fault injection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Either parallel branch fails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Conservative route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Adversarial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Negation, Unicode, mixed intent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urgent miss; no leakage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Real 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Parity, runEvals, Studio, build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Binary gates = 1.0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C5569-496D-49B4-A550-2F9291F6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Current suite: 14 local checks  |  4 Mastra checks  |  34 adversarial cases  |  50-case runEvals</a:t>
            </a:r>
          </a:p>
        </p:txBody>
      </p:sp>
    </p:spTree>
    <p:extLst>
      <p:ext uri="{BB962C8B-B14F-4D97-AF65-F5344CB8AC3E}">
        <p14:creationId xmlns:p14="http://schemas.microsoft.com/office/powerpoint/2010/main" val="437066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5D979-777B-4551-A516-F578005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MULTI-TURN HISTORY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C83F2-0057-48BE-929E-8AEE079E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Test the whole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98864-278B-4382-B681-10F1FEA7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953000"/>
                <a:gridCol w="3067050"/>
              </a:tblGrid>
              <a:tr h="66675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Test in 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Hard release rule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Urgency delay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 appears on any 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Never ask or suspend after signal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Unsafe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Approval bound to exact tool arguments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approval, no side effect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Resume abuse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Stale, duplicate, unauthorized resume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 closed; audit actor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Agent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Tool order, loops, context truncation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Deterministic gate still owns route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Silent quality loss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Versioned datasets, trace feedback, live 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Alert and stop by threshold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61A37-689C-41E0-AA6A-037A6324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Judge communication with clinicians. Verify routing, tools, approvals, and state in code.</a:t>
            </a:r>
          </a:p>
        </p:txBody>
      </p:sp>
    </p:spTree>
    <p:extLst>
      <p:ext uri="{BB962C8B-B14F-4D97-AF65-F5344CB8AC3E}">
        <p14:creationId xmlns:p14="http://schemas.microsoft.com/office/powerpoint/2010/main" val="550350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D8601-56CA-4182-9658-68F15DE2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BEFORE ANY PATIENT-FACING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4FA88-B0C7-43BB-96F8-B9AACE5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Clinical evidence is a gated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200D1-A384-470B-AD5C-856CDDF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400675"/>
                <a:gridCol w="3143250"/>
              </a:tblGrid>
              <a:tr h="698500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Required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Stop condition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Blinded clinicians, adjudication, uncertainty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Undefined destination or owner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Holdout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Patient/episode separation, CIs, severity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bound missed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Equity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Subgroups, intersections, language, 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Material disparity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Human factors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Inbox load, interruption, alert fatigue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Delayed or incomplete escalation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Shadow mode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Every result reviewed; outcomes and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Near miss, privacy, or availability event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B7E19-DE29-4750-B31A-8938D5F1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No PHI, integration, or controlled release until clinical, safety, privacy, security, and operations owners sign off.</a:t>
            </a:r>
          </a:p>
        </p:txBody>
      </p:sp>
    </p:spTree>
    <p:extLst>
      <p:ext uri="{BB962C8B-B14F-4D97-AF65-F5344CB8AC3E}">
        <p14:creationId xmlns:p14="http://schemas.microsoft.com/office/powerpoint/2010/main" val="11357365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4D868-2BAA-4DF7-9962-E31637BE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COUNSEL-SHAPED NEXT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A78F6-844F-4EC9-888F-3EE070B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Build capacity around the physician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BDBDC-7B97-4656-BD8D-E83195F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442F2-165F-43B6-94E5-CA2A89B2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AD7F9-1F39-4655-AF00-74A04368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Collect only the history that changes the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B85EB-16A2-4002-A83A-654FBCE6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71E36-AA97-4773-BA7B-4E27DC91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Retrieve longitudinal record, local guidance, and in-network options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CA61E-C05A-44DC-BBD2-CC2731F4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4C750-8F2A-4BA4-A165-0EA803FB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8140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Give the physician a concise cockpit with provenance and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38F0E-9A2F-4CA7-A9E9-E8DA7974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E8F6B-8490-47F4-BD9B-AC66B5BD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Measure safe resolution, time saved, continuity, and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82720-CB61-40A2-A2E3-6996FAFB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outcome is accountable care delivered, not an impressive model response.</a:t>
            </a:r>
          </a:p>
        </p:txBody>
      </p:sp>
    </p:spTree>
    <p:extLst>
      <p:ext uri="{BB962C8B-B14F-4D97-AF65-F5344CB8AC3E}">
        <p14:creationId xmlns:p14="http://schemas.microsoft.com/office/powerpoint/2010/main" val="999510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08633-C063-4A60-BB08-5412CF75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DECISION AND NEXT THREE MOVES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DAF39-2138-4EB9-984D-874B449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Proceed with V0, with precise evidence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53BD8-309F-45A8-9CBD-CA52F6C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BBE68-4260-49BE-B690-4CF7D0F6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64CA8-669C-4D38-A344-65E8B446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764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Adjudicate the 12 disagreements and lock the adult routing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03C61-58DC-4735-A1BF-D94998AF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5732D-5575-47D6-8334-0E00045D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Build an untouched, representative holdout with explicit release thresholds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ABD41-CAE1-4D54-B213-BD32B93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FB9DD-ACDB-40CB-8839-F66D5D0E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Test the human handoff in shadow mode before adding autonomy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8DD0F-076B-4791-82D6-D245D871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Current verdict: strong synthetic engineering demo; not a clinical system.</a:t>
            </a:r>
          </a:p>
        </p:txBody>
      </p:sp>
    </p:spTree>
    <p:extLst>
      <p:ext uri="{BB962C8B-B14F-4D97-AF65-F5344CB8AC3E}">
        <p14:creationId xmlns:p14="http://schemas.microsoft.com/office/powerpoint/2010/main" val="479404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78A68-4B50-4530-8FD1-6C00772B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PROVISIONAL DISAGREEMENT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8799A-56ED-4BF7-8DF9-640CBC7F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Appendix: eight possible missed urgent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EE174-FA23-41CF-97EA-A8752030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3571875"/>
                <a:gridCol w="6496050"/>
              </a:tblGrid>
              <a:tr h="518583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requires adjudication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Thunderclap + stiff neck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subarachnoid hemorrhage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COPD + marked dyspnea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respiratory decompensation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Infant fever + low intake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dehydration or serious infection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Bladder + saddle symptoms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cauda equina syndrome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Resolved focal neurology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transient ischemic attack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Warm swollen calf post-flight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deep vein thrombosis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Melena + orthostasis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clinically important GI bleed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Edema + orthopnea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decompensated heart failure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3660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BA92C-292B-4C3C-BA47-151CA968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PROVISIONAL DISAGREEMENT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45741-876E-4968-A101-235A0BC1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Appendix: four possible false urgent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FEAD1-FC85-4923-A87D-5A4FC5AB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76300" y="1619250"/>
          <a:ext xmlns:a="http://schemas.openxmlformats.org/drawingml/2006/main" cx="10439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095750"/>
                <a:gridCol w="5295900"/>
              </a:tblGrid>
              <a:tr h="628650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requires adjudication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losartan 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Likely prescriber queue, not emergency capacity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Localized garden rash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spread or airway symptoms described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Localized poison ivy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systemic or airway symptoms described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finasteride 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Likely prescriber queue, not emergency capacity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1912C-A4AF-42B7-9367-444D8C0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Over-triage is safer than under-triage case by case, but systematic over-triage destroys access and trust.</a:t>
            </a:r>
          </a:p>
        </p:txBody>
      </p:sp>
    </p:spTree>
    <p:extLst>
      <p:ext uri="{BB962C8B-B14F-4D97-AF65-F5344CB8AC3E}">
        <p14:creationId xmlns:p14="http://schemas.microsoft.com/office/powerpoint/2010/main" val="2340006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2E08E-9FA3-4022-936D-99A833F9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RESEARCH AND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B2B4E-9F82-4FC4-A4F5-9CFD9FB5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Selected source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734ED-09D0-4218-AC6C-3CBE870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75084-D3E9-4424-9988-0B65E6CD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00062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+ Mastra customer case study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responsible AI governance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clinical QA with specialist judges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g-AMIE physician oversight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Med-PaLM clinical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EB081-D1A8-4AF1-89D9-FC3D7DAD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048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health-equity evaluation toolbox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Anthropic engineering and property testing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Mastra gates, multi-turn evals, HITL, FGA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FDA GMLP and CDS guidance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NIST AI RMF Generative AI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CCD87-84E0-434D-B600-1EF2BC05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Full URLs and presentation talk track are embedded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539967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2026-09-05T20:56:00.5940000Z</dcterms:created>
  <dcterms:modified xsi:type="dcterms:W3CDTF">2026-09-05T20:56:00.5940000Z</dcterms:modified>
</coreProperties>
</file>
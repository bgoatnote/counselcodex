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a3c65a3e454bc0" /><Relationship Type="http://schemas.openxmlformats.org/officeDocument/2006/relationships/extended-properties" Target="/docProps/app.xml" Id="R55ffcc5cadd34191" /><Relationship Type="http://schemas.openxmlformats.org/officeDocument/2006/relationships/officeDocument" Target="/ppt/presentation.xml" Id="Rf87139ef2cb845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e80d3d013349da"/>
  </p:sldMasterIdLst>
  <p:notesMasterIdLst>
    <p:notesMasterId xmlns:r="http://schemas.openxmlformats.org/officeDocument/2006/relationships" r:id="R6f45889d01ae4d9b"/>
  </p:notesMasterIdLst>
  <p:sldIdLst>
    <p:sldId xmlns:r="http://schemas.openxmlformats.org/officeDocument/2006/relationships" id="256" r:id="Rb66509e99572476b"/>
    <p:sldId xmlns:r="http://schemas.openxmlformats.org/officeDocument/2006/relationships" id="257" r:id="R4ad0e454777b4553"/>
    <p:sldId xmlns:r="http://schemas.openxmlformats.org/officeDocument/2006/relationships" id="258" r:id="Rb0ec4908a27f48e4"/>
    <p:sldId xmlns:r="http://schemas.openxmlformats.org/officeDocument/2006/relationships" id="259" r:id="R7eefd3558b374b16"/>
    <p:sldId xmlns:r="http://schemas.openxmlformats.org/officeDocument/2006/relationships" id="260" r:id="R8a8a46e312914564"/>
    <p:sldId xmlns:r="http://schemas.openxmlformats.org/officeDocument/2006/relationships" id="261" r:id="Rd851750779cb451d"/>
    <p:sldId xmlns:r="http://schemas.openxmlformats.org/officeDocument/2006/relationships" id="262" r:id="R02dd27d22a594d52"/>
    <p:sldId xmlns:r="http://schemas.openxmlformats.org/officeDocument/2006/relationships" id="263" r:id="Rc49f02df49c94b62"/>
    <p:sldId xmlns:r="http://schemas.openxmlformats.org/officeDocument/2006/relationships" id="264" r:id="R1f22a932c85a4d0f"/>
    <p:sldId xmlns:r="http://schemas.openxmlformats.org/officeDocument/2006/relationships" id="265" r:id="R8f39055627e64304"/>
    <p:sldId xmlns:r="http://schemas.openxmlformats.org/officeDocument/2006/relationships" id="266" r:id="R794b11c0a8c94b66"/>
    <p:sldId xmlns:r="http://schemas.openxmlformats.org/officeDocument/2006/relationships" id="267" r:id="R452b1f7d6ee1450b"/>
    <p:sldId xmlns:r="http://schemas.openxmlformats.org/officeDocument/2006/relationships" id="268" r:id="R0bc43549471642d2"/>
    <p:sldId xmlns:r="http://schemas.openxmlformats.org/officeDocument/2006/relationships" id="269" r:id="R733239b617d34330"/>
    <p:sldId xmlns:r="http://schemas.openxmlformats.org/officeDocument/2006/relationships" id="270" r:id="Rbaed9d25adfd40d3"/>
    <p:sldId xmlns:r="http://schemas.openxmlformats.org/officeDocument/2006/relationships" id="271" r:id="R9d421e8520f345a9"/>
    <p:sldId xmlns:r="http://schemas.openxmlformats.org/officeDocument/2006/relationships" id="272" r:id="Re04f01da39d148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ebfbf1f0cc420e" /><Relationship Type="http://schemas.openxmlformats.org/officeDocument/2006/relationships/slideMaster" Target="/ppt/slideMasters/slideMaster1.xml" Id="R0be80d3d013349da" /><Relationship Type="http://schemas.openxmlformats.org/officeDocument/2006/relationships/notesMaster" Target="/ppt/notesMasters/notesMaster1.xml" Id="R6f45889d01ae4d9b" /><Relationship Type="http://schemas.openxmlformats.org/officeDocument/2006/relationships/presProps" Target="/ppt/presProps.xml" Id="R5046335c066f4e5b" /><Relationship Type="http://schemas.openxmlformats.org/officeDocument/2006/relationships/tableStyles" Target="/ppt/tableStyles.xml" Id="Ra262c1e47dae4e51" /><Relationship Type="http://schemas.openxmlformats.org/officeDocument/2006/relationships/slide" Target="/ppt/slides/slide1.xml" Id="Rb66509e99572476b" /><Relationship Type="http://schemas.openxmlformats.org/officeDocument/2006/relationships/slide" Target="/ppt/slides/slide2.xml" Id="R4ad0e454777b4553" /><Relationship Type="http://schemas.openxmlformats.org/officeDocument/2006/relationships/slide" Target="/ppt/slides/slide3.xml" Id="Rb0ec4908a27f48e4" /><Relationship Type="http://schemas.openxmlformats.org/officeDocument/2006/relationships/slide" Target="/ppt/slides/slide4.xml" Id="R7eefd3558b374b16" /><Relationship Type="http://schemas.openxmlformats.org/officeDocument/2006/relationships/slide" Target="/ppt/slides/slide5.xml" Id="R8a8a46e312914564" /><Relationship Type="http://schemas.openxmlformats.org/officeDocument/2006/relationships/slide" Target="/ppt/slides/slide6.xml" Id="Rd851750779cb451d" /><Relationship Type="http://schemas.openxmlformats.org/officeDocument/2006/relationships/slide" Target="/ppt/slides/slide7.xml" Id="R02dd27d22a594d52" /><Relationship Type="http://schemas.openxmlformats.org/officeDocument/2006/relationships/slide" Target="/ppt/slides/slide8.xml" Id="Rc49f02df49c94b62" /><Relationship Type="http://schemas.openxmlformats.org/officeDocument/2006/relationships/slide" Target="/ppt/slides/slide9.xml" Id="R1f22a932c85a4d0f" /><Relationship Type="http://schemas.openxmlformats.org/officeDocument/2006/relationships/slide" Target="/ppt/slides/slide10.xml" Id="R8f39055627e64304" /><Relationship Type="http://schemas.openxmlformats.org/officeDocument/2006/relationships/slide" Target="/ppt/slides/slide11.xml" Id="R794b11c0a8c94b66" /><Relationship Type="http://schemas.openxmlformats.org/officeDocument/2006/relationships/slide" Target="/ppt/slides/slide12.xml" Id="R452b1f7d6ee1450b" /><Relationship Type="http://schemas.openxmlformats.org/officeDocument/2006/relationships/slide" Target="/ppt/slides/slide13.xml" Id="R0bc43549471642d2" /><Relationship Type="http://schemas.openxmlformats.org/officeDocument/2006/relationships/slide" Target="/ppt/slides/slide14.xml" Id="R733239b617d34330" /><Relationship Type="http://schemas.openxmlformats.org/officeDocument/2006/relationships/slide" Target="/ppt/slides/slide15.xml" Id="Rbaed9d25adfd40d3" /><Relationship Type="http://schemas.openxmlformats.org/officeDocument/2006/relationships/slide" Target="/ppt/slides/slide16.xml" Id="R9d421e8520f345a9" /><Relationship Type="http://schemas.openxmlformats.org/officeDocument/2006/relationships/slide" Target="/ppt/slides/slide17.xml" Id="Re04f01da39d148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b48717fa5243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a872722a424922" /><Relationship Type="http://schemas.openxmlformats.org/officeDocument/2006/relationships/notesMaster" Target="/ppt/notesMasters/notesMaster1.xml" Id="R35e685887eab40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437e8efbdd43b8" /><Relationship Type="http://schemas.openxmlformats.org/officeDocument/2006/relationships/notesMaster" Target="/ppt/notesMasters/notesMaster1.xml" Id="R59071605225f4a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495ee41d844930" /><Relationship Type="http://schemas.openxmlformats.org/officeDocument/2006/relationships/notesMaster" Target="/ppt/notesMasters/notesMaster1.xml" Id="R33a30898d79544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fe00270bd34be7" /><Relationship Type="http://schemas.openxmlformats.org/officeDocument/2006/relationships/notesMaster" Target="/ppt/notesMasters/notesMaster1.xml" Id="R057c08f62f5642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db5b3a005a4163" /><Relationship Type="http://schemas.openxmlformats.org/officeDocument/2006/relationships/notesMaster" Target="/ppt/notesMasters/notesMaster1.xml" Id="R03fa7290513b4e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2444036a17442b" /><Relationship Type="http://schemas.openxmlformats.org/officeDocument/2006/relationships/notesMaster" Target="/ppt/notesMasters/notesMaster1.xml" Id="Ra73093ca54cc4c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12e4ff2a7c41d4" /><Relationship Type="http://schemas.openxmlformats.org/officeDocument/2006/relationships/notesMaster" Target="/ppt/notesMasters/notesMaster1.xml" Id="R21174cb3436247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30d006edc74537" /><Relationship Type="http://schemas.openxmlformats.org/officeDocument/2006/relationships/notesMaster" Target="/ppt/notesMasters/notesMaster1.xml" Id="Rd2d54575f59740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e4633221164473" /><Relationship Type="http://schemas.openxmlformats.org/officeDocument/2006/relationships/notesMaster" Target="/ppt/notesMasters/notesMaster1.xml" Id="R04d049c4a2044c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c37ce2d60b84e34" /><Relationship Type="http://schemas.openxmlformats.org/officeDocument/2006/relationships/notesMaster" Target="/ppt/notesMasters/notesMaster1.xml" Id="R215fbad647804c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cbd30595a840ba" /><Relationship Type="http://schemas.openxmlformats.org/officeDocument/2006/relationships/notesMaster" Target="/ppt/notesMasters/notesMaster1.xml" Id="R152e33018c7d4dd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c0470ee6a9141bc" /><Relationship Type="http://schemas.openxmlformats.org/officeDocument/2006/relationships/notesMaster" Target="/ppt/notesMasters/notesMaster1.xml" Id="R87f07bba8413412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e317634b6524ec3" /><Relationship Type="http://schemas.openxmlformats.org/officeDocument/2006/relationships/notesMaster" Target="/ppt/notesMasters/notesMaster1.xml" Id="R21544d31f1174da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1e1bd49d88a4ce6" /><Relationship Type="http://schemas.openxmlformats.org/officeDocument/2006/relationships/notesMaster" Target="/ppt/notesMasters/notesMaster1.xml" Id="R53c47844750740a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eb636b2ef6c41fa" /><Relationship Type="http://schemas.openxmlformats.org/officeDocument/2006/relationships/notesMaster" Target="/ppt/notesMasters/notesMaster1.xml" Id="R35f122fa1933491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63b66d614914ad4" /><Relationship Type="http://schemas.openxmlformats.org/officeDocument/2006/relationships/notesMaster" Target="/ppt/notesMasters/notesMaster1.xml" Id="R3d19decc53b04ec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797d94815bd4ab6" /><Relationship Type="http://schemas.openxmlformats.org/officeDocument/2006/relationships/notesMaster" Target="/ppt/notesMasters/notesMaster1.xml" Id="R98bc75758b4a41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product decision: this is a narrow, auditable routing workflow, not an AI doctor and not a clinical performance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goal is to improve the care handoff: the right message reaches the right accountable person at the right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Counsel Physician AI Engineer Take-Home Project 8.7.26 (supplied PDF).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brief says 20 messages. The delivered CSV has 50, so I kept and evaluated all 50 rather than silently choosing a subset.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performed a case-by-case safety review and found 12 disagreements: eight possible under-triage errors and four possible over-triage errors. These are hypotheses for clinician adjudication, not new truth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rules were written with the full slice visible. That is useful for regression testing and invalid for a generalization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supplied PDF and CSV. CSV SHA-256: d17771ed706c6866d2b13f2d7f5344824acf51aaf281b8af6368637586d71a15.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https://www.counselhealth.com/ (current public product describes support for adults 18+; the supplied data includes pediatric rows).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route is not a diagnosis. Each label must map to a time window, an accountable owner, and an observable operational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SELF_CARE does not mean an unreviewed generative message goes to a patient. In V0, it is only a routing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Unknown inputs go to a clinician. A safety-system failure goes to urgent human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supplied take-home PDF; implementation contract in README.md and docs/TAKE_HOME_ACCOUNTING.md.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real registered workflow in Mastra Studio, not a conceptual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red-flag checklist and intent/history step run in parallel. The hard escalation gate executes before residual routing.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emergency branch shares no mutable state with the intent branch. Downstream routing is structurally unable to downgrade a locked urgent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local Mastra Studio screenshot from the synthetic V0; src/mastra/workflows/disposition-workflow.ts.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https://mastra.ai/customers/counsel-health (Counsel describes parallel supervisor agents running alongside core patient-history agents).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live-demo backup if Studio is unavailable.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C08, verify disposition URGENT_ESCALATION, subtype ed_911, locked true, overrideBlocked true, origin hard_gate, and thunderclap_or_sah in the red flags.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Then run the mixed-intent attack: a refill request plus crushing chest pain. The emergency result must dominate.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local Mastra Studio screenshot using the supplied synthetic C08 message.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evaluation uses an asymmetric harm cost: urgent to self-care costs 25; urgent to async costs 20; over-triage costs less.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Wilson intervals quantify sampling uncertainty conditional on the provisional labels. They do not fix label uncertainty or development leakage.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Always urgent has lower cost than the supplied labels despite 44% accuracy. This exposes a Goodhart failure in the single cost metric. Release thresholds must jointly constrain recall, precision, workload, and completed escalation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outputs/metrics.json and docs/EVALUATION.md.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evidence boundary explicit before anyone asks. This is a verified software artifact and a clinically unvalidated reference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Karan Singhal's Med-PaLM work is relevant here: automated benchmark scores are not sufficient; clinical quality needs human review of factuality, reasoning, possible harm, and bias.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https://research.google/pubs/large-language-models-encode-clinical-knowledge/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https://research.google/pubs/a-toolbox-for-surfacing-health-equity-harms-and-biases-in-large-language-models/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suite includes mutation attempts against the router, branch fault injection, privacy canaries, actual Mastra parity, and a production build.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Boris Cherny's public engineering guidance emphasizes explicit targets, test-run-iterate loops, and visual verification. Anthropic's property-based testing work motivates asserting invariants and searching for counterexamples rather than accumulating only examples.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https://www.anthropic.com/engineering/claude-code-best-practices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https://www.anthropic.com/research/property-based-testing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repository tests/, scripts/red-team.mjs, and .github/workflows/ci.yml.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Computer use is useful now for the Studio graph and trace UI. It is not a substitute for API-level assertions.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a multi-turn successor, use Mastra multi-turn evals across the entire conversation. Use binary gates for deterministic actions and LLM judges only for subjective communication quality, calibrated against clinician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Durable suspend/resume would require an approved encrypted or tokenized store. The current V0 intentionally disables durable raw workflow snapshots.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https://mastra.ai/blog/introducing-multi-turn-evals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https://mastra.ai/blog/hitl-where-to-put-approval-in-agents-and-workflows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https://mastra.ai/blog/introducing-fine-grained-authorization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https://mastra.ai/blog/introducing-gates-and-verdicts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primary clinical measure is not a displayed label. It is whether the urgent handoff is recognized and completed within the intended window.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Pre-specify thresholds, subgroup minimums, missing-data policy, and stopping rules before opening the holdout.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Counsel's public governance writing similarly emphasizes hard stops, mandatory physician escalation, auditability, and lifecycle monitoring.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https://www.counselhealth.com/blog/responsible-ai-governance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https://www.fda.gov/medical-devices/software-medical-device-samd/good-machine-learning-practice-medical-device-development-guiding-principles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https://www.nist.gov/publications/artificial-intelligence-risk-management-framework-generative-artificial-intelligence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zoom-out: routing is only the first control point in a supervised care pathway.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Counsel's Mastra case study describes patient history agents, parallel emergency supervisors, custom RAG over guidelines and records, and a physician cockpit.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published g-AMIE study describes history gathering and clinician-facing drafts with physician oversight.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https://mastra.ai/customers/counsel-health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https://research.google/blog/enabling-physician-centered-oversight-for-amie/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https://www.counselhealth.com/blog/rag-ai-framework-enhancing-patient-care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Counsel's public stack supports all four directions, but its stated values also emphasize simplicity and doing fewer things well.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current full-stack role names Next.js, Tailwind, Postgres/Supabase, and AWS. The current backend role describes a production RAG/search harness over structured and unstructured health data with strict permission and audit guarantees.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current V0 therefore adds a typed retrieval contract, not a vector database. At five policy snippets, vector search has no demonstrated retrieval benefit.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Tailwind interface becomes valuable when we can test a physician cockpit. Kubernetes becomes valuable after a PHI, tenant, load, and reliability envelope exists.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https://jobs.ashbyhq.com/counsel/12cf0cf3-73db-49d4-84a0-dd8b280e6337/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https://jobs.ashbyhq.com/counsel/cc81ba06-2dd8-408f-8aba-833f332e11cd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https://mastra.ai/customers/counsel-health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https://www.counselhealth.com/blog/rag-ai-framework-enhancing-patient-care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https://mastra.ai/rag-pipeline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Mastra creates the valuable comparison: one agent contract, one tool surface, one trace/eval system, and provider-neutral model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Compare models only where open-ended synthesis can help. The deterministic workflow computes disposition first and passes it as locked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at least five trials per case on an untouched patient-and-episode holdout. Randomize and blind outputs. Use deterministic gates, cross-provider decomposed judges, and two calibrated clinicians.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Select from the quality, safety, latency, and cost frontier. Do not infer a universal winner from an average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configs/model-bakeoff.json and docs/MODEL_BAKEOFF.md.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https://developers.openai.com/api/docs/models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https://docs.anthropic.com/en/docs/about-claude/model-deprecations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https://www.anthropic.com/engineering/demystifying-evals-for-ai-agents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https://mastra.ai/blog/model-router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decision, not a feature roadmap. The V0 is worth continuing because it exposes the right system boundaries and can be tested rigorously.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next unit of evidence is not another prompt. It is an adjudicated protocol and untouched holdout, followed by human-factors and shadow-mode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longer-term health mission is credible only if the system measurably expands safe access for underserved patients without hiding uncertainty or shifting risk to clinicians.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docs/TAKE_HOME_ACCOUNTING.md and docs/VALIDATION_PLAN.md.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reviewer hypotheses. A blinded multi-clinician study must decide the intended route and timing for the actual Counsel setting.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guidance supports prioritizing review of transient stroke symptoms, acute thunderclap headache, and possible cauda equina syndrome.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data/gold_standard.csv and data/REFERENCE_STANDARD.md.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https://newsroom.heart.org/news/stroke-symptoms-even-if-they-disappear-within-an-hour-need-emergency-assessment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https://www.acep.org/siteassets/sites/acep/media/clinical-policies/cp-headache.pdf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https://www.nice.org.uk/guidance/ng127/chapter/Recommendations-for-adults-aged-over-16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always-urgent baseline makes this tradeoff visible. It achieves perfect urgent recall and only 44% accuracy, with a lower weighted cost than the supplied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That is why clinical utility needs capacity and workload constraints in addition to a safety-weighted loss.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data/gold_standard.csv, outputs/metrics.json, and docs/EVALUATION.md.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Counsel and Mastra: https://mastra.ai/customers/counsel-health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Counsel mission: https://www.counselhealth.com/about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Counsel governance: https://www.counselhealth.com/blog/responsible-ai-governance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Counsel clinical QA: https://www.counselhealth.com/blog/scaling-clinical-quality-assurance-with-ai-judges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Counsel RAG: https://www.counselhealth.com/blog/rag-ai-framework-enhancing-patient-care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Counsel full-stack role: https://jobs.ashbyhq.com/counsel/12cf0cf3-73db-49d4-84a0-dd8b280e6337/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Counsel backend role: https://jobs.ashbyhq.com/counsel/cc81ba06-2dd8-408f-8aba-833f332e11cd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 g-AMIE: https://research.google/blog/enabling-physician-centered-oversight-for-amie/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 Med-PaLM: https://research.google/pubs/large-language-models-encode-clinical-knowledge/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 health-equity toolbox: https://research.google/pubs/a-toolbox-for-surfacing-health-equity-harms-and-biases-in-large-language-models/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 best practices: https://www.anthropic.com/engineering/claude-code-best-practices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 property testing: https://www.anthropic.com/research/property-based-testing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 agent evals: https://www.anthropic.com/engineering/demystifying-evals-for-ai-agents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 model lifecycle: https://docs.anthropic.com/en/docs/about-claude/model-deprecations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model guidance: https://developers.openai.com/api/docs/models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Mastra RAG: https://mastra.ai/rag-pipeline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Mastra model router: https://mastra.ai/blog/model-router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Mastra eval gates: https://mastra.ai/blog/introducing-gates-and-verdicts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Mastra multi-turn evals: https://mastra.ai/blog/introducing-multi-turn-evals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Mastra HITL: https://mastra.ai/blog/hitl-where-to-put-approval-in-agents-and-workflows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Mastra FGA: https://mastra.ai/blog/introducing-fine-grained-authorization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FDA GMLP: https://www.fda.gov/medical-devices/software-medical-device-samd/good-machine-learning-practice-medical-device-development-guiding-principles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FDA CDS: https://www.fda.gov/regulatory-information/search-fda-guidance-documents/clinical-decision-support-software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RMF GenAI Profile: https://www.nist.gov/publications/artificial-intelligence-risk-management-framework-generative-artificial-intelligence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034838f99848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cbbc42b5984f76" /><Relationship Type="http://schemas.openxmlformats.org/officeDocument/2006/relationships/slideLayout" Target="/ppt/slideLayouts/slideLayout1.xml" Id="R5d6b1414df5f42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6b1414df5f42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2ade1661e4fec" /><Relationship Type="http://schemas.openxmlformats.org/officeDocument/2006/relationships/notesSlide" Target="/ppt/notesSlides/notesSlide1.xml" Id="R1356331084554f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5e0c67c1e439b" /><Relationship Type="http://schemas.openxmlformats.org/officeDocument/2006/relationships/notesSlide" Target="/ppt/notesSlides/notesSlide2.xml" Id="R1718920abd5442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30a936ecb4204" /><Relationship Type="http://schemas.openxmlformats.org/officeDocument/2006/relationships/notesSlide" Target="/ppt/notesSlides/notesSlide3.xml" Id="R78288f7da40149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71650409d4f15" /><Relationship Type="http://schemas.openxmlformats.org/officeDocument/2006/relationships/image" Target="/ppt/media/image.jpeg" Id="R6ea6b3f24fd745ee" /><Relationship Type="http://schemas.openxmlformats.org/officeDocument/2006/relationships/notesSlide" Target="/ppt/notesSlides/notesSlide4.xml" Id="R9892700f7be845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8abed3fdf43b1" /><Relationship Type="http://schemas.openxmlformats.org/officeDocument/2006/relationships/image" Target="/ppt/media/image2.jpeg" Id="Rb9c8b331f34343dd" /><Relationship Type="http://schemas.openxmlformats.org/officeDocument/2006/relationships/notesSlide" Target="/ppt/notesSlides/notesSlide5.xml" Id="Rfa3063a64ef84f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924814a564d09" /><Relationship Type="http://schemas.openxmlformats.org/officeDocument/2006/relationships/notesSlide" Target="/ppt/notesSlides/notesSlide6.xml" Id="R9c8f6750817743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a3e92d97b4a24" /><Relationship Type="http://schemas.openxmlformats.org/officeDocument/2006/relationships/notesSlide" Target="/ppt/notesSlides/notesSlide7.xml" Id="R0c352fb37a2c42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f1c3b3d0846d4" /><Relationship Type="http://schemas.openxmlformats.org/officeDocument/2006/relationships/notesSlide" Target="/ppt/notesSlides/notesSlide8.xml" Id="R05a10ce5b13b40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9277bc3084049" /><Relationship Type="http://schemas.openxmlformats.org/officeDocument/2006/relationships/notesSlide" Target="/ppt/notesSlides/notesSlide9.xml" Id="R9f10dabbe07e4c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10b70da574c28" /><Relationship Type="http://schemas.openxmlformats.org/officeDocument/2006/relationships/notesSlide" Target="/ppt/notesSlides/notesSlide10.xml" Id="R1d8a70fb54504e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c72fe35d240fe" /><Relationship Type="http://schemas.openxmlformats.org/officeDocument/2006/relationships/notesSlide" Target="/ppt/notesSlides/notesSlide11.xml" Id="Rbc9b95715ae143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402536e0f40cd" /><Relationship Type="http://schemas.openxmlformats.org/officeDocument/2006/relationships/notesSlide" Target="/ppt/notesSlides/notesSlide12.xml" Id="R4081740b4e5d446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88d8fc65d4099" /><Relationship Type="http://schemas.openxmlformats.org/officeDocument/2006/relationships/notesSlide" Target="/ppt/notesSlides/notesSlide13.xml" Id="Rc89b256aa1a84fd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e6accf617d4ee4" /><Relationship Type="http://schemas.openxmlformats.org/officeDocument/2006/relationships/notesSlide" Target="/ppt/notesSlides/notesSlide14.xml" Id="R34141fc6cd8045a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c07593bfd4189" /><Relationship Type="http://schemas.openxmlformats.org/officeDocument/2006/relationships/notesSlide" Target="/ppt/notesSlides/notesSlide15.xml" Id="Ra41475d1cfca413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4f03afe9c48a4" /><Relationship Type="http://schemas.openxmlformats.org/officeDocument/2006/relationships/notesSlide" Target="/ppt/notesSlides/notesSlide16.xml" Id="R572b2242a1354bf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c323867c24273" /><Relationship Type="http://schemas.openxmlformats.org/officeDocument/2006/relationships/notesSlide" Target="/ppt/notesSlides/notesSlide17.xml" Id="R176593fcdd474d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0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A0961-A260-4218-818F-2EDC6FC1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71D4C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71D4C3"/>
                </a:solidFill>
                <a:latin typeface="Avenir Next"/>
                <a:ea typeface="Avenir Next"/>
                <a:cs typeface="Avenir Next"/>
              </a:rPr>
              <a:t>PHYSICIAN AI ENGINEER TAKE-HOME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AB784-DB31-4E2C-88CC-EAE66849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990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safer front door</a:t>
            </a:r>
          </a:p>
          <a:p xmlns:a="http://schemas.openxmlformats.org/drawingml/2006/main">
            <a:pPr>
              <a:defRPr sz="4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for asynchronous care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37C3A9-0AE1-4B6F-A8FA-0A1AB1CB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BDD7D2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 i="0">
                <a:solidFill>
                  <a:srgbClr val="BDD7D2"/>
                </a:solidFill>
                <a:latin typeface="Avenir Next"/>
                <a:ea typeface="Avenir Next"/>
                <a:cs typeface="Avenir Next"/>
              </a:rPr>
              <a:t>Disposition V0  |  Mastra 1.64.0  |  50 synthetic messages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B2DB5-EC5C-4CF3-8F1F-D69BA458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F7DDBD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F7DDBD"/>
                </a:solidFill>
                <a:latin typeface="Avenir Next"/>
                <a:ea typeface="Avenir Next"/>
                <a:cs typeface="Avenir Next"/>
              </a:rPr>
              <a:t>Decision support only. No diagnosis, treatment, chart write, or autonomous dispatch.</a:t>
            </a:r>
          </a:p>
        </p:txBody>
      </p:sp>
    </p:spTree>
    <p:extLst>
      <p:ext uri="{BB962C8B-B14F-4D97-AF65-F5344CB8AC3E}">
        <p14:creationId xmlns:p14="http://schemas.microsoft.com/office/powerpoint/2010/main" val="9741754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3B73EF-796F-43AA-B1C8-9D3E34EF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CURRENT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834D7-8053-4EA0-BAC3-6B1C5BF0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The first discovery was a data-quality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F2848-92D1-4905-A3BD-8C46D265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FF773-BFFA-40F7-8484-E3186D8B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57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08BBBF-837D-4BB5-9507-36C63F2A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messages in the brief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067F9-3CAB-4A22-9738-6FAFE0B3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57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12498-2D0E-49F6-B597-D1B4F1F1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479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rows in the supplied CSV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6EAC81-7F1B-4ACE-8436-B09F7BC2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1450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defRPr>
            </a:pPr>
            <a:r>
              <a:rPr sz="5700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04734-D546-4E8A-BA52-1448FFA2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479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label disagreements to adjudicate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819150" y="3810000"/>
          <a:ext xmlns:a="http://schemas.openxmlformats.org/drawingml/2006/main" cx="1045845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1333500"/>
                <a:gridCol w="6076950"/>
              </a:tblGrid>
              <a:tr h="476250">
                <a:tc>
                  <a:txBody>
                    <a:bodyPr/>
                    <a:lstStyle/>
                    <a:p>
                      <a:r>
                        <a:t>Review finding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Count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Examples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Possible missed urgent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TIA, thunderclap headache, cauda equina, GI bleed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Possible false urgent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Stable refills, localized dermatitis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70AB3E-68F8-4DA4-9643-05004A36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rPr>
              <a:t>Use all 50. Preserve the supplied labels. Call the new set provisional, not gold.</a:t>
            </a:r>
          </a:p>
        </p:txBody>
      </p:sp>
    </p:spTree>
    <p:extLst>
      <p:ext uri="{BB962C8B-B14F-4D97-AF65-F5344CB8AC3E}">
        <p14:creationId xmlns:p14="http://schemas.microsoft.com/office/powerpoint/2010/main" val="16600338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12D905-BADB-46DF-BF59-57F7C739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PRODUCT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57E2A-DD23-4D43-A131-E54702D3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V0 stops at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0CCE2-FAB5-4149-93FE-327D1EEB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562100"/>
          <a:ext xmlns:a="http://schemas.openxmlformats.org/drawingml/2006/main" cx="108204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143250"/>
                <a:gridCol w="2381250"/>
                <a:gridCol w="2724150"/>
              </a:tblGrid>
              <a:tr h="785813">
                <a:tc>
                  <a:txBody>
                    <a:bodyPr/>
                    <a:lstStyle/>
                    <a:p>
                      <a:r>
                        <a:t>Output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Operational meaning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Accountable owner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V0 action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URGENT_</a:t>
                      </a:r>
                    </a:p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ESCALATION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May not safely wait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Safety ops / clinician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Lock route; show directive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ASYNC_</a:t>
                      </a:r>
                    </a:p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PHYSICIAN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Clinical judgment needed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Licensed clinician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Place in review queue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SELF_CARE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Named low-risk pattern only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Approved content owner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Route; do not send advice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AC45C-47F6-4BC3-A828-35EFD672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rPr>
              <a:t>Excluded: diagnosis, prescribing, orders, chart mutation, patient messaging, emergency dispatch.</a:t>
            </a:r>
          </a:p>
        </p:txBody>
      </p:sp>
    </p:spTree>
    <p:extLst>
      <p:ext uri="{BB962C8B-B14F-4D97-AF65-F5344CB8AC3E}">
        <p14:creationId xmlns:p14="http://schemas.microsoft.com/office/powerpoint/2010/main" val="3153793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744B7-3F46-45A6-9528-082CAB3B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EXECUTABLE MASTRA GRAPH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B6064-6B58-4229-ADED-B4AB02F1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The emergency supervisor runs independently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C4243-D131-4007-9896-89F26687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6b3f24fd745ee"/>
          <a:stretch xmlns:a="http://schemas.openxmlformats.org/drawingml/2006/main"/>
        </p:blipFill>
        <p:spPr>
          <a:xfrm xmlns:a="http://schemas.openxmlformats.org/drawingml/2006/main">
            <a:off x="1735667" y="1295400"/>
            <a:ext cx="8720667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0008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49502C-AABD-4E6F-85ED-1E2A9184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LIVE SYNTHETIC RUN: C08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0F707-AAA5-492A-9C41-CA57B4E4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A red flag becomes a non-bypassable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858A8-D488-4523-9DA9-1C02CBF5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c8b331f34343dd"/>
          <a:stretch xmlns:a="http://schemas.openxmlformats.org/drawingml/2006/main"/>
        </p:blipFill>
        <p:spPr>
          <a:xfrm xmlns:a="http://schemas.openxmlformats.org/drawingml/2006/main">
            <a:off x="1693333" y="1295400"/>
            <a:ext cx="8805333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739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744C5-4F43-41DF-BEC7-393F63D3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IN-SAMPLE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2B7EE-55E4-49FC-A84D-09B4E149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The result is useful only with its caveat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A2BD8-CA6D-4764-A622-EC9C3BDD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485900"/>
          <a:ext xmlns:a="http://schemas.openxmlformats.org/drawingml/2006/main" cx="108585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857500"/>
                <a:gridCol w="2476500"/>
                <a:gridCol w="1524000"/>
              </a:tblGrid>
              <a:tr h="647700">
                <a:tc>
                  <a:txBody>
                    <a:bodyPr/>
                    <a:lstStyle/>
                    <a:p>
                      <a:r>
                        <a:t>System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Accuracy (95% CI)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Urgent recall (95% CI)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Cost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V0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1.000 (0.929–1.000)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1.000 (0.851–1.000)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Supplied labels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0.760 (0.626–0.857)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0.636 (0.430–0.803)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169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Always async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0.440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446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Always urgent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0.440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62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BD105-465D-450C-9318-34D668A5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006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rPr>
              <a:t>The V0 saw the test rows during development. Treat 1.00 as a saturated regression suite.</a:t>
            </a:r>
          </a:p>
        </p:txBody>
      </p:sp>
    </p:spTree>
    <p:extLst>
      <p:ext uri="{BB962C8B-B14F-4D97-AF65-F5344CB8AC3E}">
        <p14:creationId xmlns:p14="http://schemas.microsoft.com/office/powerpoint/2010/main" val="17777261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F651A-9B71-4CB1-A1E4-9442F803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EVIDENCE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119EB-1084-4FC7-8BF5-0D6BB782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1.00 does not mean clinically validated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8074A-F476-4DBF-8C3E-34E4D964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B63CC-1B9E-49A6-B904-6B4A6A14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342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9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69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1.00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A78D4-E82C-49DA-970F-B2F5992F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in-sample exact disposition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F783F-7919-4B24-B891-6C01DA4C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00200"/>
            <a:ext cx="6429375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025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025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Single reviewer; no blinded clinician adjudication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025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025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Rules authored after seeing all 50 cases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025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025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Synthetic slice; no patient or episode holdout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025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025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Three labels collapse destination, timing, and completion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025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025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No evidence yet on workload, equity, or downstream outcomes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F0063A-D596-4038-82F3-0F4EB7CA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Claim supported: the implementation reproduces its declared policy and protects its hard-gate invariant.</a:t>
            </a:r>
          </a:p>
        </p:txBody>
      </p:sp>
    </p:spTree>
    <p:extLst>
      <p:ext uri="{BB962C8B-B14F-4D97-AF65-F5344CB8AC3E}">
        <p14:creationId xmlns:p14="http://schemas.microsoft.com/office/powerpoint/2010/main" val="10806646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1D9AF-3F27-4D38-A098-0DDC0CAD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RED TEAM AND 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1C65F-ED79-4007-A56F-D258E05F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Verification targets failure modes, not demos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383CC-AA1F-4A8E-97B8-3D07FD12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466850"/>
          <a:ext xmlns:a="http://schemas.openxmlformats.org/drawingml/2006/main" cx="108585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476750"/>
                <a:gridCol w="3810000"/>
              </a:tblGrid>
              <a:tr h="650875">
                <a:tc>
                  <a:txBody>
                    <a:bodyPr/>
                    <a:lstStyle/>
                    <a:p>
                      <a:r>
                        <a:t>Layer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What is exercised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Release condition</a:t>
                      </a:r>
                    </a:p>
                  </a:txBody>
                  <a:tcPr marL="91440" marR="91440" marT="45720" marB="45720"/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Contracts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Schemas, boundaries, determinism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Reject malformed state</a:t>
                      </a:r>
                    </a:p>
                  </a:txBody>
                  <a:tcPr marL="91440" marR="91440" marT="45720" marB="45720"/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Safety properties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Gate dominance, no downgrade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All invariants hold</a:t>
                      </a:r>
                    </a:p>
                  </a:txBody>
                  <a:tcPr marL="91440" marR="91440" marT="45720" marB="45720"/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Fault injection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Either parallel branch fails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Conservative route</a:t>
                      </a:r>
                    </a:p>
                  </a:txBody>
                  <a:tcPr marL="91440" marR="91440" marT="45720" marB="45720"/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Adversarial text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Negation, Unicode, mixed intent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urgent miss; no leakage</a:t>
                      </a:r>
                    </a:p>
                  </a:txBody>
                  <a:tcPr marL="91440" marR="91440" marT="45720" marB="45720"/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Real Mastra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Parity, runEvals, Studio, build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Binary gates = 1.0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CA474-2894-4C0F-9302-707DA928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Current suite: 18 local checks  |  4 Mastra checks  |  34 adversarial cases  |  50-case runEvals</a:t>
            </a:r>
          </a:p>
        </p:txBody>
      </p:sp>
    </p:spTree>
    <p:extLst>
      <p:ext uri="{BB962C8B-B14F-4D97-AF65-F5344CB8AC3E}">
        <p14:creationId xmlns:p14="http://schemas.microsoft.com/office/powerpoint/2010/main" val="13118844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84A54-510A-4BAE-AC2E-97077A52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MULTI-TURN HISTORY COLLECTION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B46AA-619E-4ACD-AAEF-BB326B9B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Test the whole conversation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6713E-4662-4F83-AD88-52AF7DA5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4953000"/>
                <a:gridCol w="3067050"/>
              </a:tblGrid>
              <a:tr h="666750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Test in Mastra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Hard release rule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Urgency delay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Signal appears on any turn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Never ask or suspend after signal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Unsafe action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Approval bound to exact tool arguments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approval, no side effect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Resume abuse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Stale, duplicate, unauthorized resume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Fail closed; audit actor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Agent drift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Tool order, loops, context truncation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Deterministic gate still owns route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Silent quality loss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Versioned datasets, trace feedback, live eval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Alert and stop by threshold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79DFE-C557-45CC-AFBE-A499255E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Judge communication with clinicians. Verify routing, tools, approvals, and state in code.</a:t>
            </a:r>
          </a:p>
        </p:txBody>
      </p:sp>
    </p:spTree>
    <p:extLst>
      <p:ext uri="{BB962C8B-B14F-4D97-AF65-F5344CB8AC3E}">
        <p14:creationId xmlns:p14="http://schemas.microsoft.com/office/powerpoint/2010/main" val="6813005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CDE94-AB6F-483B-AA64-FCC02412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BEFORE ANY PATIENT-FACING 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145EF-2F84-4774-A6F8-1C4FBDF3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Clinical evidence is a gated program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9C737-A85F-496C-9381-E488F83C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5400675"/>
                <a:gridCol w="3143250"/>
              </a:tblGrid>
              <a:tr h="698500">
                <a:tc>
                  <a:txBody>
                    <a:bodyPr/>
                    <a:lstStyle/>
                    <a:p>
                      <a:r>
                        <a:t>Gate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Required evidence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Stop condition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Reference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Blinded clinicians, adjudication, uncertainty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Undefined destination or owner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Holdout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Patient/episode separation, CIs, severity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Urgent bound missed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Equity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Subgroups, intersections, language, access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Material disparity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Human factors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Inbox load, interruption, alert fatigue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Delayed or incomplete escalation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Shadow mode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Every result reviewed; outcomes and drift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Near miss, privacy, or availability event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6BB23-C53C-4124-BF02-6D98BE95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rPr>
              <a:t>No PHI, integration, or controlled release until clinical, safety, privacy, security, and operations owners sign off.</a:t>
            </a:r>
          </a:p>
        </p:txBody>
      </p:sp>
    </p:spTree>
    <p:extLst>
      <p:ext uri="{BB962C8B-B14F-4D97-AF65-F5344CB8AC3E}">
        <p14:creationId xmlns:p14="http://schemas.microsoft.com/office/powerpoint/2010/main" val="4879964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BC6A2F-EF5A-4C61-9FB5-0B7D9CFB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COUNSEL-SHAPED NEXT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0897D-7185-4DEE-9BD5-8B2AE390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Build capacity around the physician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2C34F-D241-407B-B9F6-ABAF45CA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ABE47-363B-4959-B595-7F99B82B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6018D1-E564-43D7-9072-CD99316D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002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Collect only the history that changes the next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18DEB4-9817-4D79-9BC6-4746363E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C570BE-74A0-434D-B8AC-A12313E6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1460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Retrieve longitudinal record, local guidance, and in-network options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160F0-5199-419F-83C2-70A1CDA3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FEC511-C79A-4918-A523-667497F4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8140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Give the physician a concise cockpit with provenance and uncertainty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D57EDE-22F8-447A-9299-B6F2D02C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9FCFD6-FB06-46B5-8FEE-CE99A233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4820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Measure safe resolution, time saved, continuity, and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C9781C-0C73-40BD-B33B-A5B660A8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The outcome is accountable care delivered, not an impressive model response.</a:t>
            </a:r>
          </a:p>
        </p:txBody>
      </p:sp>
    </p:spTree>
    <p:extLst>
      <p:ext uri="{BB962C8B-B14F-4D97-AF65-F5344CB8AC3E}">
        <p14:creationId xmlns:p14="http://schemas.microsoft.com/office/powerpoint/2010/main" val="6079383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1501D-0A35-4CBA-91B6-69278375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STACK ALIGNMENT • EVIDENCE BEFORE SERVICES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B4D83-5A18-484D-AC3F-AB37A545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Four technologies, four admission tests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2C74E-DD80-4743-A311-9D203E21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14350" y="1390650"/>
          <a:ext xmlns:a="http://schemas.openxmlformats.org/drawingml/2006/main" cx="111633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2190750"/>
                <a:gridCol w="3305175"/>
                <a:gridCol w="3714750"/>
              </a:tblGrid>
              <a:tr h="704850">
                <a:tc>
                  <a:txBody>
                    <a:bodyPr/>
                    <a:lstStyle/>
                    <a:p>
                      <a:r>
                        <a:t>Technology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Decision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What it adds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Evidence required</a:t>
                      </a:r>
                    </a:p>
                  </a:txBody>
                  <a:tcPr marL="91440" marR="91440" marT="45720" marB="45720"/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RAG + vector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Next increment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Longitudinal context and sourced guidance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Recall, entailment, freshness, tenant isolation, no urgent-route regression</a:t>
                      </a:r>
                    </a:p>
                  </a:txBody>
                  <a:tcPr marL="91440" marR="91440" marT="45720" marB="45720"/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Tailwind cockpit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After retrieval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Clinician provenance and action surface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Faster review with no missed warning, false certainty, or accessibility loss</a:t>
                      </a:r>
                    </a:p>
                  </a:txBody>
                  <a:tcPr marL="91440" marR="91440" marT="45720" marB="45720"/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Kubernetes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Production boundary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Isolation, rollout, recovery, scale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Owned SLO, load, failover, least privilege, rollback, incident exercise</a:t>
                      </a:r>
                    </a:p>
                  </a:txBody>
                  <a:tcPr marL="91440" marR="91440" marT="45720" marB="45720"/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Mastra model router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Controlled bakeoff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One contract across GPT and Claude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Frozen tools/context, blinded repeats, clinician review, paired uncertainty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65513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37214-B070-43DF-A39C-5346E9AA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MASTRA AS THE EXPERIMENT HARNESS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B54F1-0DA8-47B7-9AD9-56EA8FF6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A governed GPT–Claude bakeoff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8819A-F376-46EF-92EC-F2D89539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47700" y="1371600"/>
          <a:ext xmlns:a="http://schemas.openxmlformats.org/drawingml/2006/main" cx="108966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3714750"/>
                <a:gridCol w="4943475"/>
              </a:tblGrid>
              <a:tr h="476250">
                <a:tc>
                  <a:txBody>
                    <a:bodyPr/>
                    <a:lstStyle/>
                    <a:p>
                      <a:r>
                        <a:t>Provider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Initial candidate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Task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OpenAI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GPT-5.6 Terra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Clinician history summary and response draft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Anthropic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Claude Sonnet 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Same prompt, context, tools, schema, and budget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11" name=""/>
          <p:cNvGraphicFramePr/>
          <p:nvPr/>
        </p:nvGraphicFramePr>
        <p:xfrm>
          <a:off xmlns:a="http://schemas.openxmlformats.org/drawingml/2006/main" x="647700" y="3105150"/>
          <a:ext xmlns:a="http://schemas.openxmlformats.org/drawingml/2006/main" cx="10896600" cy="2457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476750"/>
                <a:gridCol w="3562350"/>
              </a:tblGrid>
              <a:tr h="491490">
                <a:tc>
                  <a:txBody>
                    <a:bodyPr/>
                    <a:lstStyle/>
                    <a:p>
                      <a:r>
                        <a:t>Measure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Method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Release rule</a:t>
                      </a:r>
                    </a:p>
                  </a:txBody>
                  <a:tcPr marL="91440" marR="91440" marT="45720" marB="45720"/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Safety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Locked route + forbidden-action checks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Zero gate violations</a:t>
                      </a:r>
                    </a:p>
                  </a:txBody>
                  <a:tcPr marL="91440" marR="91440" marT="45720" marB="45720"/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Clinical usefulness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Two blinded clinicians + adjudication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Prespecified paired threshold</a:t>
                      </a:r>
                    </a:p>
                  </a:txBody>
                  <a:tcPr marL="91440" marR="91440" marT="45720" marB="45720"/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Grounding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Citation provenance and entailment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invented source</a:t>
                      </a:r>
                    </a:p>
                  </a:txBody>
                  <a:tcPr marL="91440" marR="91440" marT="45720" marB="45720"/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Operations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 trials/case; latency, failures, tokens, cost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Report frontier and Pass⁵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4CD1F-2983-4888-A1E9-0B10E07B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rPr>
              <a:t>Status: preregistered, not run. Neither model may change disposition.</a:t>
            </a:r>
          </a:p>
        </p:txBody>
      </p:sp>
    </p:spTree>
    <p:extLst>
      <p:ext uri="{BB962C8B-B14F-4D97-AF65-F5344CB8AC3E}">
        <p14:creationId xmlns:p14="http://schemas.microsoft.com/office/powerpoint/2010/main" val="19771161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5E872-DB7E-4375-9672-2E2EE444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DECISION AND NEXT THREE MOVES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48ECE-F5BE-4ACB-ABA1-9F0AFD8E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Proceed with V0, with precise evidence claims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8C7D6-2335-4476-94ED-D76632D6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9DB3D-7561-4AA2-AB59-AB5401D8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66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DBBC2-75CD-4B35-83E8-936E2F07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764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Adjudicate the 12 disagreements and lock the adult routing protocol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97708-9087-4421-A9CB-D084555F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66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DBB8C8-E80C-4EA4-9A0A-4849E857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14650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Build an untouched, representative holdout with explicit release thresholds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98500E-EB8B-435A-9086-9414502A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76725"/>
            <a:ext cx="66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EF412E-3EF4-4D6D-B565-31AB9F35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86250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Test the human handoff in shadow mode before adding autonomy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72138E-C7F5-4AEB-BB49-A93D52A8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340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rPr>
              <a:t>Current verdict: strong synthetic engineering demo; not a clinical system.</a:t>
            </a:r>
          </a:p>
        </p:txBody>
      </p:sp>
    </p:spTree>
    <p:extLst>
      <p:ext uri="{BB962C8B-B14F-4D97-AF65-F5344CB8AC3E}">
        <p14:creationId xmlns:p14="http://schemas.microsoft.com/office/powerpoint/2010/main" val="12675575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4F215-0B43-416E-BCE3-85363816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PROVISIONAL DISAGREEMENT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FF929-EABD-46F3-8F10-F07DBF2D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Appendix: eight possible missed urgent cases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F9F3F-5E48-48E1-8D19-475388FA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15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972800" cy="4667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3571875"/>
                <a:gridCol w="6496050"/>
              </a:tblGrid>
              <a:tr h="518583">
                <a:tc>
                  <a:txBody>
                    <a:bodyPr/>
                    <a:lstStyle/>
                    <a:p>
                      <a:r>
                        <a:t>Case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Signal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Why it requires adjudication</a:t>
                      </a:r>
                    </a:p>
                  </a:txBody>
                  <a:tcPr marL="91440" marR="91440" marT="45720" marB="45720"/>
                </a:tc>
              </a:tr>
              <a:tr h="51858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C08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Thunderclap + stiff neck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Possible subarachnoid hemorrhage</a:t>
                      </a:r>
                    </a:p>
                  </a:txBody>
                  <a:tcPr marL="91440" marR="91440" marT="45720" marB="45720"/>
                </a:tc>
              </a:tr>
              <a:tr h="51858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COPD + marked dyspnea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Possible respiratory decompensation</a:t>
                      </a:r>
                    </a:p>
                  </a:txBody>
                  <a:tcPr marL="91440" marR="91440" marT="45720" marB="45720"/>
                </a:tc>
              </a:tr>
              <a:tr h="51858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Infant fever + low intake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Possible dehydration or serious infection</a:t>
                      </a:r>
                    </a:p>
                  </a:txBody>
                  <a:tcPr marL="91440" marR="91440" marT="45720" marB="45720"/>
                </a:tc>
              </a:tr>
              <a:tr h="51858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C17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Bladder + saddle symptoms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Possible cauda equina syndrome</a:t>
                      </a:r>
                    </a:p>
                  </a:txBody>
                  <a:tcPr marL="91440" marR="91440" marT="45720" marB="45720"/>
                </a:tc>
              </a:tr>
              <a:tr h="51858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C23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Resolved focal neurology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Possible transient ischemic attack</a:t>
                      </a:r>
                    </a:p>
                  </a:txBody>
                  <a:tcPr marL="91440" marR="91440" marT="45720" marB="45720"/>
                </a:tc>
              </a:tr>
              <a:tr h="51858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Warm swollen calf post-flight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Possible deep vein thrombosis</a:t>
                      </a:r>
                    </a:p>
                  </a:txBody>
                  <a:tcPr marL="91440" marR="91440" marT="45720" marB="45720"/>
                </a:tc>
              </a:tr>
              <a:tr h="51858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Melena + orthostasis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Possible clinically important GI bleed</a:t>
                      </a:r>
                    </a:p>
                  </a:txBody>
                  <a:tcPr marL="91440" marR="91440" marT="45720" marB="45720"/>
                </a:tc>
              </a:tr>
              <a:tr h="51858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C44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Edema + orthopnea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Possible decompensated heart failure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78511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67107-75FB-45EC-B698-722E4AEE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PROVISIONAL DISAGREEMENT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DEBF7B-4F8D-46DC-8391-EFAC64B2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Appendix: four possible false urgent cases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74517B-4A79-4671-8892-C9D15E0D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16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76300" y="1619250"/>
          <a:ext xmlns:a="http://schemas.openxmlformats.org/drawingml/2006/main" cx="104394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4095750"/>
                <a:gridCol w="5295900"/>
              </a:tblGrid>
              <a:tr h="628650">
                <a:tc>
                  <a:txBody>
                    <a:bodyPr/>
                    <a:lstStyle/>
                    <a:p>
                      <a:r>
                        <a:t>Case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Signal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Why it requires adjudication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C06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Stable losartan refill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Likely prescriber queue, not emergency capacity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Localized garden rash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spread or airway symptoms described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Localized poison ivy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systemic or airway symptoms described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C46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Stable finasteride refill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Likely prescriber queue, not emergency capacity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2ADFD1-F685-4DEF-BB9B-9ED05E5E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8637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Over-triage is safer than under-triage case by case, but systematic over-triage destroys access and trust.</a:t>
            </a:r>
          </a:p>
        </p:txBody>
      </p:sp>
    </p:spTree>
    <p:extLst>
      <p:ext uri="{BB962C8B-B14F-4D97-AF65-F5344CB8AC3E}">
        <p14:creationId xmlns:p14="http://schemas.microsoft.com/office/powerpoint/2010/main" val="5901790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04F968-3DC2-40BE-B527-664F683D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RESEARCH AND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EB3C3-F8F5-4EF9-B34E-1D7EC0B4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Selected source trail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1D10A-AB05-4C37-9371-BA73DE01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1D2CE2-98D3-4D99-A0E0-F93C5477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5000625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Counsel + Mastra customer case study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Counsel responsible AI governance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Counsel clinical QA with specialist judges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Google g-AMIE physician oversight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Google Med-PaLM clinical evaluation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D2DD7-68E8-4D3A-9DA1-3F3B266B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62100"/>
            <a:ext cx="50482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Google health-equity evaluation toolbox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Anthropic engineering and property testing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Mastra RAG, routing, gates, HITL, FGA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FDA GMLP and CDS guidance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NIST AI RMF Generative AI Profile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DCBD0-75B7-4766-AA60-A2387CC9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72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Full URLs and presentation talk track are embedded in speaker notes.</a:t>
            </a:r>
          </a:p>
        </p:txBody>
      </p:sp>
    </p:spTree>
    <p:extLst>
      <p:ext uri="{BB962C8B-B14F-4D97-AF65-F5344CB8AC3E}">
        <p14:creationId xmlns:p14="http://schemas.microsoft.com/office/powerpoint/2010/main" val="19821847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2026-09-05T22:14:18.7600000Z</dcterms:created>
  <dcterms:modified xsi:type="dcterms:W3CDTF">2026-09-05T22:14:18.7600000Z</dcterms:modified>
</coreProperties>
</file>
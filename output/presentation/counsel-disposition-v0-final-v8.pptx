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1a5106246348d8" /><Relationship Type="http://schemas.openxmlformats.org/officeDocument/2006/relationships/extended-properties" Target="/docProps/app.xml" Id="R69fa8d5cc8214454" /><Relationship Type="http://schemas.openxmlformats.org/officeDocument/2006/relationships/officeDocument" Target="/ppt/presentation.xml" Id="R587b702b06b343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996b9739a84253"/>
  </p:sldMasterIdLst>
  <p:notesMasterIdLst>
    <p:notesMasterId xmlns:r="http://schemas.openxmlformats.org/officeDocument/2006/relationships" r:id="R5c4b948f2bfe47bf"/>
  </p:notesMasterIdLst>
  <p:sldIdLst>
    <p:sldId xmlns:r="http://schemas.openxmlformats.org/officeDocument/2006/relationships" id="256" r:id="R0475bf41041946cd"/>
    <p:sldId xmlns:r="http://schemas.openxmlformats.org/officeDocument/2006/relationships" id="257" r:id="R0014d2c85cfd4567"/>
    <p:sldId xmlns:r="http://schemas.openxmlformats.org/officeDocument/2006/relationships" id="258" r:id="Rd0cfa9b2dae949f5"/>
    <p:sldId xmlns:r="http://schemas.openxmlformats.org/officeDocument/2006/relationships" id="259" r:id="Re0400747d63e4c66"/>
    <p:sldId xmlns:r="http://schemas.openxmlformats.org/officeDocument/2006/relationships" id="260" r:id="Rb9cf118cc41743f8"/>
    <p:sldId xmlns:r="http://schemas.openxmlformats.org/officeDocument/2006/relationships" id="261" r:id="R8fecba6c1c49407c"/>
    <p:sldId xmlns:r="http://schemas.openxmlformats.org/officeDocument/2006/relationships" id="262" r:id="R7f11438940634617"/>
    <p:sldId xmlns:r="http://schemas.openxmlformats.org/officeDocument/2006/relationships" id="263" r:id="Rcf122bf76eef458c"/>
    <p:sldId xmlns:r="http://schemas.openxmlformats.org/officeDocument/2006/relationships" id="264" r:id="R3a780e2f8fb149fc"/>
    <p:sldId xmlns:r="http://schemas.openxmlformats.org/officeDocument/2006/relationships" id="265" r:id="R753a73714e1044dc"/>
    <p:sldId xmlns:r="http://schemas.openxmlformats.org/officeDocument/2006/relationships" id="266" r:id="Rd92d323ca775406b"/>
    <p:sldId xmlns:r="http://schemas.openxmlformats.org/officeDocument/2006/relationships" id="267" r:id="R15bceca8e538400c"/>
    <p:sldId xmlns:r="http://schemas.openxmlformats.org/officeDocument/2006/relationships" id="268" r:id="R4304bf578c104fb1"/>
    <p:sldId xmlns:r="http://schemas.openxmlformats.org/officeDocument/2006/relationships" id="269" r:id="Red4775b8ab604997"/>
    <p:sldId xmlns:r="http://schemas.openxmlformats.org/officeDocument/2006/relationships" id="270" r:id="R4e558966272340ae"/>
    <p:sldId xmlns:r="http://schemas.openxmlformats.org/officeDocument/2006/relationships" id="271" r:id="R010ea5071c954c67"/>
    <p:sldId xmlns:r="http://schemas.openxmlformats.org/officeDocument/2006/relationships" id="272" r:id="R000a9f0020ba45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2c31aa14bb45fa" /><Relationship Type="http://schemas.openxmlformats.org/officeDocument/2006/relationships/slideMaster" Target="/ppt/slideMasters/slideMaster1.xml" Id="Rcd996b9739a84253" /><Relationship Type="http://schemas.openxmlformats.org/officeDocument/2006/relationships/notesMaster" Target="/ppt/notesMasters/notesMaster1.xml" Id="R5c4b948f2bfe47bf" /><Relationship Type="http://schemas.openxmlformats.org/officeDocument/2006/relationships/presProps" Target="/ppt/presProps.xml" Id="R8944cf79103e4ef8" /><Relationship Type="http://schemas.openxmlformats.org/officeDocument/2006/relationships/tableStyles" Target="/ppt/tableStyles.xml" Id="R29b5cac158ec47cd" /><Relationship Type="http://schemas.openxmlformats.org/officeDocument/2006/relationships/slide" Target="/ppt/slides/slide1.xml" Id="R0475bf41041946cd" /><Relationship Type="http://schemas.openxmlformats.org/officeDocument/2006/relationships/slide" Target="/ppt/slides/slide2.xml" Id="R0014d2c85cfd4567" /><Relationship Type="http://schemas.openxmlformats.org/officeDocument/2006/relationships/slide" Target="/ppt/slides/slide3.xml" Id="Rd0cfa9b2dae949f5" /><Relationship Type="http://schemas.openxmlformats.org/officeDocument/2006/relationships/slide" Target="/ppt/slides/slide4.xml" Id="Re0400747d63e4c66" /><Relationship Type="http://schemas.openxmlformats.org/officeDocument/2006/relationships/slide" Target="/ppt/slides/slide5.xml" Id="Rb9cf118cc41743f8" /><Relationship Type="http://schemas.openxmlformats.org/officeDocument/2006/relationships/slide" Target="/ppt/slides/slide6.xml" Id="R8fecba6c1c49407c" /><Relationship Type="http://schemas.openxmlformats.org/officeDocument/2006/relationships/slide" Target="/ppt/slides/slide7.xml" Id="R7f11438940634617" /><Relationship Type="http://schemas.openxmlformats.org/officeDocument/2006/relationships/slide" Target="/ppt/slides/slide8.xml" Id="Rcf122bf76eef458c" /><Relationship Type="http://schemas.openxmlformats.org/officeDocument/2006/relationships/slide" Target="/ppt/slides/slide9.xml" Id="R3a780e2f8fb149fc" /><Relationship Type="http://schemas.openxmlformats.org/officeDocument/2006/relationships/slide" Target="/ppt/slides/slide10.xml" Id="R753a73714e1044dc" /><Relationship Type="http://schemas.openxmlformats.org/officeDocument/2006/relationships/slide" Target="/ppt/slides/slide11.xml" Id="Rd92d323ca775406b" /><Relationship Type="http://schemas.openxmlformats.org/officeDocument/2006/relationships/slide" Target="/ppt/slides/slide12.xml" Id="R15bceca8e538400c" /><Relationship Type="http://schemas.openxmlformats.org/officeDocument/2006/relationships/slide" Target="/ppt/slides/slide13.xml" Id="R4304bf578c104fb1" /><Relationship Type="http://schemas.openxmlformats.org/officeDocument/2006/relationships/slide" Target="/ppt/slides/slide14.xml" Id="Red4775b8ab604997" /><Relationship Type="http://schemas.openxmlformats.org/officeDocument/2006/relationships/slide" Target="/ppt/slides/slide15.xml" Id="R4e558966272340ae" /><Relationship Type="http://schemas.openxmlformats.org/officeDocument/2006/relationships/slide" Target="/ppt/slides/slide16.xml" Id="R010ea5071c954c67" /><Relationship Type="http://schemas.openxmlformats.org/officeDocument/2006/relationships/slide" Target="/ppt/slides/slide17.xml" Id="R000a9f0020ba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8cc2b964a346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85d3fcd1914b00" /><Relationship Type="http://schemas.openxmlformats.org/officeDocument/2006/relationships/notesMaster" Target="/ppt/notesMasters/notesMaster1.xml" Id="R31be15ae4fe343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67a6c422a14a37" /><Relationship Type="http://schemas.openxmlformats.org/officeDocument/2006/relationships/notesMaster" Target="/ppt/notesMasters/notesMaster1.xml" Id="R9a705ed6712c46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7259dd5f97404d" /><Relationship Type="http://schemas.openxmlformats.org/officeDocument/2006/relationships/notesMaster" Target="/ppt/notesMasters/notesMaster1.xml" Id="Re269db0ac9f24c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173dc7c00a494d" /><Relationship Type="http://schemas.openxmlformats.org/officeDocument/2006/relationships/notesMaster" Target="/ppt/notesMasters/notesMaster1.xml" Id="R5a9e418472d349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d54f626e3c4956" /><Relationship Type="http://schemas.openxmlformats.org/officeDocument/2006/relationships/notesMaster" Target="/ppt/notesMasters/notesMaster1.xml" Id="Rea38f872533d49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24cd1c8df748bc" /><Relationship Type="http://schemas.openxmlformats.org/officeDocument/2006/relationships/notesMaster" Target="/ppt/notesMasters/notesMaster1.xml" Id="Rc4f09762b36844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9910ad94b64ba4" /><Relationship Type="http://schemas.openxmlformats.org/officeDocument/2006/relationships/notesMaster" Target="/ppt/notesMasters/notesMaster1.xml" Id="R2d9492ee11d947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720a2586e7422c" /><Relationship Type="http://schemas.openxmlformats.org/officeDocument/2006/relationships/notesMaster" Target="/ppt/notesMasters/notesMaster1.xml" Id="Rc426e159955645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dbec90118f43aa" /><Relationship Type="http://schemas.openxmlformats.org/officeDocument/2006/relationships/notesMaster" Target="/ppt/notesMasters/notesMaster1.xml" Id="R00533769b7b549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88c6b62c6e4be0" /><Relationship Type="http://schemas.openxmlformats.org/officeDocument/2006/relationships/notesMaster" Target="/ppt/notesMasters/notesMaster1.xml" Id="R3091894754c146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19788bde4d4fbb" /><Relationship Type="http://schemas.openxmlformats.org/officeDocument/2006/relationships/notesMaster" Target="/ppt/notesMasters/notesMaster1.xml" Id="Rf62670c2f81c47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ea830ed3fb45fd" /><Relationship Type="http://schemas.openxmlformats.org/officeDocument/2006/relationships/notesMaster" Target="/ppt/notesMasters/notesMaster1.xml" Id="R2c3450fd94184c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8125c6ca8f4610" /><Relationship Type="http://schemas.openxmlformats.org/officeDocument/2006/relationships/notesMaster" Target="/ppt/notesMasters/notesMaster1.xml" Id="R7b7cfc0c7f6e42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0e42ab4c2e4c5d" /><Relationship Type="http://schemas.openxmlformats.org/officeDocument/2006/relationships/notesMaster" Target="/ppt/notesMasters/notesMaster1.xml" Id="R4909655936934a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552bf42b9a4bb8" /><Relationship Type="http://schemas.openxmlformats.org/officeDocument/2006/relationships/notesMaster" Target="/ppt/notesMasters/notesMaster1.xml" Id="Ra015e3aff34f40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8e9769bbee4b54" /><Relationship Type="http://schemas.openxmlformats.org/officeDocument/2006/relationships/notesMaster" Target="/ppt/notesMasters/notesMaster1.xml" Id="R388cae89ee9341a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79fa7ac7524291" /><Relationship Type="http://schemas.openxmlformats.org/officeDocument/2006/relationships/notesMaster" Target="/ppt/notesMasters/notesMaster1.xml" Id="R8f70760450524f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decision: this is a narrow, auditable routing workflow, not an AI doctor and not a clinical performance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goal is to improve the care handoff: the right message reaches the right accountable person at the right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Counsel Physician AI Engineer Take-Home Project 8.7.26 (supplied PDF).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brief says 20 messages. The delivered CSV has 50, so I kept and evaluated all 50 rather than silently choosing a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performed a case-by-case safety review and found 12 disagreements: eight possible under-triage errors and four possible over-triage errors. These are hypotheses for clinician adjudication, not new truth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rules were written with the full slice visible. That is useful for regression testing and invalid for a generalization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PDF and CSV. CSV SHA-256: d17771ed706c6866d2b13f2d7f5344824acf51aaf281b8af6368637586d71a15.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 (current public product describes support for adults 18+; the supplied data includes pediatric rows).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route is not a diagnosis. Each label must map to a time window, an accountable owner, and an observable operational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SELF_CARE does not mean an unreviewed generative message goes to a patient. In V0, it is only a routing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Unknown inputs go to a clinician. A safety-system failure goes to urgent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supplied take-home PDF; implementation contract in README.md and docs/TAKE_HOME_ACCOUNTING.md.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real registered workflow in Mastra Studio, not a conceptual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red-flag checklist and intent/history step run in parallel. The hard escalation gate executes before residual routing.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emergency branch shares no mutable state with the intent branch. Downstream routing is structurally unable to downgrade a locked urgent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Mastra Studio screenshot from the synthetic V0; src/mastra/workflows/disposition-workflow.ts.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 (Counsel describes parallel supervisor agents running alongside core patient-history agents).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live-demo backup if Studio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C08, verify disposition URGENT_ESCALATION, subtype ed_911, locked true, overrideBlocked true, origin hard_gate, and thunderclap_or_sah in the red flags.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Then run the mixed-intent attack: a refill request plus crushing chest pain. The emergency result must dominate.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local Mastra Studio screenshot using the supplied synthetic C08 message.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evaluation uses an asymmetric harm cost: urgent to self-care costs 25; urgent to async costs 20; over-triage costs less.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Wilson intervals quantify sampling uncertainty conditional on the provisional labels. They do not fix label uncertainty or development leakage.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Always urgent has lower cost than the supplied labels despite 44% accuracy. This exposes a Goodhart failure in the single cost metric. Release thresholds must jointly constrain recall, precision, workload, and completed escalation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outputs/metrics.json and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evidence boundary explicit before anyone asks. This is a verified software artifact and a clinically unvalidated reference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Karan Singhal's Med-PaLM work is relevant here: automated benchmark scores are not sufficient; clinical quality needs human review of factuality, reasoning, possible harm, and bias.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https://research.google/pubs/large-language-models-encode-clinical-knowledge/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https://research.google/pubs/a-toolbox-for-surfacing-health-equity-harms-and-biases-in-large-language-models/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suite includes mutation attempts against the router, branch fault injection, privacy canaries, actual Mastra parity, persisted-trace readback, and a production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component ablation is causal within the synthetic corpus: removing the emergency lane produces 22 urgent misses on the 50-case reference and 18 on the red team. Retrieval failure preserves urgent recall and removes self-care utility.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Boris Cherny's public engineering guidance emphasizes explicit targets, test-run-iterate loops, and visual verification. Anthropic's property-based testing work motivates asserting invariants and searching for counterexamples rather than accumulating only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https://www.anthropic.com/engineering/claude-code-best-practices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https://www.anthropic.com/research/property-based-testing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repository tests/, scripts/red-team.mjs, and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Computer use is useful now for the Studio graph and trace UI. It is not a substitute for API-level assertions.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 multi-turn successor, use Mastra multi-turn evals across the entire conversation. Use binary gates for deterministic actions and LLM judges only for subjective communication quality, calibrated against clinician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Durable suspend/resume would require an approved encrypted or tokenized store. The current V0 intentionally disables durable raw workflow snapshots.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https://mastra.ai/blog/introducing-multi-turn-evals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https://mastra.ai/blog/hitl-where-to-put-approval-in-agents-and-workflows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https://mastra.ai/blog/introducing-fine-grained-authorization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https://mastra.ai/blog/introducing-gates-and-verdicts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primary clinical measure is not a displayed label. It is whether the urgent handoff is recognized and completed within the intended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Pre-specify thresholds, subgroup minimums, missing-data policy, and stopping rules before opening the holdout.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Counsel's public governance writing similarly emphasizes hard stops, mandatory physician escalation, auditability, and lifecycle monitoring.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https://www.counselhealth.com/blog/responsible-ai-governance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https://www.fda.gov/medical-devices/software-medical-device-samd/good-machine-learning-practice-medical-device-development-guiding-principles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https://www.nist.gov/publications/artificial-intelligence-risk-management-framework-generative-artificial-intelligence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zoom-out: routing is only the first control point in a supervised care pathway.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Counsel's Mastra case study describes patient history agents, parallel emergency supervisors, custom RAG over guidelines and records, and a physician cockpit.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published g-AMIE study describes history gathering and clinician-facing drafts with physician oversight.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https://research.google/blog/enabling-physician-centered-oversight-for-amie/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https://www.counselhealth.com/blog/rag-ai-framework-enhancing-patient-care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Counsel's public stack supports all four directions, but its stated values also emphasize simplicity and doing fewer things well.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full-stack role names Next.js, Tailwind, Postgres/Supabase, and AWS. The current backend role describes a production RAG/search harness over structured and unstructured health data with strict permission and audit guarantees.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V0 therefore adds a typed retrieval contract, not a vector database. At five policy snippets, vector search has no demonstrated retrieval benefit.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Tailwind interface becomes valuable when we can test a physician cockpit. Kubernetes becomes valuable after a PHI, tenant, load, and reliability envelope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https://jobs.ashbyhq.com/counsel/12cf0cf3-73db-49d4-84a0-dd8b280e6337/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https://jobs.ashbyhq.com/counsel/cc81ba06-2dd8-408f-8aba-833f332e11cd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https://www.counselhealth.com/blog/rag-ai-framework-enhancing-patient-care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https://mastra.ai/rag-pipeline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Mastra creates the valuable comparison: one agent contract, one tool surface, one trace/eval system, and provider-neutral model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models only where open-ended synthesis can help. The deterministic workflow computes disposition first and passes it as locked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at least five trials per case on an untouched patient-and-episode holdout. Randomize and blind outputs. Use deterministic gates, cross-provider decomposed judges, and two calibrated clinicians.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 from the quality, safety, latency, and cost frontier. Do not infer a universal winner from an average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configs/model-bakeoff.json and docs/MODEL_BAKEOFF.md.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https://developers.openai.com/api/docs/models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https://docs.anthropic.com/en/docs/about-claude/model-deprecations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https://www.anthropic.com/engineering/demystifying-evals-for-ai-agents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https://mastra.ai/blog/model-router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decision, not a feature roadmap. The V0 is worth continuing because it exposes the right system boundaries and can be tested rigorously.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next unit of evidence is not another prompt. It is an adjudicated protocol and untouched holdout, followed by human-factors and shadow-mode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longer-term health mission is credible only if the system measurably expands safe access for underserved patients without hiding uncertainty or shifting risk to clinicians.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docs/TAKE_HOME_ACCOUNTING.md and docs/VALIDATION_PLAN.md.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reviewer hypotheses. A blinded multi-clinician study must decide the intended route and timing for the actual Counsel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guidance supports prioritizing review of transient stroke symptoms, acute thunderclap headache, and possible cauda equina syndrome.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data/gold_standard.csv and data/REFERENCE_STANDARD.md.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https://newsroom.heart.org/news/stroke-symptoms-even-if-they-disappear-within-an-hour-need-emergency-assessment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https://www.acep.org/siteassets/sites/acep/media/clinical-policies/cp-headache.pdf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https://www.nice.org.uk/guidance/ng127/chapter/Recommendations-for-adults-aged-over-16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always-urgent baseline makes this tradeoff visible. It achieves perfect urgent recall and only 44% accuracy, with a lower weighted cost than the supplied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is why clinical utility needs capacity and workload constraints in addition to a safety-weighted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data/gold_standard.csv, outputs/metrics.json, and docs/EVALUATION.md.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Counsel and Mastra: https://mastra.ai/customers/counsel-health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mission: https://www.counselhealth.com/about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governance: https://www.counselhealth.com/blog/responsible-ai-governance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clinical QA: https://www.counselhealth.com/blog/scaling-clinical-quality-assurance-with-ai-judges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RAG: https://www.counselhealth.com/blog/rag-ai-framework-enhancing-patient-care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full-stack role: https://jobs.ashbyhq.com/counsel/12cf0cf3-73db-49d4-84a0-dd8b280e6337/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Counsel backend role: https://jobs.ashbyhq.com/counsel/cc81ba06-2dd8-408f-8aba-833f332e11cd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g-AMIE: https://research.google/blog/enabling-physician-centered-oversight-for-amie/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Med-PaLM: https://research.google/pubs/large-language-models-encode-clinical-knowledge/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health-equity toolbox: https://research.google/pubs/a-toolbox-for-surfacing-health-equity-harms-and-biases-in-large-language-models/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best practices: https://www.anthropic.com/engineering/claude-code-best-practices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property testing: https://www.anthropic.com/research/property-based-testing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agent evals: https://www.anthropic.com/engineering/demystifying-evals-for-ai-agents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Anthropic model lifecycle: https://docs.anthropic.com/en/docs/about-claude/model-deprecations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model guidance: https://developers.openai.com/api/docs/models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RAG: https://mastra.ai/rag-pipeline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model router: https://mastra.ai/blog/model-router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eval gates: https://mastra.ai/blog/introducing-gates-and-verdicts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multi-turn evals: https://mastra.ai/blog/introducing-multi-turn-evals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HITL: https://mastra.ai/blog/hitl-where-to-put-approval-in-agents-and-workflows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Mastra FGA: https://mastra.ai/blog/introducing-fine-grained-authorization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FDA GMLP: https://www.fda.gov/medical-devices/software-medical-device-samd/good-machine-learning-practice-medical-device-development-guiding-principles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FDA CDS: https://www.fda.gov/regulatory-information/search-fda-guidance-documents/clinical-decision-support-software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RMF GenAI Profile: https://www.nist.gov/publications/artificial-intelligence-risk-management-framework-generative-artificial-intelligence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842ad6d474d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f8e584e26c4d04" /><Relationship Type="http://schemas.openxmlformats.org/officeDocument/2006/relationships/slideLayout" Target="/ppt/slideLayouts/slideLayout1.xml" Id="Raacb0d25b46442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cb0d25b46442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24d5a59294b1e" /><Relationship Type="http://schemas.openxmlformats.org/officeDocument/2006/relationships/notesSlide" Target="/ppt/notesSlides/notesSlide1.xml" Id="Rb7da2d50ea344f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929b986094639" /><Relationship Type="http://schemas.openxmlformats.org/officeDocument/2006/relationships/notesSlide" Target="/ppt/notesSlides/notesSlide2.xml" Id="Rf833b1de7c7a4c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f69cfeb7b492a" /><Relationship Type="http://schemas.openxmlformats.org/officeDocument/2006/relationships/notesSlide" Target="/ppt/notesSlides/notesSlide3.xml" Id="R36868cdc8bba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344551acd4aca" /><Relationship Type="http://schemas.openxmlformats.org/officeDocument/2006/relationships/image" Target="/ppt/media/image.jpeg" Id="R1e56dc83c179454a" /><Relationship Type="http://schemas.openxmlformats.org/officeDocument/2006/relationships/notesSlide" Target="/ppt/notesSlides/notesSlide4.xml" Id="R7eafa532e7c04d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16ca2caa64fc6" /><Relationship Type="http://schemas.openxmlformats.org/officeDocument/2006/relationships/image" Target="/ppt/media/image2.jpeg" Id="R1cc86cace38f417d" /><Relationship Type="http://schemas.openxmlformats.org/officeDocument/2006/relationships/notesSlide" Target="/ppt/notesSlides/notesSlide5.xml" Id="R884fc86b8a5045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3b3fe45f14cee" /><Relationship Type="http://schemas.openxmlformats.org/officeDocument/2006/relationships/notesSlide" Target="/ppt/notesSlides/notesSlide6.xml" Id="Rd00c5185ddf34b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aa957aca143b4" /><Relationship Type="http://schemas.openxmlformats.org/officeDocument/2006/relationships/notesSlide" Target="/ppt/notesSlides/notesSlide7.xml" Id="R31df0972cb5849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1403a92ff4d02" /><Relationship Type="http://schemas.openxmlformats.org/officeDocument/2006/relationships/notesSlide" Target="/ppt/notesSlides/notesSlide8.xml" Id="Reef9b01045bd40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0d203b9d0443b" /><Relationship Type="http://schemas.openxmlformats.org/officeDocument/2006/relationships/notesSlide" Target="/ppt/notesSlides/notesSlide9.xml" Id="Rc163a467b23e41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d80088f554306" /><Relationship Type="http://schemas.openxmlformats.org/officeDocument/2006/relationships/notesSlide" Target="/ppt/notesSlides/notesSlide10.xml" Id="Rfbadd348f1c648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896ef497b4062" /><Relationship Type="http://schemas.openxmlformats.org/officeDocument/2006/relationships/notesSlide" Target="/ppt/notesSlides/notesSlide11.xml" Id="R33ccb2764a7342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557f25e3444c4" /><Relationship Type="http://schemas.openxmlformats.org/officeDocument/2006/relationships/notesSlide" Target="/ppt/notesSlides/notesSlide12.xml" Id="Rae2c052dc2b542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103fd10744350" /><Relationship Type="http://schemas.openxmlformats.org/officeDocument/2006/relationships/notesSlide" Target="/ppt/notesSlides/notesSlide13.xml" Id="R45b4e079ba8f43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c6f20caf548ae" /><Relationship Type="http://schemas.openxmlformats.org/officeDocument/2006/relationships/notesSlide" Target="/ppt/notesSlides/notesSlide14.xml" Id="Rfc1a136ecd5642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3684c096f4149" /><Relationship Type="http://schemas.openxmlformats.org/officeDocument/2006/relationships/notesSlide" Target="/ppt/notesSlides/notesSlide15.xml" Id="R3a8e858fecca4b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f634b30184e99" /><Relationship Type="http://schemas.openxmlformats.org/officeDocument/2006/relationships/notesSlide" Target="/ppt/notesSlides/notesSlide16.xml" Id="Ra1a0ed17acaf4e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9841318444ead" /><Relationship Type="http://schemas.openxmlformats.org/officeDocument/2006/relationships/notesSlide" Target="/ppt/notesSlides/notesSlide17.xml" Id="R8ed3f11959d441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64E7B-8CF3-4D6B-9139-47D7FA3F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71D4C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71D4C3"/>
                </a:solidFill>
                <a:latin typeface="Avenir Next"/>
                <a:ea typeface="Avenir Next"/>
                <a:cs typeface="Avenir Next"/>
              </a:rPr>
              <a:t>PHYSICIAN AI ENGINEER TAKE-HOME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80C61-3EED-47D5-870A-4226CA03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safer front door</a:t>
            </a:r>
          </a:p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for asynchronous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F661A-7D32-488D-9B92-F1A71EB7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BDD7D2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BDD7D2"/>
                </a:solidFill>
                <a:latin typeface="Avenir Next"/>
                <a:ea typeface="Avenir Next"/>
                <a:cs typeface="Avenir Next"/>
              </a:rPr>
              <a:t>Disposition V0  |  Mastra 1.64.0  |  50 synthetic messages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7835D-E631-4A31-89BD-36E3181A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F7DDBD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F7DDBD"/>
                </a:solidFill>
                <a:latin typeface="Avenir Next"/>
                <a:ea typeface="Avenir Next"/>
                <a:cs typeface="Avenir Next"/>
              </a:rPr>
              <a:t>Decision support only. No diagnosis, treatment, chart write, or autonomous dispatch.</a:t>
            </a:r>
          </a:p>
        </p:txBody>
      </p:sp>
    </p:spTree>
    <p:extLst>
      <p:ext uri="{BB962C8B-B14F-4D97-AF65-F5344CB8AC3E}">
        <p14:creationId xmlns:p14="http://schemas.microsoft.com/office/powerpoint/2010/main" val="156451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5671C-9A58-4A75-B120-24BDF746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101CC-7670-4AF8-A1B9-169B06B3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first discovery was a data-quality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DA5A3-C455-49B6-B0D2-F9CAE1D7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99C27-D456-4B5C-9274-F6D8E9E1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EB1A2-A5A6-4AF3-AFAE-041208A0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messages in the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0443A-832F-4A3F-B6C5-BC773D67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1D1CE-3A85-4DB0-8FD7-1596C2E4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rows in the supplied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59E4B-3812-4909-AE46-DABDB70F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145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BC12A-F9F2-4CCF-9A4F-0467000E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label disagreements to adjudicate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19150" y="3810000"/>
          <a:ext xmlns:a="http://schemas.openxmlformats.org/drawingml/2006/main" cx="104584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333500"/>
                <a:gridCol w="6076950"/>
              </a:tblGrid>
              <a:tr h="476250">
                <a:tc>
                  <a:txBody>
                    <a:bodyPr/>
                    <a:lstStyle/>
                    <a:p>
                      <a:r>
                        <a:t>Review finding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missed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TIA, thunderclap headache, cauda equina, GI bleed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Possible false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refills, localized dermatitis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618C1-57E7-4B1C-BD46-98C0980F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Use all 50. Preserve the supplied labels. Call the new set provisional, not gold.</a:t>
            </a:r>
          </a:p>
        </p:txBody>
      </p:sp>
    </p:spTree>
    <p:extLst>
      <p:ext uri="{BB962C8B-B14F-4D97-AF65-F5344CB8AC3E}">
        <p14:creationId xmlns:p14="http://schemas.microsoft.com/office/powerpoint/2010/main" val="1228954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19DD2-11CB-4BE7-A338-9D235B47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PRODUCT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3B5A7-90B3-4217-8246-8E3B8728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V0 stops at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E328A-E317-475E-B725-3AB2B440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143250"/>
                <a:gridCol w="2381250"/>
                <a:gridCol w="2724150"/>
              </a:tblGrid>
              <a:tr h="785813"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Operational meaning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Accountable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V0 action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URGENT_</a:t>
                      </a:r>
                    </a:p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ESCALATION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May not safely wait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Safety ops / clinician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Lock route; show directive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ASYNC_</a:t>
                      </a:r>
                    </a:p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PHYSICIAN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Clinical judgment needed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Licensed clinician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Place in review queue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SELF_CARE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Named low-risk pattern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Approved content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Route; do not send advice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80CBE-EC35-48A1-9C64-476B3097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Excluded: diagnosis, prescribing, orders, chart mutation, patient messaging, emergency dispatch.</a:t>
            </a:r>
          </a:p>
        </p:txBody>
      </p:sp>
    </p:spTree>
    <p:extLst>
      <p:ext uri="{BB962C8B-B14F-4D97-AF65-F5344CB8AC3E}">
        <p14:creationId xmlns:p14="http://schemas.microsoft.com/office/powerpoint/2010/main" val="1933003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D34E3-A1E8-4B0E-A2F7-3716A8E5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EXECUTABLE MASTRA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F8116-440E-41A5-9F30-012E3C78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emergency supervisor runs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32654-2BC8-4624-AB4E-708C1821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6dc83c179454a"/>
          <a:stretch xmlns:a="http://schemas.openxmlformats.org/drawingml/2006/main"/>
        </p:blipFill>
        <p:spPr>
          <a:xfrm xmlns:a="http://schemas.openxmlformats.org/drawingml/2006/main">
            <a:off x="1735667" y="1295400"/>
            <a:ext cx="8720667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05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C1CE0-3341-4C64-881B-8C41ABD8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LIVE SYNTHETIC RUN: C08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E8A74-A87C-4207-ADC4-5C5D32F3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 red flag becomes a non-bypassable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8E833-F982-4622-BB4E-F58D7912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86cace38f417d"/>
          <a:stretch xmlns:a="http://schemas.openxmlformats.org/drawingml/2006/main"/>
        </p:blipFill>
        <p:spPr>
          <a:xfrm xmlns:a="http://schemas.openxmlformats.org/drawingml/2006/main">
            <a:off x="1693333" y="1295400"/>
            <a:ext cx="8805333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5720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73A38-4AB3-4A33-9223-A83BAFD3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IN-SAMPLE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1080E-67C8-4B36-8D09-160E6FFE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result is useful only with its caveat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87DAF-6292-47FF-BFC3-AD2B763E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485900"/>
          <a:ext xmlns:a="http://schemas.openxmlformats.org/drawingml/2006/main" cx="1085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857500"/>
                <a:gridCol w="2476500"/>
                <a:gridCol w="1524000"/>
              </a:tblGrid>
              <a:tr h="647700">
                <a:tc>
                  <a:txBody>
                    <a:bodyPr/>
                    <a:lstStyle/>
                    <a:p>
                      <a:r>
                        <a:t>System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Accuracy (95% CI)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recall (95% CI)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V0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 (0.929–1.000)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 (0.851–1.000)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Supplied 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0.760 (0.626–0.857)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0.636 (0.430–0.803)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169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Always async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446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Always urgent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1.000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33ADB-A18D-4ABE-A35F-FB857E05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The V0 saw the test rows during development. Treat 1.00 as a saturated regression suite.</a:t>
            </a:r>
          </a:p>
        </p:txBody>
      </p:sp>
    </p:spTree>
    <p:extLst>
      <p:ext uri="{BB962C8B-B14F-4D97-AF65-F5344CB8AC3E}">
        <p14:creationId xmlns:p14="http://schemas.microsoft.com/office/powerpoint/2010/main" val="1586698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EFDCD-5BB5-4F68-9FED-FB831EB6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EVIDENCE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B965-0DB6-4710-BB32-0C9CABDA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1.00 does not mean clinically validated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49F45-15F4-44BD-BA88-26E7D2FF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2CF70-4424-47C3-8A2D-E2192544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69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1.00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3EDB8-39B5-493C-9B1F-2DCF4168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in-sample exact disposition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911FA-0E2F-4080-A310-1E540871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64293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Single reviewer; no blinded clinician adjudication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Rules authored after seeing all 50 cases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Synthetic slice; no patient or episode holdout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Three labels collapse destination, timing, and completion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025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No evidence yet on workload, equity, or downstream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9CEAA-9E07-450D-A984-D82FBBC0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Claim supported: the implementation reproduces its declared policy and protects its hard-gate invariant.</a:t>
            </a:r>
          </a:p>
        </p:txBody>
      </p:sp>
    </p:spTree>
    <p:extLst>
      <p:ext uri="{BB962C8B-B14F-4D97-AF65-F5344CB8AC3E}">
        <p14:creationId xmlns:p14="http://schemas.microsoft.com/office/powerpoint/2010/main" val="97050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49A08-2BFD-49B9-90EB-3A99852B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RED TEAM AND 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676F5-2BA7-4B92-B548-57A1A460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Verification targets concrete failure modes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EDAF6-24CE-40E3-9030-73D2696B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466850"/>
          <a:ext xmlns:a="http://schemas.openxmlformats.org/drawingml/2006/main" cx="108585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76750"/>
                <a:gridCol w="3810000"/>
              </a:tblGrid>
              <a:tr h="650875">
                <a:tc>
                  <a:txBody>
                    <a:bodyPr/>
                    <a:lstStyle/>
                    <a:p>
                      <a:r>
                        <a:t>Layer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is exercised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Release condition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Contracts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Schemas, boundaries, determinism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Reject malformed state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Safety properties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Gate dominance, no downgrade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All invariants hold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Fault injection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Either parallel branch fails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Conservative route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Adversarial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Negation, Unicode, mixed intent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urgent miss; no leakage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Real Mastra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Parity, runEvals, Studio, build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Binary gates = 1.0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DA8E3-C411-4F59-A9FF-C9F8B725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Current suite: 21 local checks, 5 Mastra checks, 35 adversarial cases, 50 eval cases</a:t>
            </a:r>
          </a:p>
        </p:txBody>
      </p:sp>
    </p:spTree>
    <p:extLst>
      <p:ext uri="{BB962C8B-B14F-4D97-AF65-F5344CB8AC3E}">
        <p14:creationId xmlns:p14="http://schemas.microsoft.com/office/powerpoint/2010/main" val="2112399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6798E-509B-4C1E-9DEE-BF29D39B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MULTI-TURN HISTORY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854E8-4E28-4BCF-9770-579DCB67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Test the whole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AC18E-53ED-4507-ADC0-14138398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953000"/>
                <a:gridCol w="3067050"/>
              </a:tblGrid>
              <a:tr h="66675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Test in Mastra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Hard release rule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Urgency delay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 appears on any turn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Never ask or suspend after signal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Unsafe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Approval bound to exact tool arguments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approval, no side effect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Resume abuse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Stale, duplicate, unauthorized resume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Fail closed; audit actor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Agent 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Tool order, loops, context truncation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Deterministic gate still owns route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Silent quality loss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Versioned datasets, trace feedback, live 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Alert and stop by threshold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65E20-E68B-4BBF-9DDB-597D862F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Judge communication with clinicians. Verify routing, tools, approvals, and state in code.</a:t>
            </a:r>
          </a:p>
        </p:txBody>
      </p:sp>
    </p:spTree>
    <p:extLst>
      <p:ext uri="{BB962C8B-B14F-4D97-AF65-F5344CB8AC3E}">
        <p14:creationId xmlns:p14="http://schemas.microsoft.com/office/powerpoint/2010/main" val="1908933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C76C4-B781-4D90-858A-9BE63456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BEFORE ANY PATIENT-FACING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E98CF-AEB4-4B11-B679-3D9C7486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Clinical evidence is a gated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6A747-FC61-4948-866F-46D2A6D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400675"/>
                <a:gridCol w="3143250"/>
              </a:tblGrid>
              <a:tr h="698500">
                <a:tc>
                  <a:txBody>
                    <a:bodyPr/>
                    <a:lstStyle/>
                    <a:p>
                      <a:r>
                        <a:t>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Required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Stop condition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Blinded clinicians, adjudication, uncertainty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Undefined destination or owner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Holdout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Patient/episode separation, CIs, severity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Urgent bound missed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Equity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Subgroups, intersections, language, access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Material disparity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Human factors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Inbox load, interruption, alert fatigue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Delayed or incomplete escalation</a:t>
                      </a:r>
                    </a:p>
                  </a:txBody>
                  <a:tcPr marL="91440" marR="91440" marT="45720" marB="4572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Shadow mode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Every result reviewed; outcomes and drift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Near miss, privacy, or availability event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99A78-68C6-4290-8506-7709F054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No PHI, integration, or controlled release until clinical, safety, privacy, security, and operations owners sign off.</a:t>
            </a:r>
          </a:p>
        </p:txBody>
      </p:sp>
    </p:spTree>
    <p:extLst>
      <p:ext uri="{BB962C8B-B14F-4D97-AF65-F5344CB8AC3E}">
        <p14:creationId xmlns:p14="http://schemas.microsoft.com/office/powerpoint/2010/main" val="944348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7587F-9596-40FE-BA83-43A555F7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COUNSEL-SHAPED NEXT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E0D78-7E3A-414D-A1B5-8C23C02C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Build capacity around the physician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92881-C00B-470E-8026-9A78075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62F85-32CF-40ED-B804-F7BC509F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E386A-59B6-483A-9138-E392A58A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Collect only the history that changes the next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D4718-B00C-4EB1-BBD0-3F5D347A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CE672-D115-40DA-995F-D859D776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146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Retrieve longitudinal record, local guidance, and in-network options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3E560-B83B-483C-AA5C-F98B1752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29D61-FA6D-409D-9B4B-B610CF46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8140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Give the physician a concise cockpit with provenance and 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AD3D8-49AE-4382-9FF1-9533CDF9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73834-C59D-47A8-A512-266FD636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Measure safe resolution, time saved, continuity, and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47F63-256C-492A-8F98-593F1573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The outcome is accountable care delivered, not an impressive model response.</a:t>
            </a:r>
          </a:p>
        </p:txBody>
      </p:sp>
    </p:spTree>
    <p:extLst>
      <p:ext uri="{BB962C8B-B14F-4D97-AF65-F5344CB8AC3E}">
        <p14:creationId xmlns:p14="http://schemas.microsoft.com/office/powerpoint/2010/main" val="14026511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AEDBB-D5A7-4FDE-AC33-83E20D52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STACK ALIGNMENT AND EVIDENCE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0DC47-91B8-4540-B0C0-5B8ED6EE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Four technologies, four admission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5305F-5BB6-4885-9CFF-F90E5415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14350" y="1390650"/>
          <a:ext xmlns:a="http://schemas.openxmlformats.org/drawingml/2006/main" cx="111633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2190750"/>
                <a:gridCol w="3305175"/>
                <a:gridCol w="3714750"/>
              </a:tblGrid>
              <a:tr h="704850"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it adds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Evidence required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RAG + vector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Next increment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Longitudinal context and sourced guidance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Recall, entailment, freshness, tenant isolation, no urgent-route regression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Tailwind cockpit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After retrieval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Clinician provenance and action surface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Faster review with no missed warning, false certainty, or accessibility loss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Kubernetes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Production boundary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Isolation, rollout, recovery, scale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Owned SLO, load, failover, least privilege, rollback, incident exercise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Mastra model router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Controlled bakeoff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contract across GPT and Claude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Frozen tools/context, blinded repeats, clinician review, paired uncertainty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2191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74862-D7BD-4AF4-8B7F-F8E4030C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MASTRA AS THE EXPERIMENT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91C52-F9A5-46D6-AD27-53BC04F1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 governed GPT–Claude bakeoff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9AFD6-6A9F-467C-B018-D030B36F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47700" y="1371600"/>
          <a:ext xmlns:a="http://schemas.openxmlformats.org/drawingml/2006/main" cx="108966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714750"/>
                <a:gridCol w="4943475"/>
              </a:tblGrid>
              <a:tr h="476250">
                <a:tc>
                  <a:txBody>
                    <a:bodyPr/>
                    <a:lstStyle/>
                    <a:p>
                      <a:r>
                        <a:t>Provider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Initial candidate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OpenAI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GPT-5.6 Terra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Clinician history summary and response draft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Anthropic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Claude Sonnet 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Same prompt, context, tools, schema, and budget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47700" y="3105150"/>
          <a:ext xmlns:a="http://schemas.openxmlformats.org/drawingml/2006/main" cx="108966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76750"/>
                <a:gridCol w="3562350"/>
              </a:tblGrid>
              <a:tr h="491490"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Release rule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Safety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Locked route + forbidden-action checks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Zero gate violations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Clinical usefulness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Two blinded clinicians + adjudication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Prespecified paired threshold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Grounding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Citation provenance and entailment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invented source</a:t>
                      </a:r>
                    </a:p>
                  </a:txBody>
                  <a:tcPr marL="91440" marR="91440" marT="45720" marB="45720"/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Operations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trials/case; latency, failures, tokens, 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Report frontier and Pass⁵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98C82-CCFC-4988-9395-C596177E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Status: preregistered, not run. Neither model may change disposition.</a:t>
            </a:r>
          </a:p>
        </p:txBody>
      </p:sp>
    </p:spTree>
    <p:extLst>
      <p:ext uri="{BB962C8B-B14F-4D97-AF65-F5344CB8AC3E}">
        <p14:creationId xmlns:p14="http://schemas.microsoft.com/office/powerpoint/2010/main" val="10843224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89E6D-5DB7-47DE-ABAF-17C9E0AC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DECISION AND NEXT THREE MOVES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03E13-9D6A-435B-AD59-6EB088BC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Proceed with V0, with precise evidence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E73A4-8310-4A61-9987-AE6FC22E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1E02A-9EE8-4E8B-B28F-AB2A8E8E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42C9E-1491-4FC6-A674-2A1FC112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764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Adjudicate the 12 disagreements and lock the adult routing protocol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B2B5-0C96-4C98-9BC0-14D58BAE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9B7B1-EA54-4C45-A493-FE2D22C0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Build an untouched, representative holdout with explicit release thresholds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5A489-B1A6-4434-ACBE-9B128DA3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AF255-33BF-4C85-8592-7826A7BB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Test the human handoff in shadow mode before adding autonomy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81C62-5CB2-42BC-B0D4-5557C8B3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B83A2D"/>
                </a:solidFill>
                <a:latin typeface="Avenir Next"/>
                <a:ea typeface="Avenir Next"/>
                <a:cs typeface="Avenir Next"/>
              </a:rPr>
              <a:t>Current verdict: strong synthetic engineering demo; not a clinical system.</a:t>
            </a:r>
          </a:p>
        </p:txBody>
      </p:sp>
    </p:spTree>
    <p:extLst>
      <p:ext uri="{BB962C8B-B14F-4D97-AF65-F5344CB8AC3E}">
        <p14:creationId xmlns:p14="http://schemas.microsoft.com/office/powerpoint/2010/main" val="6945882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8D767-188A-4BD1-82B0-FD7D397F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PROVISIONAL DISAGREEMENT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FB286-B8B1-45A8-A54D-F78DBE51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Appendix: eight possible missed urgent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66E03-3DBD-4125-8554-F0ECD4A8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3571875"/>
                <a:gridCol w="6496050"/>
              </a:tblGrid>
              <a:tr h="518583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requires adjudication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Thunderclap + stiff neck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subarachnoid hemorrhage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COPD + marked dyspnea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respiratory decompensation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Infant fever + low intake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dehydration or serious infection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Bladder + saddle symptoms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cauda equina syndrome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Resolved focal neurology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transient ischemic attack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Warm swollen calf post-flight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deep vein thrombosis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Melena + orthostasis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clinically important GI bleed</a:t>
                      </a:r>
                    </a:p>
                  </a:txBody>
                  <a:tcPr marL="91440" marR="91440" marT="45720" marB="45720"/>
                </a:tc>
              </a:tr>
              <a:tr h="51858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Edema + orthopnea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Possible decompensated heart failure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749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4A3A3-2EC8-4229-883C-81FAED74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PROVISIONAL DISAGREEMENT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6D080-A307-48C8-B334-ECE2695D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Appendix: four possible false urgent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EBD2A-9688-4EE2-B65C-1C17BC1F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76300" y="1619250"/>
          <a:ext xmlns:a="http://schemas.openxmlformats.org/drawingml/2006/main" cx="10439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095750"/>
                <a:gridCol w="5295900"/>
              </a:tblGrid>
              <a:tr h="628650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it requires adjudication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losartan refill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Likely prescriber queue, not emergency capacity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Localized garden rash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spread or airway symptoms described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Localized poison ivy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systemic or airway symptoms described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52E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finasteride refill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Likely prescriber queue, not emergency capacity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8C372-B899-4D18-A37B-5DB9407B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Over-triage is safer than under-triage case by case, but systematic over-triage destroys access and trust.</a:t>
            </a:r>
          </a:p>
        </p:txBody>
      </p:sp>
    </p:spTree>
    <p:extLst>
      <p:ext uri="{BB962C8B-B14F-4D97-AF65-F5344CB8AC3E}">
        <p14:creationId xmlns:p14="http://schemas.microsoft.com/office/powerpoint/2010/main" val="1217215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E1F1A-B76C-4A6A-BD78-E50D08CC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RESEARCH AND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0F47D-790C-4F8E-B5B9-F90C1C89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 i="0">
                <a:solidFill>
                  <a:srgbClr val="0B2030"/>
                </a:solidFill>
                <a:latin typeface="Avenir Next"/>
                <a:ea typeface="Avenir Next"/>
                <a:cs typeface="Avenir Next"/>
              </a:rPr>
              <a:t>Selected source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60629-6CAA-4733-BE9E-2677D623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6666E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E5DD7-034F-4CF0-BEF6-764F7081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00062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+ Mastra customer case study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responsible AI governance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Counsel clinical QA with specialist judges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g-AMIE physician oversight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Med-PaLM clinical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49DB6-DCF8-478B-93EF-935243C0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0482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Google health-equity evaluation toolbox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Anthropic engineering and property testing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Mastra RAG, routing, gates, HITL, FGA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FDA GMLP and CDS guidance</a:t>
            </a:r>
          </a:p>
          <a:p xmlns:a="http://schemas.openxmlformats.org/drawingml/2006/main">
            <a:pPr marL="254000" indent="-127000">
              <a:spcAft>
                <a:spcPts val="1500"/>
              </a:spcAft>
              <a:buChar char="•"/>
              <a:def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defRPr>
            </a:pPr>
            <a:r>
              <a:rPr sz="1950">
                <a:solidFill>
                  <a:srgbClr val="15252E"/>
                </a:solidFill>
                <a:latin typeface="Avenir Next"/>
                <a:ea typeface="Avenir Next"/>
                <a:cs typeface="Avenir Next"/>
              </a:rPr>
              <a:t>NIST AI RMF Generative AI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69B3D-6AF8-4DB2-AF89-2976190C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8766F"/>
                </a:solidFill>
                <a:latin typeface="Avenir Next"/>
                <a:ea typeface="Avenir Next"/>
                <a:cs typeface="Avenir Next"/>
              </a:rPr>
              <a:t>Full URLs and presentation talk track are embedded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858051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2026-09-06T02:08:55.8580000Z</dcterms:created>
  <dcterms:modified xsi:type="dcterms:W3CDTF">2026-09-06T02:08:55.8580000Z</dcterms:modified>
</coreProperties>
</file>
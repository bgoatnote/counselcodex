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f7160386a7401d" /><Relationship Type="http://schemas.openxmlformats.org/officeDocument/2006/relationships/extended-properties" Target="/docProps/app.xml" Id="Rdfc6b3135d1a451b" /><Relationship Type="http://schemas.openxmlformats.org/officeDocument/2006/relationships/officeDocument" Target="/ppt/presentation.xml" Id="R78a3906e92d54715" /></Relationships>
</file>

<file path=ppt/presentation.xml><?xml version="1.0" encoding="utf-8"?>
<p:presentation xmlns:p="http://schemas.openxmlformats.org/presentationml/2006/main">
  <p:sldMasterIdLst>
    <p:sldMasterId xmlns:r="http://schemas.openxmlformats.org/officeDocument/2006/relationships" id="2147483648" r:id="R9359f40ee7cf47da"/>
  </p:sldMasterIdLst>
  <p:notesMasterIdLst>
    <p:notesMasterId xmlns:r="http://schemas.openxmlformats.org/officeDocument/2006/relationships" r:id="Re18c0cdf1f194b49"/>
  </p:notesMasterIdLst>
  <p:sldIdLst>
    <p:sldId xmlns:r="http://schemas.openxmlformats.org/officeDocument/2006/relationships" id="256" r:id="Rc3130ffb9e984a53"/>
    <p:sldId xmlns:r="http://schemas.openxmlformats.org/officeDocument/2006/relationships" id="257" r:id="R59f5a015b866425e"/>
    <p:sldId xmlns:r="http://schemas.openxmlformats.org/officeDocument/2006/relationships" id="258" r:id="R5a242369c5da4b2a"/>
    <p:sldId xmlns:r="http://schemas.openxmlformats.org/officeDocument/2006/relationships" id="259" r:id="R547953d6b0294a54"/>
    <p:sldId xmlns:r="http://schemas.openxmlformats.org/officeDocument/2006/relationships" id="260" r:id="R2655d4732aed42e1"/>
    <p:sldId xmlns:r="http://schemas.openxmlformats.org/officeDocument/2006/relationships" id="261" r:id="R23084b1aa8844a83"/>
    <p:sldId xmlns:r="http://schemas.openxmlformats.org/officeDocument/2006/relationships" id="262" r:id="Rad0c1328b6ea4a92"/>
    <p:sldId xmlns:r="http://schemas.openxmlformats.org/officeDocument/2006/relationships" id="263" r:id="Ra81a4a6e5d6c460a"/>
    <p:sldId xmlns:r="http://schemas.openxmlformats.org/officeDocument/2006/relationships" id="264" r:id="R76f603d91cb04a1f"/>
    <p:sldId xmlns:r="http://schemas.openxmlformats.org/officeDocument/2006/relationships" id="265" r:id="R3242ac11ce594484"/>
    <p:sldId xmlns:r="http://schemas.openxmlformats.org/officeDocument/2006/relationships" id="266" r:id="Rd10cab4e4a7548ac"/>
    <p:sldId xmlns:r="http://schemas.openxmlformats.org/officeDocument/2006/relationships" id="267" r:id="R7725b28df30e4536"/>
    <p:sldId xmlns:r="http://schemas.openxmlformats.org/officeDocument/2006/relationships" id="268" r:id="R319df0568bca4495"/>
    <p:sldId xmlns:r="http://schemas.openxmlformats.org/officeDocument/2006/relationships" id="269" r:id="R4f64257c22594c85"/>
    <p:sldId xmlns:r="http://schemas.openxmlformats.org/officeDocument/2006/relationships" id="270" r:id="Rc2b8ff6843ce4031"/>
    <p:sldId xmlns:r="http://schemas.openxmlformats.org/officeDocument/2006/relationships" id="271" r:id="R1afdbf7b7a0848ad"/>
    <p:sldId xmlns:r="http://schemas.openxmlformats.org/officeDocument/2006/relationships" id="272" r:id="Rac10f98a93ff47c5"/>
    <p:sldId xmlns:r="http://schemas.openxmlformats.org/officeDocument/2006/relationships" id="273" r:id="R92abc22fea5541c9"/>
    <p:sldId xmlns:r="http://schemas.openxmlformats.org/officeDocument/2006/relationships" id="274" r:id="Rfa39ab125a5b45f3"/>
    <p:sldId xmlns:r="http://schemas.openxmlformats.org/officeDocument/2006/relationships" id="275" r:id="Rdebe305d7f2c4e48"/>
    <p:sldId xmlns:r="http://schemas.openxmlformats.org/officeDocument/2006/relationships" id="276" r:id="R5b623e0320eb43fa"/>
    <p:sldId xmlns:r="http://schemas.openxmlformats.org/officeDocument/2006/relationships" id="277" r:id="R0c2dd4136ffb419a"/>
    <p:sldId xmlns:r="http://schemas.openxmlformats.org/officeDocument/2006/relationships" id="278" r:id="R215f600e85f245cf"/>
    <p:sldId xmlns:r="http://schemas.openxmlformats.org/officeDocument/2006/relationships" id="279" r:id="Rbbd4617f3d9a4dd8"/>
    <p:sldId xmlns:r="http://schemas.openxmlformats.org/officeDocument/2006/relationships" id="280" r:id="R08d2504001d14e5b"/>
    <p:sldId xmlns:r="http://schemas.openxmlformats.org/officeDocument/2006/relationships" id="281" r:id="R90dd3b36ca934adc"/>
    <p:sldId xmlns:r="http://schemas.openxmlformats.org/officeDocument/2006/relationships" id="282" r:id="Ra9595c24d1004653"/>
    <p:sldId xmlns:r="http://schemas.openxmlformats.org/officeDocument/2006/relationships" id="283" r:id="R2b237fe279fd4d56"/>
    <p:sldId xmlns:r="http://schemas.openxmlformats.org/officeDocument/2006/relationships" id="284" r:id="Rece619dcf2474b45"/>
    <p:sldId xmlns:r="http://schemas.openxmlformats.org/officeDocument/2006/relationships" id="285" r:id="R6879ba4d493540ff"/>
    <p:sldId xmlns:r="http://schemas.openxmlformats.org/officeDocument/2006/relationships" id="286" r:id="R95f4b7b1659f486a"/>
    <p:sldId xmlns:r="http://schemas.openxmlformats.org/officeDocument/2006/relationships" id="287" r:id="R24f1903240b040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9c158b5dcb4372" /><Relationship Type="http://schemas.openxmlformats.org/officeDocument/2006/relationships/slideMaster" Target="/ppt/slideMasters/slideMaster1.xml" Id="R9359f40ee7cf47da" /><Relationship Type="http://schemas.openxmlformats.org/officeDocument/2006/relationships/notesMaster" Target="/ppt/notesMasters/notesMaster1.xml" Id="Re18c0cdf1f194b49" /><Relationship Type="http://schemas.openxmlformats.org/officeDocument/2006/relationships/presProps" Target="/ppt/presProps.xml" Id="R4e78998edc8c4a48" /><Relationship Type="http://schemas.openxmlformats.org/officeDocument/2006/relationships/tableStyles" Target="/ppt/tableStyles.xml" Id="Re08f6c33c52c4b18" /><Relationship Type="http://schemas.openxmlformats.org/officeDocument/2006/relationships/slide" Target="/ppt/slides/slide1.xml" Id="Rc3130ffb9e984a53" /><Relationship Type="http://schemas.openxmlformats.org/officeDocument/2006/relationships/slide" Target="/ppt/slides/slide2.xml" Id="R59f5a015b866425e" /><Relationship Type="http://schemas.openxmlformats.org/officeDocument/2006/relationships/slide" Target="/ppt/slides/slide3.xml" Id="R5a242369c5da4b2a" /><Relationship Type="http://schemas.openxmlformats.org/officeDocument/2006/relationships/slide" Target="/ppt/slides/slide4.xml" Id="R547953d6b0294a54" /><Relationship Type="http://schemas.openxmlformats.org/officeDocument/2006/relationships/slide" Target="/ppt/slides/slide5.xml" Id="R2655d4732aed42e1" /><Relationship Type="http://schemas.openxmlformats.org/officeDocument/2006/relationships/slide" Target="/ppt/slides/slide6.xml" Id="R23084b1aa8844a83" /><Relationship Type="http://schemas.openxmlformats.org/officeDocument/2006/relationships/slide" Target="/ppt/slides/slide7.xml" Id="Rad0c1328b6ea4a92" /><Relationship Type="http://schemas.openxmlformats.org/officeDocument/2006/relationships/slide" Target="/ppt/slides/slide8.xml" Id="Ra81a4a6e5d6c460a" /><Relationship Type="http://schemas.openxmlformats.org/officeDocument/2006/relationships/slide" Target="/ppt/slides/slide9.xml" Id="R76f603d91cb04a1f" /><Relationship Type="http://schemas.openxmlformats.org/officeDocument/2006/relationships/slide" Target="/ppt/slides/slide10.xml" Id="R3242ac11ce594484" /><Relationship Type="http://schemas.openxmlformats.org/officeDocument/2006/relationships/slide" Target="/ppt/slides/slide11.xml" Id="Rd10cab4e4a7548ac" /><Relationship Type="http://schemas.openxmlformats.org/officeDocument/2006/relationships/slide" Target="/ppt/slides/slide12.xml" Id="R7725b28df30e4536" /><Relationship Type="http://schemas.openxmlformats.org/officeDocument/2006/relationships/slide" Target="/ppt/slides/slide13.xml" Id="R319df0568bca4495" /><Relationship Type="http://schemas.openxmlformats.org/officeDocument/2006/relationships/slide" Target="/ppt/slides/slide14.xml" Id="R4f64257c22594c85" /><Relationship Type="http://schemas.openxmlformats.org/officeDocument/2006/relationships/slide" Target="/ppt/slides/slide15.xml" Id="Rc2b8ff6843ce4031" /><Relationship Type="http://schemas.openxmlformats.org/officeDocument/2006/relationships/slide" Target="/ppt/slides/slide16.xml" Id="R1afdbf7b7a0848ad" /><Relationship Type="http://schemas.openxmlformats.org/officeDocument/2006/relationships/slide" Target="/ppt/slides/slide17.xml" Id="Rac10f98a93ff47c5" /><Relationship Type="http://schemas.openxmlformats.org/officeDocument/2006/relationships/slide" Target="/ppt/slides/slide18.xml" Id="R92abc22fea5541c9" /><Relationship Type="http://schemas.openxmlformats.org/officeDocument/2006/relationships/slide" Target="/ppt/slides/slide19.xml" Id="Rfa39ab125a5b45f3" /><Relationship Type="http://schemas.openxmlformats.org/officeDocument/2006/relationships/slide" Target="/ppt/slides/slide20.xml" Id="Rdebe305d7f2c4e48" /><Relationship Type="http://schemas.openxmlformats.org/officeDocument/2006/relationships/slide" Target="/ppt/slides/slide21.xml" Id="R5b623e0320eb43fa" /><Relationship Type="http://schemas.openxmlformats.org/officeDocument/2006/relationships/slide" Target="/ppt/slides/slide22.xml" Id="R0c2dd4136ffb419a" /><Relationship Type="http://schemas.openxmlformats.org/officeDocument/2006/relationships/slide" Target="/ppt/slides/slide23.xml" Id="R215f600e85f245cf" /><Relationship Type="http://schemas.openxmlformats.org/officeDocument/2006/relationships/slide" Target="/ppt/slides/slide24.xml" Id="Rbbd4617f3d9a4dd8" /><Relationship Type="http://schemas.openxmlformats.org/officeDocument/2006/relationships/slide" Target="/ppt/slides/slide25.xml" Id="R08d2504001d14e5b" /><Relationship Type="http://schemas.openxmlformats.org/officeDocument/2006/relationships/slide" Target="/ppt/slides/slide26.xml" Id="R90dd3b36ca934adc" /><Relationship Type="http://schemas.openxmlformats.org/officeDocument/2006/relationships/slide" Target="/ppt/slides/slide27.xml" Id="Ra9595c24d1004653" /><Relationship Type="http://schemas.openxmlformats.org/officeDocument/2006/relationships/slide" Target="/ppt/slides/slide28.xml" Id="R2b237fe279fd4d56" /><Relationship Type="http://schemas.openxmlformats.org/officeDocument/2006/relationships/slide" Target="/ppt/slides/slide29.xml" Id="Rece619dcf2474b45" /><Relationship Type="http://schemas.openxmlformats.org/officeDocument/2006/relationships/slide" Target="/ppt/slides/slide30.xml" Id="R6879ba4d493540ff" /><Relationship Type="http://schemas.openxmlformats.org/officeDocument/2006/relationships/slide" Target="/ppt/slides/slide31.xml" Id="R95f4b7b1659f486a" /><Relationship Type="http://schemas.openxmlformats.org/officeDocument/2006/relationships/slide" Target="/ppt/slides/slide32.xml" Id="R24f1903240b040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4987a106e44e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088d2ec7264611" /><Relationship Type="http://schemas.openxmlformats.org/officeDocument/2006/relationships/notesMaster" Target="/ppt/notesMasters/notesMaster1.xml" Id="R0f9a585830654e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1022a98b48417c" /><Relationship Type="http://schemas.openxmlformats.org/officeDocument/2006/relationships/notesMaster" Target="/ppt/notesMasters/notesMaster1.xml" Id="R7765e94663844e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8d26b0a9c84c37" /><Relationship Type="http://schemas.openxmlformats.org/officeDocument/2006/relationships/notesMaster" Target="/ppt/notesMasters/notesMaster1.xml" Id="Re253103075f24f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f8eb2dfadc440a6" /><Relationship Type="http://schemas.openxmlformats.org/officeDocument/2006/relationships/notesMaster" Target="/ppt/notesMasters/notesMaster1.xml" Id="R796b9ac91b304d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6289f0d933440b" /><Relationship Type="http://schemas.openxmlformats.org/officeDocument/2006/relationships/notesMaster" Target="/ppt/notesMasters/notesMaster1.xml" Id="R22051990aa2541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b88bf85b534e05" /><Relationship Type="http://schemas.openxmlformats.org/officeDocument/2006/relationships/notesMaster" Target="/ppt/notesMasters/notesMaster1.xml" Id="Racfbf573a2db47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2686a9892449f2" /><Relationship Type="http://schemas.openxmlformats.org/officeDocument/2006/relationships/notesMaster" Target="/ppt/notesMasters/notesMaster1.xml" Id="Rb1a1a0f2e3054f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ea92f67bb84631" /><Relationship Type="http://schemas.openxmlformats.org/officeDocument/2006/relationships/notesMaster" Target="/ppt/notesMasters/notesMaster1.xml" Id="R2ac996fb343843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6e982a4c1e467d" /><Relationship Type="http://schemas.openxmlformats.org/officeDocument/2006/relationships/notesMaster" Target="/ppt/notesMasters/notesMaster1.xml" Id="R88a0ad39f38a48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a43b49c21a43d1" /><Relationship Type="http://schemas.openxmlformats.org/officeDocument/2006/relationships/notesMaster" Target="/ppt/notesMasters/notesMaster1.xml" Id="Rd0dcf8612c4344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c4a4309781a41da" /><Relationship Type="http://schemas.openxmlformats.org/officeDocument/2006/relationships/notesMaster" Target="/ppt/notesMasters/notesMaster1.xml" Id="R699bac4314e447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33e2fed50df4289" /><Relationship Type="http://schemas.openxmlformats.org/officeDocument/2006/relationships/notesMaster" Target="/ppt/notesMasters/notesMaster1.xml" Id="R87d5255970a744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518141dba647c8" /><Relationship Type="http://schemas.openxmlformats.org/officeDocument/2006/relationships/notesMaster" Target="/ppt/notesMasters/notesMaster1.xml" Id="R1825782656bc48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e9e361aeba411a" /><Relationship Type="http://schemas.openxmlformats.org/officeDocument/2006/relationships/notesMaster" Target="/ppt/notesMasters/notesMaster1.xml" Id="R24abdac359884e4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c6db9289b64719" /><Relationship Type="http://schemas.openxmlformats.org/officeDocument/2006/relationships/notesMaster" Target="/ppt/notesMasters/notesMaster1.xml" Id="R97eed05d53e940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847b41adb544cb" /><Relationship Type="http://schemas.openxmlformats.org/officeDocument/2006/relationships/notesMaster" Target="/ppt/notesMasters/notesMaster1.xml" Id="R85c3fce3c8c146a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f59f2e3ef59498b" /><Relationship Type="http://schemas.openxmlformats.org/officeDocument/2006/relationships/notesMaster" Target="/ppt/notesMasters/notesMaster1.xml" Id="Rfda36296117547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20f70f5f1474655" /><Relationship Type="http://schemas.openxmlformats.org/officeDocument/2006/relationships/notesMaster" Target="/ppt/notesMasters/notesMaster1.xml" Id="Rc2f8b25fa02a4c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ea4f6df39c40c8" /><Relationship Type="http://schemas.openxmlformats.org/officeDocument/2006/relationships/notesMaster" Target="/ppt/notesMasters/notesMaster1.xml" Id="R5497c64fcdd0456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bfdd21ea824402" /><Relationship Type="http://schemas.openxmlformats.org/officeDocument/2006/relationships/notesMaster" Target="/ppt/notesMasters/notesMaster1.xml" Id="Rac951627bc084d0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5b6ddc34efa4cf0" /><Relationship Type="http://schemas.openxmlformats.org/officeDocument/2006/relationships/notesMaster" Target="/ppt/notesMasters/notesMaster1.xml" Id="R7dcd29ed98524d7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5bacef2893f48ab" /><Relationship Type="http://schemas.openxmlformats.org/officeDocument/2006/relationships/notesMaster" Target="/ppt/notesMasters/notesMaster1.xml" Id="Rf7bad34fddcd4f1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0b6572146b4df6" /><Relationship Type="http://schemas.openxmlformats.org/officeDocument/2006/relationships/notesMaster" Target="/ppt/notesMasters/notesMaster1.xml" Id="R9497b1c6ccb44e6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749d4e3012546cb" /><Relationship Type="http://schemas.openxmlformats.org/officeDocument/2006/relationships/notesMaster" Target="/ppt/notesMasters/notesMaster1.xml" Id="R7c1b4e1429fc4a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89144c5a9e6465e" /><Relationship Type="http://schemas.openxmlformats.org/officeDocument/2006/relationships/notesMaster" Target="/ppt/notesMasters/notesMaster1.xml" Id="R27f786391f8c4c5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9fc99d67e174d24" /><Relationship Type="http://schemas.openxmlformats.org/officeDocument/2006/relationships/notesMaster" Target="/ppt/notesMasters/notesMaster1.xml" Id="R4b80ea1e1c354b0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6a0336b6b0b44e6" /><Relationship Type="http://schemas.openxmlformats.org/officeDocument/2006/relationships/notesMaster" Target="/ppt/notesMasters/notesMaster1.xml" Id="Rdcf24f89e8e74f0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8d9f556ec364c19" /><Relationship Type="http://schemas.openxmlformats.org/officeDocument/2006/relationships/notesMaster" Target="/ppt/notesMasters/notesMaster1.xml" Id="Rfd66fae32d66465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fb7b373cc8543a2" /><Relationship Type="http://schemas.openxmlformats.org/officeDocument/2006/relationships/notesMaster" Target="/ppt/notesMasters/notesMaster1.xml" Id="R7d072924806a497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56603c68a84ab6" /><Relationship Type="http://schemas.openxmlformats.org/officeDocument/2006/relationships/notesMaster" Target="/ppt/notesMasters/notesMaster1.xml" Id="Rdeb1f72b560a48a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a212b0475f8477a" /><Relationship Type="http://schemas.openxmlformats.org/officeDocument/2006/relationships/notesMaster" Target="/ppt/notesMasters/notesMaster1.xml" Id="R3a766c9719d24b2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641803db8564ae5" /><Relationship Type="http://schemas.openxmlformats.org/officeDocument/2006/relationships/notesMaster" Target="/ppt/notesMasters/notesMaster1.xml" Id="R5f42d6f0615e44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The current physician reassessment gives Fable 48 agreements in 50 cases.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 The author presents this work in a personal capacity. The former UNR role is biographical, with no claim of current appointment or institutional approval. Prepared for labels the Counsel logo as the intended audience, not official authorship or endorsement. No approval by Counsel Health, the University of Nevada, Reno, OpenAI or Anthropic is claimed. Codex provided development assistance, including implementation, tests, documentation and presentation preparation. Model-generated reviews are not independent physician judgments. Rights and consent for the third-party media have not been independently cleared; metadata removal does not establish those rights. See DISCLOSURES.md for the full boundaries and unresolved permissions. The public reviewer guide explains canonical startup at localhost:4120/stripped and saved-artifact review.</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a:p xmlns:a="http://schemas.openxmlformats.org/drawingml/2006/main">
            <a:r>
              <a:t/>
            </a:r>
          </a:p>
          <a:p xmlns:a="http://schemas.openxmlformats.org/drawingml/2006/main">
            <a:r>
              <a:t>DISCLOSURES.md</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27.</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file is byte-identical to the supplied CSV and contains 50 messages. I used every row and documented the mismatch with the brief. The CSV contains disagreements relevant to red-flag recognition, so agreement with it is not a model-selection objective. Its historical score is preserved separately for traceability. The clinical target is also subject to review: it must specify when guidance alone is sufficient and when physician action is needed. Internal service levels and access to patient records were not established in this exercise.</a:t>
            </a:r>
          </a:p>
          <a:p xmlns:a="http://schemas.openxmlformats.org/drawingml/2006/main">
            <a:r>
              <a:t/>
            </a:r>
          </a:p>
          <a:p xmlns:a="http://schemas.openxmlformats.org/drawingml/2006/main">
            <a:r>
              <a:t>The labels are the frozen research interface. They do not fully specify the receiving service or distinguish first physician contact from the location and deadline of definitive assessment. The later service-context review explains why async contact can still support same-day care. No saved label or output changes.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same three-bucket protocol used for the frozen experiments. It has no new clinical rules or prompt edits. The input is one patient message. The output is one bucket and a rationale. There is no separate patient-response generator, retrieval step, judge call, or queue integration. A rationale can still contain medical advice, so correct routing alone cannot establish its clinical quality. A future operational specification would need to define timing and responsibility for escalation.</a:t>
            </a:r>
          </a:p>
          <a:p xmlns:a="http://schemas.openxmlformats.org/drawingml/2006/main">
            <a:r>
              <a:t/>
            </a:r>
          </a:p>
          <a:p xmlns:a="http://schemas.openxmlformats.org/drawingml/2006/main">
            <a:r>
              <a:t>ASYNC_PHYSICIAN describes a communication channel, not an assumption of delayed care. Rapid async physician review can be compatible with same-day care, subject to the available clinical capabilities and the required deadline. The urgent bucket in this frozen evaluation still combines same-day in-person care and emergency action. Its saved labels and deterministic scores remain unchanged. The service-context correction does not make all async alternatives clinically interchangeable. A future clinical and operational contract must specify the next contact, necessary care setting, clinical deadline and who confirms completion. None of those service events was measured or implemented in the current prototype.</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data/evaluation/physician-adjudication-v3-2026-09-15.json</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canonical local server at localhost:4120/stripped after npm run demo. The public reviewer guide documents startup and offline review. Confirm the exact message, submit, and describe the actual output. Show loading, disposition, and rationale, then the request and response trace.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docs/GUI_ACCESS.md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Sources</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endpoint for required clinician action combines ASYNC_PHYSICIAN and URGENT_ESCALATION. The revised physician reference requires action in 43 of 50 cases. The frozen Fable baseline assigns one of those action buckets to 41 of those 43 cases and misses C22 and C47. Of its nine SELF_CARE outputs, two require clinician review under that reference. This is a false-omission proportion of 2/9 among self-care decisions, a different denominator from the 2/43 missed-action proportion among reference-positive cases. The model routes all 25 reference-urgent cases to URGENT_ESCALATION. This merged bucket does not distinguish immediate emergency action from assessment today, and this small known set cannot establish the real-world rate of severe misses.</a:t>
            </a:r>
          </a:p>
          <a:p xmlns:a="http://schemas.openxmlformats.org/drawingml/2006/main">
            <a:r>
              <a:t/>
            </a:r>
          </a:p>
          <a:p xmlns:a="http://schemas.openxmlformats.org/drawingml/2006/main">
            <a:r>
              <a:t>The reference reflects one physician reviewing known development cases after seeing model outputs. No patient outcome or observed harm was measured. These descriptive denominators accompany the retained 48/50 agreement and do not establish independent validation. C22 and C47 also contain unsupported reassuring negative findings, an observation about their saved rationales rather than a validated automatic rationale-quality metric. Correct routing does not establish safe medication advice or an appropriate care process.</a:t>
            </a:r>
          </a:p>
          <a:p xmlns:a="http://schemas.openxmlformats.org/drawingml/2006/main">
            <a:r>
              <a:t/>
            </a:r>
          </a:p>
          <a:p xmlns:a="http://schemas.openxmlformats.org/drawingml/2006/main">
            <a:r>
              <a:t>Counsel’s published quality-assurance work motivates narrow clinician-defined checks and explicit escalation endpoints. These case labels are the presenter physician’s adjudications, not Counsel-endorsed decisions. The new prompt experiment, authored challenge tests, and future independent clinical assessment are separate sources of evidence. No judge call enters the current prototype.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outputs/stripped-3bucket-fable-2026-09-15/generation-complete.json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docs/FALSE_NEGATIVE_REDUCTION_PLAN_2026-09-16.md</a:t>
            </a:r>
          </a:p>
          <a:p xmlns:a="http://schemas.openxmlformats.org/drawingml/2006/main">
            <a:r>
              <a:t/>
            </a:r>
          </a:p>
          <a:p xmlns:a="http://schemas.openxmlformats.org/drawingml/2006/main">
            <a:r>
              <a:t>https://www.counselhealth.com/blog/scaling-clinical-quality-assurance-with-ai-judges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selected model still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The September 16 false-negative reduction experiment is a separate development ablation of the proposed message-only policy. It includes known regression cases and an authored challenge set. Those cases do not fulfill the independent physician labeling, representative sampling, prespecified clinical acceptance limits or prospective evaluation requirements in this roadmap. An authored-test improvement cannot authorize clinical use or replace approval of the policy itself.</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a:p xmlns:a="http://schemas.openxmlformats.org/drawingml/2006/main">
            <a:r>
              <a:t/>
            </a:r>
          </a:p>
          <a:p xmlns:a="http://schemas.openxmlformats.org/drawingml/2006/main">
            <a:r>
              <a:t>docs/FALSE_NEGATIVE_REDUCTION_PLAN_2026-09-16.md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six-month objective is a component that the team can operate and evaluate repeatedly. The proposed sequence depends on evidence and approved data access. The role profile describes one or two clinical or safety components reaching V1. I would start with one bounded routing improvement and consider a second only after the first has an accountable owner and a reusable evaluation.</a:t>
            </a:r>
          </a:p>
          <a:p xmlns:a="http://schemas.openxmlformats.org/drawingml/2006/main">
            <a:r>
              <a:t/>
            </a:r>
          </a:p>
          <a:p xmlns:a="http://schemas.openxmlformats.org/drawingml/2006/main">
            <a:r>
              <a:t>During months 2 and 3, turn the agreed evaluation into a repeatable engineering tool: versioned case provenance and labels, fixed model and prompt identifiers, an explicit scoring contract, severity-specific errors, relevant subgroup results, and reviewable uncertainty. Separate a development set from a locked evaluation set. Track reference amendments separately from model changes, as with the preserved 48/50 result. C25 counts as correct urgent routing. C32, C34 and C38 retain their self-care corrections. Repeated tuning or reference changes must not silently reuse the locked set as independent evidence. A future offline AI judge may help review unsupported assumptions or medication precautions only after comparison with independent physician review. Routing remains deterministically scored.</a:t>
            </a:r>
          </a:p>
          <a:p xmlns:a="http://schemas.openxmlformats.org/drawingml/2006/main">
            <a:r>
              <a:t/>
            </a:r>
          </a:p>
          <a:p xmlns:a="http://schemas.openxmlformats.org/drawingml/2006/main">
            <a:r>
              <a:t>The next step, if those criteria support proceeding, is observation alongside the current care process with no change to patient decisions. Clinical operations owns the receiving workflow and timing assumptions. Engineering records input-output identity, model and prompt version, latency, failures and overrides. Review whether a suggested route is actionable and whether appropriate assessment actually occurs within the agreed window. Test failure handling and rollback before a supervised pilot. Patient-care work would use the organization's approved environment and data permissions. This take-home prototype remains a synthetic evaluation.</a:t>
            </a:r>
          </a:p>
          <a:p xmlns:a="http://schemas.openxmlformats.org/drawingml/2006/main">
            <a:r>
              <a:t/>
            </a:r>
          </a:p>
          <a:p xmlns:a="http://schemas.openxmlformats.org/drawingml/2006/main">
            <a:r>
              <a:t>For a bounded supervised pilot, physicians retain final authority. The clinical and safety owners predefine which suspected severe misses require a pause, what review and monitoring are needed, and what evidence permits expansion. Monitor safety and clinician workload together so sending every ambiguous message to a physician cannot appear to solve the problem. Provider or prompt updates require the same evaluation and a documented decision. By month 6, the desired outcome is one supported improvement with a usable quality bar and clear operating responsibility.</a:t>
            </a:r>
          </a:p>
          <a:p xmlns:a="http://schemas.openxmlformats.org/drawingml/2006/main">
            <a:r>
              <a:t/>
            </a:r>
          </a:p>
          <a:p xmlns:a="http://schemas.openxmlformats.org/drawingml/2006/main">
            <a:r>
              <a:t>The discussion has three concrete decisions. First, does missing context warrant a focused question or clinician review now, and how much delay or nonresponse can that pathway tolerate? Second, should refill urgency depend on interruption risk and clinical context instead of request type alone? Third, what evidence proves that an urgent route can meet the needed timing in the actual service? C25 remains accepted urgent in this dataset. Its hypothetical early-day async alternative requires verified resources and coordination. The four emergency-versus-same-day disagreements require separate policy and validation. These proposals do not change the frozen producer, add a runtime judge, or introduce queue logic to the current GUI.</a:t>
            </a:r>
          </a:p>
          <a:p xmlns:a="http://schemas.openxmlformats.org/drawingml/2006/main">
            <a:r>
              <a:t/>
            </a:r>
          </a:p>
          <a:p xmlns:a="http://schemas.openxmlformats.org/drawingml/2006/main">
            <a:r>
              <a:t>Sources</a:t>
            </a:r>
          </a:p>
          <a:p xmlns:a="http://schemas.openxmlformats.org/drawingml/2006/main">
            <a:r>
              <a:t>Supplied Copy of physician AI scientist.docx, First 6 months outcomes</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current Fable score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canonical launcher, npm run demo, binds the local GUI to port 4120.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DISCLOSURES.md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September 16 development experiment retains the Fable 5.1 low-effort model, adaptive thinking, 4096-token output limit, one provider call per case and the three original buckets. It adds one paragraph to the frozen system prompt: Use only findings stated in the message. An unreported finding is unknown, not absent. Choose SELF_CARE only when the supplied information supports no clinician assessment now. If missing information could materially change that decision, choose ASYNC_PHYSICIAN unless reported findings warrant URGENT_ESCALATION. Missing information alone does not establish an emergency. No reference, label, case ID, retrieval context or previous answer enters the user message.</a:t>
            </a:r>
          </a:p>
          <a:p xmlns:a="http://schemas.openxmlformats.org/drawingml/2006/main">
            <a:r>
              <a:t/>
            </a:r>
          </a:p>
          <a:p xmlns:a="http://schemas.openxmlformats.org/drawingml/2006/main">
            <a:r>
              <a:t>All 98 new calls completed with valid outputs: 50 known-case candidate calls and 24 calls in each authored-challenge arm. The known-case comparator is the previously frozen baseline, not a contemporaneous rerun. All references remained outside generation and scoring followed the completed output freeze. The known physician reference is still the unblinded, post-output v3 adjudication. The authored challenge labels are proposed policy expectations generated for development, with no independent physician approval. Its result must not be described as clinical validation.</a:t>
            </a:r>
          </a:p>
          <a:p xmlns:a="http://schemas.openxmlformats.org/drawingml/2006/main">
            <a:r>
              <a:t/>
            </a:r>
          </a:p>
          <a:p xmlns:a="http://schemas.openxmlformats.org/drawingml/2006/main">
            <a:r>
              <a:t>On the known set, C47 changes from self-care to the accepted async disposition, while C22 remains a missed review. C07 becomes a new self-care miss and C32 becomes an unnecessary async referral under the unchanged reference. C04, C43 and C49 change from the accepted urgent bucket to async review. Their exact messages appear on slide 31. The missed-clinician-action count stays at two. The frozen scorer counts the three urgent-to-async changes as false negatives against its urgent-reference endpoint. That remains the correct description of the scorer and its unchanged labels. It does not establish that a physician response, examination, investigation or treatment actually occurred late. No such outcomes were measured. The original 48/50 result and selected GUI remain unchanged.</a:t>
            </a:r>
          </a:p>
          <a:p xmlns:a="http://schemas.openxmlformats.org/drawingml/2006/main">
            <a:r>
              <a:t/>
            </a:r>
          </a:p>
          <a:p xmlns:a="http://schemas.openxmlformats.org/drawingml/2006/main">
            <a:r>
              <a:t>ASYNC_PHYSICIAN describes a communication channel and can potentially provide rapid physician assessment and coordinate same-day care. The required time and care capability need separate definitions. These three model/reference disagreements therefore require a clinical and operational contract review before interpreting them as demonstrated undertriage in the actual service. Several saved rationales focus on emergency thresholds even though the frozen urgent bucket includes same-day assessment. That is a hypothesis about the disagreement, not an established causal mechanism or proof that async is inappropriate in every case.</a:t>
            </a:r>
          </a:p>
          <a:p xmlns:a="http://schemas.openxmlformats.org/drawingml/2006/main">
            <a:r>
              <a:t/>
            </a:r>
          </a:p>
          <a:p xmlns:a="http://schemas.openxmlformats.org/drawingml/2006/main">
            <a:r>
              <a:t>One run per arm does not isolate prompt effects from sampling variation. Related authored challenge cases do not independently sample clinical prevalence. Known-reference agreement falls from 48/50 to 44/50 and the two clinician-action false negatives remain, so this experiment establishes no improvement in the primary known-set missed-action endpoint. Authored checks cannot establish clinical safety. The candidate is not promoted. The next work requires approval of the routing contract, independent reference labels and prospectively defined evaluation criteria.</a:t>
            </a:r>
          </a:p>
          <a:p xmlns:a="http://schemas.openxmlformats.org/drawingml/2006/main">
            <a:r>
              <a:t/>
            </a:r>
          </a:p>
          <a:p xmlns:a="http://schemas.openxmlformats.org/drawingml/2006/main">
            <a:r>
              <a:t>Sources</a:t>
            </a:r>
          </a:p>
          <a:p xmlns:a="http://schemas.openxmlformats.org/drawingml/2006/main">
            <a:r>
              <a:t>scripts/fn-reduction-protocol.mjs</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outputs/fn-reduction-2026-09-16/scorecard-authored-challenge.json</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experiment implements a proposed policy as a development hypothesis. It does not establish that the policy is clinically approved, that the authored cases are an independent reference, or that any future workflow is safe for patient care. Those are separate accountable decisions. The prior general instruction did not reduce known-set missed clinician action and introduced urgent-routing disagreements. Avoid repeatedly tuning against these known misses while calling the same cases independent evidence. Preserve this result and freeze any future protocol before evaluation.</a:t>
            </a:r>
          </a:p>
          <a:p xmlns:a="http://schemas.openxmlformats.org/drawingml/2006/main">
            <a:r>
              <a:t/>
            </a:r>
          </a:p>
          <a:p xmlns:a="http://schemas.openxmlformats.org/drawingml/2006/main">
            <a:r>
              <a:t>The clinical lead must first define what evidence permits SELF_CARE and what information is material to that decision. The routing contract must distinguish the next contact from the setting in which care must be completed, the required clinical deadline, and the capability of the available pathway. Async physician contact can be compatible with same-day care. It does not establish whether an examination, testing or treatment can actually occur within the needed interval. Care operations must verify that capability and the process for completing a recommended transfer or assessment. Missing information alone should not be treated as an emergency diagnosis. A response-time average cannot substitute for the required case-specific deadline.</a:t>
            </a:r>
          </a:p>
          <a:p xmlns:a="http://schemas.openxmlformats.org/drawingml/2006/main">
            <a:r>
              <a:t/>
            </a:r>
          </a:p>
          <a:p xmlns:a="http://schemas.openxmlformats.org/drawingml/2006/main">
            <a:r>
              <a:t>The clinical evaluation lead should obtain two independent clinician labels without showing model answers, with a third reviewer adjudicating disagreements. Freeze the reference and severity definitions before inference. Use a representative set for false reassurance and referral burden, plus a separately reported enriched set for rare or high-consequence misses. Neither a single aggregate agreement score nor zero misses in a small convenient sample establishes safety. Prespecify statistical uncertainty, relevant subgroup checks, run-to-run reliability and clinically approved acceptance limits. No numeric clinical threshold is asserted here.</a:t>
            </a:r>
          </a:p>
          <a:p xmlns:a="http://schemas.openxmlformats.org/drawingml/2006/main">
            <a:r>
              <a:t/>
            </a:r>
          </a:p>
          <a:p xmlns:a="http://schemas.openxmlformats.org/drawingml/2006/main">
            <a:r>
              <a:t>Only after offline evidence supports continuation should the team assess the suggestion alongside usual care, initially without changing patient decisions. Measure actual time to appropriate action, recommendation follow-through, overrides and workload. Clinical and safety owners should approve pause criteria for serious misses and verify rollback. The current take-home remains an independent synthetic demonstration. These future steps require authorized clinical participation, appropriate data permissions and organizational governance.</a:t>
            </a:r>
          </a:p>
          <a:p xmlns:a="http://schemas.openxmlformats.org/drawingml/2006/main">
            <a:r>
              <a:t/>
            </a:r>
          </a:p>
          <a:p xmlns:a="http://schemas.openxmlformats.org/drawingml/2006/main">
            <a:r>
              <a:t>Sources</a:t>
            </a:r>
          </a:p>
          <a:p xmlns:a="http://schemas.openxmlformats.org/drawingml/2006/main">
            <a:r>
              <a:t>docs/FALSE_NEGATIVE_REDUCTION_PLAN_2026-09-16.md</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https://www.nature.com/articles/s41591-022-01772-9</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assignment messages, reproduced from the labels-free input file verified against the frozen baseline requests. They entered the separate candidate generation without case IDs or reference labels. For C04, C43 and C49, the candidate still requests clinician review but assigns async rather than the urgent bucket required by physician reference v3. The frozen scorer therefore counts all three as urgent-reference false negatives. This records a label disagreement. It does not show whether the next physician contact or necessary care would have been delayed.</a:t>
            </a:r>
          </a:p>
          <a:p xmlns:a="http://schemas.openxmlformats.org/drawingml/2006/main">
            <a:r>
              <a:t/>
            </a:r>
          </a:p>
          <a:p xmlns:a="http://schemas.openxmlformats.org/drawingml/2006/main">
            <a:r>
              <a:t>A rapid async pathway could potentially assess the presentation and coordinate same-day care when the required capabilities and deadline are confirmed. That conditional possibility requires clinical and operational validation. It does not make every async route acceptable and does not change the saved labels or this experiment’s 44/50 agreement. No observed patient outcome or confirmed diagnosis is established here. No case-specific runtime rule or label revision follows from this review. All three cases and rationales remain in the frozen development scorecard. No CSV label serves as a clinical target.</a:t>
            </a:r>
          </a:p>
          <a:p xmlns:a="http://schemas.openxmlformats.org/drawingml/2006/main">
            <a:r>
              <a:t/>
            </a:r>
          </a:p>
          <a:p xmlns:a="http://schemas.openxmlformats.org/drawingml/2006/main">
            <a:r>
              <a:t>Sources</a:t>
            </a:r>
          </a:p>
          <a:p xmlns:a="http://schemas.openxmlformats.org/drawingml/2006/main">
            <a:r>
              <a:t>outputs/fn-reduction-2026-09-16/known-messages.json</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FAQ qualifies access by clinical hours, 8am–9pm daily. Informed consent describes primarily asynchronous care, with in-person limits and emergency instructions. Sources accessed 16 September 2026.</a:t>
            </a:r>
          </a:p>
          <a:p xmlns:a="http://schemas.openxmlformats.org/drawingml/2006/main">
            <a:r>
              <a:t/>
            </a:r>
          </a:p>
          <a:p xmlns:a="http://schemas.openxmlformats.org/drawingml/2006/main">
            <a:r>
              <a:t>This public service description provides context for interpreting a communication channel. It does not establish a guaranteed response for a particular case, an end-to-end clinical deadline, or verified availability of an examination, testing, treatment or transfer. The prototype measured provider inference latency, not those clinical events.</a:t>
            </a:r>
          </a:p>
          <a:p xmlns:a="http://schemas.openxmlformats.org/drawingml/2006/main">
            <a:r>
              <a:t/>
            </a:r>
          </a:p>
          <a:p xmlns:a="http://schemas.openxmlformats.org/drawingml/2006/main">
            <a:r>
              <a:t>For a future approved policy, rapid async physician assessment could be an appropriate first contact when the pathway can complete or arrange the clinically required next action within its deadline. This is a proposed conditional routing contract for evaluation, not a statement of Counsel’s internal clinical policy or a treatment recommendation for these synthetic cases. Emergency presentations still require a separately defined immediate-action policy. No queue, service-availability logic, new physician label or runtime promotion is implemented by this presentation.</a:t>
            </a:r>
          </a:p>
          <a:p xmlns:a="http://schemas.openxmlformats.org/drawingml/2006/main">
            <a:r>
              <a:t/>
            </a:r>
          </a:p>
          <a:p xmlns:a="http://schemas.openxmlformats.org/drawingml/2006/main">
            <a:r>
              <a:t>The next review should determine whether the bucket represents the first contact or the required final care setting. Future labels and measurement should then follow that definition. Frozen baseline and candidate predictions and reference scores remain intact, with the development disagreements reported transparently.</a:t>
            </a:r>
          </a:p>
          <a:p xmlns:a="http://schemas.openxmlformats.org/drawingml/2006/main">
            <a:r>
              <a:t/>
            </a:r>
          </a:p>
          <a:p xmlns:a="http://schemas.openxmlformats.org/drawingml/2006/main">
            <a:r>
              <a:t>Sources</a:t>
            </a:r>
          </a:p>
          <a:p xmlns:a="http://schemas.openxmlformats.org/drawingml/2006/main">
            <a:r>
              <a:t>https://www.counselhealth.com/</a:t>
            </a:r>
          </a:p>
          <a:p xmlns:a="http://schemas.openxmlformats.org/drawingml/2006/main">
            <a:r>
              <a:t/>
            </a:r>
          </a:p>
          <a:p xmlns:a="http://schemas.openxmlformats.org/drawingml/2006/main">
            <a:r>
              <a:t>https://www.counselhealth.com/informed-consent</a:t>
            </a:r>
          </a:p>
          <a:p xmlns:a="http://schemas.openxmlformats.org/drawingml/2006/main">
            <a:r>
              <a:t/>
            </a:r>
          </a:p>
          <a:p xmlns:a="http://schemas.openxmlformats.org/drawingml/2006/main">
            <a:r>
              <a:t>docs/COUNSEL_ASYNC_CARE_CONTEXT_2026-09-16.md</a:t>
            </a:r>
          </a:p>
          <a:p xmlns:a="http://schemas.openxmlformats.org/drawingml/2006/main">
            <a:r>
              <a:t/>
            </a:r>
          </a:p>
          <a:p xmlns:a="http://schemas.openxmlformats.org/drawingml/2006/main">
            <a:r>
              <a:t>outputs/fn-reduction-2026-09-16/scorecard-known-development.json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40004b41ab4e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2d27d0f2e94fd0" /><Relationship Type="http://schemas.openxmlformats.org/officeDocument/2006/relationships/slideLayout" Target="/ppt/slideLayouts/slideLayout1.xml" Id="R944de6c12ef5400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4de6c12ef5400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23ee1c6004f14bf7" /><ns0:Relationship Type="http://schemas.openxmlformats.org/officeDocument/2006/relationships/image" Target="/ppt/media/image.png" Id="Rbc77e40048254d92" /><ns0:Relationship Type="http://schemas.openxmlformats.org/officeDocument/2006/relationships/notesSlide" Target="/ppt/notesSlides/notesSlide1.xml" Id="Rbf8e05bb369740fe" /><ns0:Relationship Id="rIdExternalLink1" Type="http://schemas.openxmlformats.org/officeDocument/2006/relationships/hyperlink" Target="http://localhost:4120/stripped" TargetMode="External" /><ns0:Relationship Id="rIdExternalLink2" Type="http://schemas.openxmlformats.org/officeDocument/2006/relationships/hyperlink" Target="https://github.com/bGOATnote/counselcodex/blob/main/docs/GUI_ACCESS.m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a34ee5c89a4705" /><Relationship Type="http://schemas.openxmlformats.org/officeDocument/2006/relationships/image" Target="/ppt/media/image.jpeg" Id="R53aa9368849c4215" /><Relationship Type="http://schemas.openxmlformats.org/officeDocument/2006/relationships/image" Target="/ppt/media/image2.jpeg" Id="Ra8349924904c44a2" /><Relationship Type="http://schemas.openxmlformats.org/officeDocument/2006/relationships/notesSlide" Target="/ppt/notesSlides/notesSlide2.xml" Id="Rc42d7340f8ce45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d67191f6664088" /><Relationship Type="http://schemas.openxmlformats.org/officeDocument/2006/relationships/notesSlide" Target="/ppt/notesSlides/notesSlide3.xml" Id="Rdd435d488e944e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64929b85a4b4ce2" /><Relationship Type="http://schemas.openxmlformats.org/officeDocument/2006/relationships/image" Target="/ppt/media/image2.png" Id="R3195ccbc7c1e42e8" /><Relationship Type="http://schemas.openxmlformats.org/officeDocument/2006/relationships/notesSlide" Target="/ppt/notesSlides/notesSlide4.xml" Id="R64dbcb6c7c3f4e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ee1f157bd841f7" /><Relationship Type="http://schemas.openxmlformats.org/officeDocument/2006/relationships/notesSlide" Target="/ppt/notesSlides/notesSlide5.xml" Id="R796a9a898a6e4c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7574a9bf9c3493a" /><Relationship Type="http://schemas.openxmlformats.org/officeDocument/2006/relationships/notesSlide" Target="/ppt/notesSlides/notesSlide6.xml" Id="R1daac61f255a4b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5d3e0b45bda443a" /><Relationship Type="http://schemas.openxmlformats.org/officeDocument/2006/relationships/notesSlide" Target="/ppt/notesSlides/notesSlide7.xml" Id="R1a3f5c32fd474c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8b9640558d41e0" /><Relationship Type="http://schemas.openxmlformats.org/officeDocument/2006/relationships/notesSlide" Target="/ppt/notesSlides/notesSlide8.xml" Id="Re5a204df964a4b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500301d21b44650" /><Relationship Type="http://schemas.openxmlformats.org/officeDocument/2006/relationships/notesSlide" Target="/ppt/notesSlides/notesSlide9.xml" Id="Rf290cf6cb5744f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baf2686beaa4b42" /><Relationship Type="http://schemas.openxmlformats.org/officeDocument/2006/relationships/notesSlide" Target="/ppt/notesSlides/notesSlide10.xml" Id="R3a4ee6258b1a49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7b7b7f161394ed6" /><Relationship Type="http://schemas.openxmlformats.org/officeDocument/2006/relationships/notesSlide" Target="/ppt/notesSlides/notesSlide11.xml" Id="Rbbab858d4a9542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bac9b151a1c4136" /><Relationship Type="http://schemas.openxmlformats.org/officeDocument/2006/relationships/notesSlide" Target="/ppt/notesSlides/notesSlide12.xml" Id="R36428f9f00524d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b9a874237924ff6" /><Relationship Type="http://schemas.openxmlformats.org/officeDocument/2006/relationships/notesSlide" Target="/ppt/notesSlides/notesSlide13.xml" Id="Rfd742b984ee34f0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141546ab86146e7" /><Relationship Type="http://schemas.openxmlformats.org/officeDocument/2006/relationships/notesSlide" Target="/ppt/notesSlides/notesSlide14.xml" Id="Rd3fd3b91d24540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0f9a8710fca41f6" /><Relationship Type="http://schemas.openxmlformats.org/officeDocument/2006/relationships/notesSlide" Target="/ppt/notesSlides/notesSlide15.xml" Id="R8682ec545a7f42a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95b17e3777242d6" /><Relationship Type="http://schemas.openxmlformats.org/officeDocument/2006/relationships/image" Target="/ppt/media/image3.jpeg" Id="R6b64817263044ecf" /><Relationship Type="http://schemas.openxmlformats.org/officeDocument/2006/relationships/notesSlide" Target="/ppt/notesSlides/notesSlide16.xml" Id="R1550a3e01bb147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f06b58f698485c" /><Relationship Type="http://schemas.openxmlformats.org/officeDocument/2006/relationships/notesSlide" Target="/ppt/notesSlides/notesSlide17.xml" Id="Re09ceabacba3484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ba36b4193ba42e4" /><Relationship Type="http://schemas.openxmlformats.org/officeDocument/2006/relationships/notesSlide" Target="/ppt/notesSlides/notesSlide18.xml" Id="Rbc1636e527d243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ff57c06f1994b61" /><Relationship Type="http://schemas.openxmlformats.org/officeDocument/2006/relationships/notesSlide" Target="/ppt/notesSlides/notesSlide19.xml" Id="R525aa170e97c442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c6a484894184531" /><Relationship Type="http://schemas.openxmlformats.org/officeDocument/2006/relationships/notesSlide" Target="/ppt/notesSlides/notesSlide20.xml" Id="R1ecb987f716448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a710e425054f74" /><Relationship Type="http://schemas.openxmlformats.org/officeDocument/2006/relationships/notesSlide" Target="/ppt/notesSlides/notesSlide21.xml" Id="R71e1d1d7db2c4f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fc7aba4e65b4de5" /><Relationship Type="http://schemas.openxmlformats.org/officeDocument/2006/relationships/notesSlide" Target="/ppt/notesSlides/notesSlide22.xml" Id="R6470347fce50406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255645b61404892" /><Relationship Type="http://schemas.openxmlformats.org/officeDocument/2006/relationships/notesSlide" Target="/ppt/notesSlides/notesSlide23.xml" Id="Rad985d182d344bb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5b06fd25dd54703" /><Relationship Type="http://schemas.openxmlformats.org/officeDocument/2006/relationships/notesSlide" Target="/ppt/notesSlides/notesSlide24.xml" Id="R1de2c4a58c63406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c4e4e2d733c4b96" /><Relationship Type="http://schemas.openxmlformats.org/officeDocument/2006/relationships/notesSlide" Target="/ppt/notesSlides/notesSlide25.xml" Id="R850667d0489244f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85f297a9eef4560" /><Relationship Type="http://schemas.openxmlformats.org/officeDocument/2006/relationships/notesSlide" Target="/ppt/notesSlides/notesSlide26.xml" Id="Rb5c2ee5b7a84437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e64c694b1224806" /><Relationship Type="http://schemas.openxmlformats.org/officeDocument/2006/relationships/notesSlide" Target="/ppt/notesSlides/notesSlide27.xml" Id="Rc60f22d8604144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aa7f23b929e445c" /><Relationship Type="http://schemas.openxmlformats.org/officeDocument/2006/relationships/notesSlide" Target="/ppt/notesSlides/notesSlide28.xml" Id="Rfeea23185e034e9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1551960c3ee4328" /><Relationship Type="http://schemas.openxmlformats.org/officeDocument/2006/relationships/notesSlide" Target="/ppt/notesSlides/notesSlide29.xml" Id="R252bfc694b7c4ee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7fac6af6b1546d9" /><Relationship Type="http://schemas.openxmlformats.org/officeDocument/2006/relationships/notesSlide" Target="/ppt/notesSlides/notesSlide30.xml" Id="R691027313b604d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e7bc33170dd4857" /><Relationship Type="http://schemas.openxmlformats.org/officeDocument/2006/relationships/notesSlide" Target="/ppt/notesSlides/notesSlide31.xml" Id="R10d3c6b8abeb414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937193ffb414468" /><Relationship Type="http://schemas.openxmlformats.org/officeDocument/2006/relationships/notesSlide" Target="/ppt/notesSlides/notesSlide32.xml" Id="R4abee775ed02480d"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6" name="">
            <a:extLst>
              <a:ext uri="{FF2B5EF4-FFF2-40B4-BE49-F238E27FC236}">
                <ns2:creationId id="{E2006363-5ED7-4E19-9A8F-1A5DF2382B5F}"/>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sp>
        <p:nvSpPr>
          <p:cNvPr id="2" name="">
            <a:extLst>
              <a:ext uri="{FF2B5EF4-FFF2-40B4-BE49-F238E27FC236}">
                <ns2:creationId id="{6E3495E1-E1C6-4BBF-98DD-16C27821CE30}"/>
              </a:ext>
            </a:extLst>
          </p:cNvPr>
          <p:cNvSpPr>
            <a:spLocks noGrp="1"/>
          </p:cNvSpPr>
          <p:nvPr/>
        </p:nvSpPr>
        <p:spPr>
          <a:xfrm>
            <a:off x="9810750" y="161925"/>
            <a:ext cx="1619250" cy="2190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Prepared for</a:t>
            </a:r>
          </a:p>
        </p:txBody>
      </p:sp>
      <p:pic>
        <p:nvPicPr>
          <p:cNvPr id="18" name=""/>
          <p:cNvPicPr>
            <a:picLocks noChangeAspect="1"/>
          </p:cNvPicPr>
          <p:nvPr/>
        </p:nvPicPr>
        <p:blipFill>
          <a:blip r:embed="Rbc77e40048254d92"/>
          <a:stretch/>
        </p:blipFill>
        <p:spPr>
          <a:xfrm>
            <a:off x="9810750" y="381794"/>
            <a:ext cx="1619250" cy="674688"/>
          </a:xfrm>
          <a:prstGeom prst="rect">
            <a:avLst/>
          </a:prstGeom>
        </p:spPr>
      </p:pic>
      <p:sp>
        <p:nvSpPr>
          <p:cNvPr id="4" name="">
            <a:extLst>
              <a:ext uri="{FF2B5EF4-FFF2-40B4-BE49-F238E27FC236}">
                <ns2:creationId id="{AAFB440B-FCE4-4D06-9F25-14BE25EE8E2F}"/>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5" name="">
            <a:extLst>
              <a:ext uri="{FF2B5EF4-FFF2-40B4-BE49-F238E27FC236}">
                <ns2:creationId id="{6CB5875B-39FB-4C54-A775-7D7F2B012FE9}"/>
              </a:ext>
            </a:extLst>
          </p:cNvPr>
          <p:cNvSpPr>
            <a:spLocks noGrp="1"/>
          </p:cNvSpPr>
          <p:nvPr/>
        </p:nvSpPr>
        <p:spPr>
          <a:xfrm>
            <a:off x="800100" y="2952750"/>
            <a:ext cx="10096500" cy="40005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6" name="">
            <a:extLst>
              <a:ext uri="{FF2B5EF4-FFF2-40B4-BE49-F238E27FC236}">
                <ns2:creationId id="{143EC994-B347-47BE-81BE-7624456E2377}"/>
              </a:ext>
            </a:extLst>
          </p:cNvPr>
          <p:cNvSpPr>
            <a:spLocks noGrp="1"/>
          </p:cNvSpPr>
          <p:nvPr/>
        </p:nvSpPr>
        <p:spPr>
          <a:xfrm>
            <a:off x="800100" y="357187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7" name="">
            <a:extLst>
              <a:ext uri="{FF2B5EF4-FFF2-40B4-BE49-F238E27FC236}">
                <ns2:creationId id="{B90B43DC-D5D0-4D13-9642-A42753BF68A8}"/>
              </a:ext>
            </a:extLst>
          </p:cNvPr>
          <p:cNvSpPr>
            <a:spLocks noGrp="1"/>
          </p:cNvSpPr>
          <p:nvPr/>
        </p:nvSpPr>
        <p:spPr>
          <a:xfrm>
            <a:off x="800100" y="39624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8" name="">
            <a:extLst>
              <a:ext uri="{FF2B5EF4-FFF2-40B4-BE49-F238E27FC236}">
                <ns2:creationId id="{CBCA569A-3727-43A7-A567-58B59F11AEE6}"/>
              </a:ext>
            </a:extLst>
          </p:cNvPr>
          <p:cNvSpPr>
            <a:spLocks noGrp="1"/>
          </p:cNvSpPr>
          <p:nvPr/>
        </p:nvSpPr>
        <p:spPr>
          <a:xfrm>
            <a:off x="800100" y="443865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ExternalLink1"/>
              </a:rPr>
              <a:t>http://localhost:4120/stripped</a:t>
            </a:r>
          </a:p>
        </p:txBody>
      </p:sp>
      <p:sp>
        <p:nvSpPr>
          <p:cNvPr id="9" name="">
            <a:extLst>
              <a:ext uri="{FF2B5EF4-FFF2-40B4-BE49-F238E27FC236}">
                <ns2:creationId id="{E715EAB3-7AA5-4237-9C98-EA1C48C77D39}"/>
              </a:ext>
            </a:extLst>
          </p:cNvPr>
          <p:cNvSpPr>
            <a:spLocks noGrp="1"/>
          </p:cNvSpPr>
          <p:nvPr/>
        </p:nvSpPr>
        <p:spPr>
          <a:xfrm>
            <a:off x="800100" y="47910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Run npm run demo on this computer.</a:t>
            </a:r>
          </a:p>
        </p:txBody>
      </p:sp>
      <p:sp>
        <p:nvSpPr>
          <p:cNvPr id="10" name="">
            <a:extLst>
              <a:ext uri="{FF2B5EF4-FFF2-40B4-BE49-F238E27FC236}">
                <ns2:creationId id="{C2FC0D9E-FB52-4F46-9F3C-02D12D651BA9}"/>
              </a:ext>
            </a:extLst>
          </p:cNvPr>
          <p:cNvSpPr>
            <a:spLocks noGrp="1"/>
          </p:cNvSpPr>
          <p:nvPr/>
        </p:nvSpPr>
        <p:spPr>
          <a:xfrm>
            <a:off x="800100" y="5172075"/>
            <a:ext cx="2143125" cy="257175"/>
          </a:xfrm>
          <a:prstGeom prst="rect">
            <a:avLst/>
          </a:prstGeom>
          <a:noFill/>
          <a:ln w="0">
            <a:noFill/>
          </a:ln>
        </p:spPr>
        <p:txBody>
          <a:bodyPr wrap="square" lIns="0" tIns="0" rIns="0" bIns="0" anchor="t">
            <a:noAutofit/>
          </a:bodyPr>
          <a:lstStyle/>
          <a:p>
            <a:pPr>
              <a:defRPr sz="1500" b="1">
                <a:solidFill>
                  <a:srgbClr val="286B68"/>
                </a:solidFill>
                <a:latin typeface="Arial"/>
                <a:ea typeface="Arial"/>
                <a:cs typeface="Arial"/>
              </a:defRPr>
            </a:pPr>
            <a:r>
              <a:rPr sz="1500" b="1">
                <a:solidFill>
                  <a:srgbClr val="286B68"/>
                </a:solidFill>
                <a:latin typeface="Arial"/>
                <a:ea typeface="Arial"/>
                <a:cs typeface="Arial"/>
              </a:rPr>
              <a:t>Public reviewer guide</a:t>
            </a:r>
          </a:p>
        </p:txBody>
      </p:sp>
      <p:sp>
        <p:nvSpPr>
          <p:cNvPr id="11" name="">
            <a:extLst>
              <a:ext uri="{FF2B5EF4-FFF2-40B4-BE49-F238E27FC236}">
                <ns2:creationId id="{E2F8A6C0-FDAB-4D26-B88D-F5FD6A0EADC2}"/>
              </a:ext>
            </a:extLst>
          </p:cNvPr>
          <p:cNvSpPr>
            <a:spLocks noGrp="1"/>
          </p:cNvSpPr>
          <p:nvPr/>
        </p:nvSpPr>
        <p:spPr>
          <a:xfrm>
            <a:off x="2990850" y="5181600"/>
            <a:ext cx="8439150" cy="257175"/>
          </a:xfrm>
          <a:prstGeom prst="rect">
            <a:avLst/>
          </a:prstGeom>
          <a:noFill/>
          <a:ln w="0">
            <a:noFill/>
          </a:ln>
        </p:spPr>
        <p:txBody>
          <a:bodyPr wrap="square" lIns="0" tIns="0" rIns="0" bIns="0" anchor="t">
            <a:noAutofit/>
          </a:bodyPr>
          <a:lstStyle/>
          <a:p>
            <a:pPr>
              <a:defRPr sz="1500">
                <a:solidFill>
                  <a:srgbClr val="286B68"/>
                </a:solidFill>
                <a:latin typeface="Arial"/>
                <a:ea typeface="Arial"/>
                <a:cs typeface="Arial"/>
              </a:defRPr>
            </a:pPr>
            <a:r>
              <a:rPr sz="1500">
                <a:solidFill>
                  <a:srgbClr val="286B68"/>
                </a:solidFill>
                <a:latin typeface="Arial"/>
                <a:ea typeface="Arial"/>
                <a:cs typeface="Arial"/>
                <a:hlinkClick r:id="rIdExternalLink2"/>
              </a:rPr>
              <a:t>https://github.com/bGOATnote/counselcodex/blob/main/docs/GUI_ACCESS.md</a:t>
            </a:r>
          </a:p>
        </p:txBody>
      </p:sp>
      <p:sp>
        <p:nvSpPr>
          <p:cNvPr id="12" name="">
            <a:extLst>
              <a:ext uri="{FF2B5EF4-FFF2-40B4-BE49-F238E27FC236}">
                <ns2:creationId id="{90B05C36-8580-48F7-A244-C30E230AB171}"/>
              </a:ext>
            </a:extLst>
          </p:cNvPr>
          <p:cNvSpPr>
            <a:spLocks noGrp="1"/>
          </p:cNvSpPr>
          <p:nvPr/>
        </p:nvSpPr>
        <p:spPr>
          <a:xfrm>
            <a:off x="800100" y="5638800"/>
            <a:ext cx="10287000" cy="323850"/>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48/50 with revised physician labels. Original result retained at 44/49.</a:t>
            </a:r>
          </a:p>
        </p:txBody>
      </p:sp>
      <p:sp>
        <p:nvSpPr>
          <p:cNvPr id="13" name="">
            <a:extLst>
              <a:ext uri="{FF2B5EF4-FFF2-40B4-BE49-F238E27FC236}">
                <ns2:creationId id="{50774CC7-F850-468C-992F-B71F5A6D64B2}"/>
              </a:ext>
            </a:extLst>
          </p:cNvPr>
          <p:cNvSpPr>
            <a:spLocks noGrp="1"/>
          </p:cNvSpPr>
          <p:nvPr/>
        </p:nvSpPr>
        <p:spPr>
          <a:xfrm>
            <a:off x="800100" y="5991225"/>
            <a:ext cx="10287000" cy="266700"/>
          </a:xfrm>
          <a:prstGeom prst="rect">
            <a:avLst/>
          </a:prstGeom>
          <a:noFill/>
          <a:ln w="0">
            <a:noFill/>
          </a:ln>
        </p:spPr>
        <p:txBody>
          <a:bodyPr wrap="square" lIns="0" tIns="0" rIns="0" bIns="0" anchor="t">
            <a:noAutofit/>
          </a:bodyPr>
          <a:lstStyle/>
          <a:p>
            <a:pPr>
              <a:defRPr sz="1500">
                <a:solidFill>
                  <a:srgbClr val="28354A"/>
                </a:solidFill>
                <a:latin typeface="Arial"/>
                <a:ea typeface="Arial"/>
                <a:cs typeface="Arial"/>
              </a:defRPr>
            </a:pPr>
            <a:r>
              <a:rPr sz="1500">
                <a:solidFill>
                  <a:srgbClr val="28354A"/>
                </a:solidFill>
                <a:latin typeface="Arial"/>
                <a:ea typeface="Arial"/>
                <a:cs typeface="Arial"/>
              </a:rPr>
              <a:t>Known development cases. One physician reassessed labels after viewing outputs.</a:t>
            </a:r>
          </a:p>
        </p:txBody>
      </p:sp>
      <p:sp>
        <p:nvSpPr>
          <p:cNvPr id="14" name="">
            <a:extLst>
              <a:ext uri="{FF2B5EF4-FFF2-40B4-BE49-F238E27FC236}">
                <ns2:creationId id="{1A56EA99-303D-41D0-A898-212C168D1FD2}"/>
              </a:ext>
            </a:extLst>
          </p:cNvPr>
          <p:cNvSpPr>
            <a:spLocks noGrp="1"/>
          </p:cNvSpPr>
          <p:nvPr/>
        </p:nvSpPr>
        <p:spPr>
          <a:xfrm>
            <a:off x="800100" y="6372225"/>
            <a:ext cx="10191750" cy="2952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Independent take-home project; former affiliation is biographical. No institutional or vendor endorsement.</a:t>
            </a:r>
          </a:p>
        </p:txBody>
      </p:sp>
      <p:sp>
        <p:nvSpPr>
          <p:cNvPr id="15" name="">
            <a:extLst>
              <a:ext uri="{FF2B5EF4-FFF2-40B4-BE49-F238E27FC236}">
                <ns2:creationId id="{BE3A2BDF-08F4-4BE5-B2AB-77DA505E9CF1}"/>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734977239"/>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D7A1BB-8FE5-40F8-BDB6-D98E620D3F9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53aa9368849c4215"/>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8349924904c44a2"/>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B37C659-B8D8-4E96-889E-CFDD31D837D8}"/>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107D74B2-7D02-4C9C-A404-223EBCD3DE17}"/>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DA59ACE5-27AC-440B-AC48-FD3EFE120F36}"/>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Frozen 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BA3F602D-74A6-47B7-B022-C5AFCE20391C}"/>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30307286-6750-417F-AEAD-55937059ED2A}"/>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467180A2-393C-4943-93B5-3D69A6B5C7F9}"/>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D3347670-7349-403E-86ED-2821AB871264}"/>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16.</a:t>
            </a:r>
          </a:p>
        </p:txBody>
      </p:sp>
      <p:sp>
        <p:nvSpPr>
          <p:cNvPr id="11" name="">
            <a:extLst xmlns:a="http://schemas.openxmlformats.org/drawingml/2006/main">
              <a:ext uri="{FF2B5EF4-FFF2-40B4-BE49-F238E27FC236}">
                <a16:creationId xmlns:a16="http://schemas.microsoft.com/office/drawing/2014/main" id="{6F969228-7BF8-4C24-9978-E690C8FCF8F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220408299"/>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68A7245-EF6B-4775-9521-EAF2F2068C2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CBE95E4C-CD59-4C3C-9896-75A10474EC1D}"/>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Frozen Fable SELF_CARE → physician ASYNC_PHYSICIAN</a:t>
            </a:r>
          </a:p>
        </p:txBody>
      </p:sp>
      <p:sp>
        <p:nvSpPr>
          <p:cNvPr id="3" name="">
            <a:extLst xmlns:a="http://schemas.openxmlformats.org/drawingml/2006/main">
              <a:ext uri="{FF2B5EF4-FFF2-40B4-BE49-F238E27FC236}">
                <a16:creationId xmlns:a16="http://schemas.microsoft.com/office/drawing/2014/main" id="{061A2D2F-E8F5-4441-9BCA-72D221C27366}"/>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986A513A-4F56-497B-8928-99AB9A743BDE}"/>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ECEDC388-200C-45FF-8CBA-5ADE0D41D04E}"/>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1BF92A20-71C6-44C0-9C3F-427F51486CFD}"/>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CBE50E17-AA84-4292-8D14-845209FF02C7}"/>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C0D9183F-66CF-4E36-A5F1-A381273A178C}"/>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Both Astra settings selected ASYNC_PHYSICIAN. No patient outcome or observed harm was measured.</a:t>
            </a:r>
          </a:p>
        </p:txBody>
      </p:sp>
      <p:sp>
        <p:nvSpPr>
          <p:cNvPr id="9" name="">
            <a:extLst xmlns:a="http://schemas.openxmlformats.org/drawingml/2006/main">
              <a:ext uri="{FF2B5EF4-FFF2-40B4-BE49-F238E27FC236}">
                <a16:creationId xmlns:a16="http://schemas.microsoft.com/office/drawing/2014/main" id="{07F6EA3E-1135-4B41-AE4C-19718251176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652594943"/>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FD8AB5-63E8-46EC-B60D-5B6BC47788C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195ccbc7c1e42e8"/>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A0CCFAF-8B07-4781-AF99-569D920AD856}"/>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B4791358-D571-460A-B385-B342984D2283}"/>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11440483-3CBC-4FAA-BD4F-CB9006E2202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7841FAE7-BD21-4207-A030-4472A1199AA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p14:creationId xmlns:p14="http://schemas.microsoft.com/office/powerpoint/2010/main" val="1210388423"/>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DBFF1D-F202-4FB5-A4EE-5EBBA550B8A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decision and the available evidence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Assignment evidence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Implementation choice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An incoming patient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Choose a care-route bucket</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Three supplied disposition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Keep the assignment interface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50 CSV rows; the brief describes 20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Run and retain every supplied message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disagreement with supplied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physician review for clinical evaluation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A0233E7-BB1D-434B-A797-2F847993600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CSV labels remain an archived discussion baseline. They do not select the model or define clinical correctness.</a:t>
            </a:r>
          </a:p>
        </p:txBody>
      </p:sp>
      <p:sp>
        <p:nvSpPr>
          <p:cNvPr id="4" name="">
            <a:extLst xmlns:a="http://schemas.openxmlformats.org/drawingml/2006/main">
              <a:ext uri="{FF2B5EF4-FFF2-40B4-BE49-F238E27FC236}">
                <a16:creationId xmlns:a16="http://schemas.microsoft.com/office/drawing/2014/main" id="{EA61A5B7-0CB1-4738-86AB-FF1858060EC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1015729828"/>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8E61FC-4A2C-4BC8-95F8-2E72D8D0B6F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frozen three-bucket contract</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267200"/>
                <a:gridCol w="6400800"/>
              </a:tblGrid>
              <a:tr h="459962">
                <a:tc>
                  <a:txBody>
                    <a:bodyPr/>
                    <a:lstStyle/>
                    <a:p>
                      <a:r>
                        <a:rPr sz="1725" b="1">
                          <a:solidFill>
                            <a:srgbClr val="FFFFFF"/>
                          </a:solidFill>
                          <a:latin typeface="Arial"/>
                          <a:ea typeface="Arial"/>
                          <a:cs typeface="Arial"/>
                        </a:rPr>
                        <a:t>Bucket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Meaning</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Guidance only; no clinician action now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ASYNC_PHYSICIAN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Asynchronous physician review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URGENT_ESCALATION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in-person care or emergency action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A4065233-B176-4F40-859C-6DE07A041FA0}"/>
              </a:ext>
            </a:extLst>
          </p:cNvPr>
          <p:cNvSpPr>
            <a:spLocks xmlns:a="http://schemas.openxmlformats.org/drawingml/2006/main" noGrp="1"/>
          </p:cNvSpPr>
          <p:nvPr/>
        </p:nvSpPr>
        <p:spPr>
          <a:xfrm xmlns:a="http://schemas.openxmlformats.org/drawingml/2006/main">
            <a:off x="762000" y="3649599"/>
            <a:ext cx="10382250" cy="595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Medication refill → ASYNC_PHYSICIAN unless clear same-day or emergency red flags require escalation.</a:t>
            </a:r>
          </a:p>
        </p:txBody>
      </p:sp>
      <p:sp>
        <p:nvSpPr>
          <p:cNvPr id="4" name="">
            <a:extLst xmlns:a="http://schemas.openxmlformats.org/drawingml/2006/main">
              <a:ext uri="{FF2B5EF4-FFF2-40B4-BE49-F238E27FC236}">
                <a16:creationId xmlns:a16="http://schemas.microsoft.com/office/drawing/2014/main" id="{4D4E5242-ED81-4FF1-A582-56EC2406F8A4}"/>
              </a:ext>
            </a:extLst>
          </p:cNvPr>
          <p:cNvSpPr>
            <a:spLocks xmlns:a="http://schemas.openxmlformats.org/drawingml/2006/main" noGrp="1"/>
          </p:cNvSpPr>
          <p:nvPr/>
        </p:nvSpPr>
        <p:spPr>
          <a:xfrm xmlns:a="http://schemas.openxmlformats.org/drawingml/2006/main">
            <a:off x="762000" y="436930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Return one exact bucket and a short rationale as JSON.</a:t>
            </a:r>
          </a:p>
        </p:txBody>
      </p:sp>
      <p:sp>
        <p:nvSpPr>
          <p:cNvPr id="5" name="">
            <a:extLst xmlns:a="http://schemas.openxmlformats.org/drawingml/2006/main">
              <a:ext uri="{FF2B5EF4-FFF2-40B4-BE49-F238E27FC236}">
                <a16:creationId xmlns:a16="http://schemas.microsoft.com/office/drawing/2014/main" id="{9C0B61DB-2CF2-4911-B1B6-2C5F1B45C4F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Async can provide same-day review. These buckets do not specify response deadlines or confirm completed care.</a:t>
            </a:r>
          </a:p>
        </p:txBody>
      </p:sp>
      <p:sp>
        <p:nvSpPr>
          <p:cNvPr id="6" name="">
            <a:extLst xmlns:a="http://schemas.openxmlformats.org/drawingml/2006/main">
              <a:ext uri="{FF2B5EF4-FFF2-40B4-BE49-F238E27FC236}">
                <a16:creationId xmlns:a16="http://schemas.microsoft.com/office/drawing/2014/main" id="{FE0381D9-195A-4110-B571-992F336B8F4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426871259"/>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597DD2-E228-4542-953F-C96F06C770D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Live demonstration</a:t>
            </a:r>
          </a:p>
        </p:txBody>
      </p:sp>
      <p:sp>
        <p:nvSpPr>
          <p:cNvPr id="2" name="">
            <a:extLst xmlns:a="http://schemas.openxmlformats.org/drawingml/2006/main">
              <a:ext uri="{FF2B5EF4-FFF2-40B4-BE49-F238E27FC236}">
                <a16:creationId xmlns:a16="http://schemas.microsoft.com/office/drawing/2014/main" id="{5477AD1C-D24F-40C9-9DC9-C6D90D6BA175}"/>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C01: routine symptoms</a:t>
            </a:r>
          </a:p>
        </p:txBody>
      </p:sp>
      <p:sp>
        <p:nvSpPr>
          <p:cNvPr id="3" name="">
            <a:extLst xmlns:a="http://schemas.openxmlformats.org/drawingml/2006/main">
              <a:ext uri="{FF2B5EF4-FFF2-40B4-BE49-F238E27FC236}">
                <a16:creationId xmlns:a16="http://schemas.microsoft.com/office/drawing/2014/main" id="{ED3DF6A2-F499-4DC4-A8B5-921E8ECD2FBC}"/>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C02: symptoms requiring urgent escalation</a:t>
            </a:r>
          </a:p>
        </p:txBody>
      </p:sp>
      <p:sp>
        <p:nvSpPr>
          <p:cNvPr id="4" name="">
            <a:extLst xmlns:a="http://schemas.openxmlformats.org/drawingml/2006/main">
              <a:ext uri="{FF2B5EF4-FFF2-40B4-BE49-F238E27FC236}">
                <a16:creationId xmlns:a16="http://schemas.microsoft.com/office/drawing/2014/main" id="{91C59989-0440-4498-880C-1CBA9DC6BACF}"/>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C06: stable medication refill</a:t>
            </a:r>
          </a:p>
        </p:txBody>
      </p:sp>
      <p:sp>
        <p:nvSpPr>
          <p:cNvPr id="5" name="">
            <a:extLst xmlns:a="http://schemas.openxmlformats.org/drawingml/2006/main">
              <a:ext uri="{FF2B5EF4-FFF2-40B4-BE49-F238E27FC236}">
                <a16:creationId xmlns:a16="http://schemas.microsoft.com/office/drawing/2014/main" id="{C10413B4-412A-4F13-BA07-0C374D0C4141}"/>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Edit C06 to add chest symptoms; inspect the new trace</a:t>
            </a:r>
          </a:p>
        </p:txBody>
      </p:sp>
      <p:sp>
        <p:nvSpPr>
          <p:cNvPr id="6" name="">
            <a:extLst xmlns:a="http://schemas.openxmlformats.org/drawingml/2006/main">
              <a:ext uri="{FF2B5EF4-FFF2-40B4-BE49-F238E27FC236}">
                <a16:creationId xmlns:a16="http://schemas.microsoft.com/office/drawing/2014/main" id="{0CBF2E5D-1D4E-4757-8CBE-412557F727A5}"/>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Each submission starts one independent provider call.</a:t>
            </a:r>
          </a:p>
        </p:txBody>
      </p:sp>
      <p:sp>
        <p:nvSpPr>
          <p:cNvPr id="7" name="">
            <a:extLst xmlns:a="http://schemas.openxmlformats.org/drawingml/2006/main">
              <a:ext uri="{FF2B5EF4-FFF2-40B4-BE49-F238E27FC236}">
                <a16:creationId xmlns:a16="http://schemas.microsoft.com/office/drawing/2014/main" id="{5B2E8EBE-C1BE-4537-B436-7E1C403A8DA1}"/>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Open /stripped. Use a clearly labeled saved record if the live attempt cannot complete. Exact inputs: appendix 23.</a:t>
            </a:r>
          </a:p>
        </p:txBody>
      </p:sp>
      <p:sp>
        <p:nvSpPr>
          <p:cNvPr id="8" name="">
            <a:extLst xmlns:a="http://schemas.openxmlformats.org/drawingml/2006/main">
              <a:ext uri="{FF2B5EF4-FFF2-40B4-BE49-F238E27FC236}">
                <a16:creationId xmlns:a16="http://schemas.microsoft.com/office/drawing/2014/main" id="{7CD5EB01-105C-4798-A607-B24717C656B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426372728"/>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047AE0B-98BD-4C46-9B45-BEE423A7B47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One call through a visible workflow</a:t>
            </a:r>
          </a:p>
        </p:txBody>
      </p:sp>
      <p:sp>
        <p:nvSpPr>
          <p:cNvPr id="2" name="">
            <a:extLst xmlns:a="http://schemas.openxmlformats.org/drawingml/2006/main">
              <a:ext uri="{FF2B5EF4-FFF2-40B4-BE49-F238E27FC236}">
                <a16:creationId xmlns:a16="http://schemas.microsoft.com/office/drawing/2014/main" id="{A47494FB-2907-4F19-A620-A1FD8CC5F687}"/>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18ED8953-7CC9-46C0-9741-33E40F2DD786}"/>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Patient message</a:t>
            </a:r>
          </a:p>
        </p:txBody>
      </p:sp>
      <p:sp>
        <p:nvSpPr>
          <p:cNvPr id="4" name="">
            <a:extLst xmlns:a="http://schemas.openxmlformats.org/drawingml/2006/main">
              <a:ext uri="{FF2B5EF4-FFF2-40B4-BE49-F238E27FC236}">
                <a16:creationId xmlns:a16="http://schemas.microsoft.com/office/drawing/2014/main" id="{B13F260D-AD76-4EE2-877B-DD6445C2F87C}"/>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A61BE79-D093-40FA-BF02-E5E7B2681A0D}"/>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One Mastra step</a:t>
            </a:r>
          </a:p>
        </p:txBody>
      </p:sp>
      <p:sp>
        <p:nvSpPr>
          <p:cNvPr id="6" name="">
            <a:extLst xmlns:a="http://schemas.openxmlformats.org/drawingml/2006/main">
              <a:ext uri="{FF2B5EF4-FFF2-40B4-BE49-F238E27FC236}">
                <a16:creationId xmlns:a16="http://schemas.microsoft.com/office/drawing/2014/main" id="{AABC776A-D53A-4966-9B21-03144EB5C41C}"/>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2D81A6D8-A7BE-427A-B6E0-5F666E608AC6}"/>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Native Anthropic call</a:t>
            </a:r>
          </a:p>
        </p:txBody>
      </p:sp>
      <p:sp>
        <p:nvSpPr>
          <p:cNvPr id="8" name="">
            <a:extLst xmlns:a="http://schemas.openxmlformats.org/drawingml/2006/main">
              <a:ext uri="{FF2B5EF4-FFF2-40B4-BE49-F238E27FC236}">
                <a16:creationId xmlns:a16="http://schemas.microsoft.com/office/drawing/2014/main" id="{1EA74291-092F-4772-B7A9-A2BB5AC4004E}"/>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19E93D36-00BB-459B-BC7B-EABF7C9649B0}"/>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Disposition and trace</a:t>
            </a:r>
          </a:p>
        </p:txBody>
      </p:sp>
      <p:sp>
        <p:nvSpPr>
          <p:cNvPr id="10" name="">
            <a:extLst xmlns:a="http://schemas.openxmlformats.org/drawingml/2006/main">
              <a:ext uri="{FF2B5EF4-FFF2-40B4-BE49-F238E27FC236}">
                <a16:creationId xmlns:a16="http://schemas.microsoft.com/office/drawing/2014/main" id="{0DD52983-48E0-4C40-ACFC-E81414CD8B63}"/>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TypeScript reproduces all 50 frozen Fable request bodies byte for byte.</a:t>
            </a:r>
          </a:p>
        </p:txBody>
      </p:sp>
      <p:sp>
        <p:nvSpPr>
          <p:cNvPr id="11" name="">
            <a:extLst xmlns:a="http://schemas.openxmlformats.org/drawingml/2006/main">
              <a:ext uri="{FF2B5EF4-FFF2-40B4-BE49-F238E27FC236}">
                <a16:creationId xmlns:a16="http://schemas.microsoft.com/office/drawing/2014/main" id="{DDEE6597-D269-4E0C-BD3C-4F62B9A5756E}"/>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The trace exposes final text, request IDs, token counts, and latency.</a:t>
            </a:r>
          </a:p>
        </p:txBody>
      </p:sp>
      <p:sp>
        <p:nvSpPr>
          <p:cNvPr id="12" name="">
            <a:extLst xmlns:a="http://schemas.openxmlformats.org/drawingml/2006/main">
              <a:ext uri="{FF2B5EF4-FFF2-40B4-BE49-F238E27FC236}">
                <a16:creationId xmlns:a16="http://schemas.microsoft.com/office/drawing/2014/main" id="{4641ED77-468C-44C1-A630-229D38AC2D62}"/>
              </a:ext>
            </a:extLst>
          </p:cNvPr>
          <p:cNvSpPr>
            <a:spLocks xmlns:a="http://schemas.openxmlformats.org/drawingml/2006/main" noGrp="1"/>
          </p:cNvSpPr>
          <p:nvPr/>
        </p:nvSpPr>
        <p:spPr>
          <a:xfrm xmlns:a="http://schemas.openxmlformats.org/drawingml/2006/main">
            <a:off x="762000" y="4504182"/>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Input edits clear results and prevent stale answers from appearing.</a:t>
            </a:r>
          </a:p>
        </p:txBody>
      </p:sp>
      <p:sp>
        <p:nvSpPr>
          <p:cNvPr id="13" name="">
            <a:extLst xmlns:a="http://schemas.openxmlformats.org/drawingml/2006/main">
              <a:ext uri="{FF2B5EF4-FFF2-40B4-BE49-F238E27FC236}">
                <a16:creationId xmlns:a16="http://schemas.microsoft.com/office/drawing/2014/main" id="{F96F44E2-9E47-48EB-9845-F897CCCCC98A}"/>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No automatic retry or fallback. Exported traces omit hidden reasoning and credentials.</a:t>
            </a:r>
          </a:p>
        </p:txBody>
      </p:sp>
      <p:sp>
        <p:nvSpPr>
          <p:cNvPr id="14" name="">
            <a:extLst xmlns:a="http://schemas.openxmlformats.org/drawingml/2006/main">
              <a:ext uri="{FF2B5EF4-FFF2-40B4-BE49-F238E27FC236}">
                <a16:creationId xmlns:a16="http://schemas.microsoft.com/office/drawing/2014/main" id="{1B69EA4B-931C-4719-88CC-0C933938E8C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588257605"/>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43F282-9D69-4F59-91E8-F8FCFB22124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 reference revision, with the original retained</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 view</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Fable 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What changed</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physician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 original record preserved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labels, same 49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Physician v3, all 50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 escalation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D3272FB-5DD8-47E9-B125-E0CF2199E4C4}"/>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ASYNC_PHYSICIAN.</a:t>
            </a:r>
          </a:p>
        </p:txBody>
      </p:sp>
      <p:sp>
        <p:nvSpPr>
          <p:cNvPr id="4" name="">
            <a:extLst xmlns:a="http://schemas.openxmlformats.org/drawingml/2006/main">
              <a:ext uri="{FF2B5EF4-FFF2-40B4-BE49-F238E27FC236}">
                <a16:creationId xmlns:a16="http://schemas.microsoft.com/office/drawing/2014/main" id="{8B1F7F74-91DB-4AC3-AAE4-FC45E8F76AF8}"/>
              </a:ext>
            </a:extLst>
          </p:cNvPr>
          <p:cNvSpPr>
            <a:spLocks xmlns:a="http://schemas.openxmlformats.org/drawingml/2006/main" noGrp="1"/>
          </p:cNvSpPr>
          <p:nvPr/>
        </p:nvSpPr>
        <p:spPr>
          <a:xfrm xmlns:a="http://schemas.openxmlformats.org/drawingml/2006/main">
            <a:off x="762000" y="409041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C25 receives a three-bucket label; the review does not specify emergency versus same-day care.</a:t>
            </a:r>
          </a:p>
        </p:txBody>
      </p:sp>
      <p:sp>
        <p:nvSpPr>
          <p:cNvPr id="5" name="">
            <a:extLst xmlns:a="http://schemas.openxmlformats.org/drawingml/2006/main">
              <a:ext uri="{FF2B5EF4-FFF2-40B4-BE49-F238E27FC236}">
                <a16:creationId xmlns:a16="http://schemas.microsoft.com/office/drawing/2014/main" id="{F10A7FCE-85AB-4547-8E60-015F8B21082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reassessment after viewing outputs; unblinded development evidence. Exact case text: appendices 24–25.</a:t>
            </a:r>
          </a:p>
        </p:txBody>
      </p:sp>
      <p:sp>
        <p:nvSpPr>
          <p:cNvPr id="6" name="">
            <a:extLst xmlns:a="http://schemas.openxmlformats.org/drawingml/2006/main">
              <a:ext uri="{FF2B5EF4-FFF2-40B4-BE49-F238E27FC236}">
                <a16:creationId xmlns:a16="http://schemas.microsoft.com/office/drawing/2014/main" id="{F6A40DFE-EC16-4182-893B-EDD30A83108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p14:creationId xmlns:p14="http://schemas.microsoft.com/office/powerpoint/2010/main" val="1116098289"/>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E1DA10-A2DE-4368-A8DD-2A4AEED3FAF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Frozen model comparison</a:t>
            </a:r>
          </a:p>
        </p:txBody>
      </p:sp>
      <p:graphicFrame>
        <p:nvGraphicFramePr>
          <p:cNvPr id="8" name=""/>
          <p:cNvGraphicFramePr/>
          <p:nvPr/>
        </p:nvGraphicFramePr>
        <p:xfrm>
          <a:off xmlns:a="http://schemas.openxmlformats.org/drawingml/2006/main" x="762000" y="1619250"/>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D6842EE-DEED-4E7E-9BF0-CBC31B5DC463}"/>
              </a:ext>
            </a:extLst>
          </p:cNvPr>
          <p:cNvSpPr>
            <a:spLocks xmlns:a="http://schemas.openxmlformats.org/drawingml/2006/main" noGrp="1"/>
          </p:cNvSpPr>
          <p:nvPr/>
        </p:nvSpPr>
        <p:spPr>
          <a:xfrm xmlns:a="http://schemas.openxmlformats.org/drawingml/2006/main">
            <a:off x="762000" y="4569524"/>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AECE8DE3-4F30-4CF7-A826-60181E41A10B}"/>
              </a:ext>
            </a:extLst>
          </p:cNvPr>
          <p:cNvSpPr>
            <a:spLocks xmlns:a="http://schemas.openxmlformats.org/drawingml/2006/main" noGrp="1"/>
          </p:cNvSpPr>
          <p:nvPr/>
        </p:nvSpPr>
        <p:spPr>
          <a:xfrm xmlns:a="http://schemas.openxmlformats.org/drawingml/2006/main">
            <a:off x="762000" y="5010341"/>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CB5463CE-3FA4-4494-A1CE-FEADC19E3A2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One 50-case pass per setting. Astra max is the highest verified API setting; ultra was unsupported. Exact C07/C19 messages: appendix 24; C47: slide 3.</a:t>
            </a:r>
          </a:p>
        </p:txBody>
      </p:sp>
      <p:sp>
        <p:nvSpPr>
          <p:cNvPr id="6" name="">
            <a:extLst xmlns:a="http://schemas.openxmlformats.org/drawingml/2006/main">
              <a:ext uri="{FF2B5EF4-FFF2-40B4-BE49-F238E27FC236}">
                <a16:creationId xmlns:a16="http://schemas.microsoft.com/office/drawing/2014/main" id="{753070FE-2E0C-49EF-A5F9-DAAAD4CC67C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1023995832"/>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90ED64-A532-49E8-A8DD-24A472D48019}"/>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overtriage: three corrected self-care labels</a:t>
            </a:r>
          </a:p>
        </p:txBody>
      </p:sp>
      <p:graphicFrame>
        <p:nvGraphicFramePr>
          <p:cNvPr id="8" name=""/>
          <p:cNvGraphicFramePr/>
          <p:nvPr/>
        </p:nvGraphicFramePr>
        <p:xfrm>
          <a:off xmlns:a="http://schemas.openxmlformats.org/drawingml/2006/main" x="762000" y="1839849"/>
          <a:ext xmlns:a="http://schemas.openxmlformats.org/drawingml/2006/main" cx="10668000" cy="2378774"/>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Physician correction</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advice requirement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C32: recent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with reassessment criteria</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seasonal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Check assumptions in medication advice</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C38: improving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Include pregnancy precautions for ibuprofen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93597CF-C260-4C00-9C5A-BF9F7F9B7E61}"/>
              </a:ext>
            </a:extLst>
          </p:cNvPr>
          <p:cNvSpPr>
            <a:spLocks xmlns:a="http://schemas.openxmlformats.org/drawingml/2006/main" noGrp="1"/>
          </p:cNvSpPr>
          <p:nvPr/>
        </p:nvSpPr>
        <p:spPr>
          <a:xfrm xmlns:a="http://schemas.openxmlformats.org/drawingml/2006/main">
            <a:off x="762000" y="4409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prior reference has false positives for clinician action; Fable is a true negative after correction.</a:t>
            </a:r>
          </a:p>
        </p:txBody>
      </p:sp>
      <p:sp>
        <p:nvSpPr>
          <p:cNvPr id="4" name="">
            <a:extLst xmlns:a="http://schemas.openxmlformats.org/drawingml/2006/main">
              <a:ext uri="{FF2B5EF4-FFF2-40B4-BE49-F238E27FC236}">
                <a16:creationId xmlns:a16="http://schemas.microsoft.com/office/drawing/2014/main" id="{96648007-6F56-449E-AA7A-6E458E6655A8}"/>
              </a:ext>
            </a:extLst>
          </p:cNvPr>
          <p:cNvSpPr>
            <a:spLocks xmlns:a="http://schemas.openxmlformats.org/drawingml/2006/main" noGrp="1"/>
          </p:cNvSpPr>
          <p:nvPr/>
        </p:nvSpPr>
        <p:spPr>
          <a:xfrm xmlns:a="http://schemas.openxmlformats.org/drawingml/2006/main">
            <a:off x="762000" y="4849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C38’s frozen rationale omits pregnancy precautions. Correct routing does not resolve that omission.</a:t>
            </a:r>
          </a:p>
        </p:txBody>
      </p:sp>
      <p:sp>
        <p:nvSpPr>
          <p:cNvPr id="5" name="">
            <a:extLst xmlns:a="http://schemas.openxmlformats.org/drawingml/2006/main">
              <a:ext uri="{FF2B5EF4-FFF2-40B4-BE49-F238E27FC236}">
                <a16:creationId xmlns:a16="http://schemas.microsoft.com/office/drawing/2014/main" id="{9C0304C3-CEEF-4787-A0A5-9D4626ADA0E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25.</a:t>
            </a:r>
          </a:p>
        </p:txBody>
      </p:sp>
      <p:sp>
        <p:nvSpPr>
          <p:cNvPr id="6" name="">
            <a:extLst xmlns:a="http://schemas.openxmlformats.org/drawingml/2006/main">
              <a:ext uri="{FF2B5EF4-FFF2-40B4-BE49-F238E27FC236}">
                <a16:creationId xmlns:a16="http://schemas.microsoft.com/office/drawing/2014/main" id="{73E3E1E1-8CCB-48C2-BE13-6B453FAC1A3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1245908843"/>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1FC4C9A-CA13-4CA6-A2CF-4AFF4FCFF65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Safety endpoints for the frozen baseline</a:t>
            </a:r>
          </a:p>
        </p:txBody>
      </p:sp>
      <p:graphicFrame>
        <p:nvGraphicFramePr>
          <p:cNvPr id="6"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4480560"/>
                <a:gridCol w="6187440"/>
              </a:tblGrid>
              <a:tr h="471678">
                <a:tc>
                  <a:txBody>
                    <a:bodyPr/>
                    <a:lstStyle/>
                    <a:p>
                      <a:r>
                        <a:rPr sz="1800" b="1">
                          <a:solidFill>
                            <a:srgbClr val="FFFFFF"/>
                          </a:solidFill>
                          <a:latin typeface="Arial"/>
                          <a:ea typeface="Arial"/>
                          <a:cs typeface="Arial"/>
                        </a:rPr>
                        <a:t>Endpoint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Observed result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Required clinician action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41/43 received a clinician or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Self-care when review was required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2/9 self-care outputs: C22 and C47</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Required urgent escalation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25/25 received an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Rationale quality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C22/C47 treat unreported findings as absent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C734C13-252D-4826-A08C-D628BFABEA1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Known development cases and post-output physician review. No outcomes measured. Urgent routing does not establish timing.</a:t>
            </a:r>
          </a:p>
        </p:txBody>
      </p:sp>
      <p:sp>
        <p:nvSpPr>
          <p:cNvPr id="4" name="">
            <a:extLst xmlns:a="http://schemas.openxmlformats.org/drawingml/2006/main">
              <a:ext uri="{FF2B5EF4-FFF2-40B4-BE49-F238E27FC236}">
                <a16:creationId xmlns:a16="http://schemas.microsoft.com/office/drawing/2014/main" id="{70EADC33-E7A2-4B9C-878E-D846BAD4BAB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394132160"/>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F4C7D29-A626-415B-9767-24307AE7041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Failure modes and evidence limits</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 mode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Current evidence or required work</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Stale answers after edits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cancellation and message matching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Reference changes inflate gains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Retained v2 scores and explicit v3 reconciliation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Correct route, unsafe advice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C38 requires separate rationale review</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Urgent route, unclear timing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Requires a policy for timing and transport</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Known cases used as validation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blinded cases and reviewers still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508CF0C-63F5-4040-A15D-BE25E923AEB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CD492481-89B4-4C27-A1A9-C0B009563DC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1717278837"/>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A8D5BC8-D936-41AE-9E07-205FE191EAC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reviewed improvement</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1600200"/>
                <a:gridCol w="4800600"/>
                <a:gridCol w="42672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Deliverable and owner</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before the next step</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Routing and timing policy</a:t>
                      </a:r>
                    </a:p>
                    <a:p>
                      <a:r>
                        <a:rPr sz="1800" b="0">
                          <a:solidFill>
                            <a:srgbClr val="28354A"/>
                          </a:solidFill>
                          <a:latin typeface="Arial"/>
                          <a:ea typeface="Arial"/>
                          <a:cs typeface="Arial"/>
                        </a:rPr>
                        <a:t>Clinical lead + care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Can clinicians apply the same boundaries?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cases with blinded labels</a:t>
                      </a:r>
                    </a:p>
                    <a:p>
                      <a:r>
                        <a:rPr sz="1800"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Fix error definitions and acceptance limits before inference.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test of missing information</a:t>
                      </a:r>
                    </a:p>
                    <a:p>
                      <a:r>
                        <a:rPr sz="1800" b="0">
                          <a:solidFill>
                            <a:srgbClr val="28354A"/>
                          </a:solidFill>
                          <a:latin typeface="Arial"/>
                          <a:ea typeface="Arial"/>
                          <a:cs typeface="Arial"/>
                        </a:rPr>
                        <a:t>Applied AI + clinical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Fewer misses within escalation and workload limits?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Reviewed change and evaluation</a:t>
                      </a:r>
                    </a:p>
                    <a:p>
                      <a:r>
                        <a:rPr sz="1800" b="0">
                          <a:solidFill>
                            <a:srgbClr val="28354A"/>
                          </a:solidFill>
                          <a:latin typeface="Arial"/>
                          <a:ea typeface="Arial"/>
                          <a:cs typeface="Arial"/>
                        </a:rPr>
                        <a:t>Engineering + clinical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 against the agreed criteria.</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C121F5C-AB20-493E-B73E-535ADEA51A8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development ablation is complete. Blinded clinical validation remains pending. The selected GUI stays unchanged.</a:t>
            </a:r>
          </a:p>
        </p:txBody>
      </p:sp>
      <p:sp>
        <p:nvSpPr>
          <p:cNvPr id="4" name="">
            <a:extLst xmlns:a="http://schemas.openxmlformats.org/drawingml/2006/main">
              <a:ext uri="{FF2B5EF4-FFF2-40B4-BE49-F238E27FC236}">
                <a16:creationId xmlns:a16="http://schemas.microsoft.com/office/drawing/2014/main" id="{D8DE4763-CA39-49CE-BB59-8F49048BD6A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452969687"/>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438A29-58AF-4FEA-88F9-E2AF985C6E9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Months 2–6: evidence for supervised use</a:t>
            </a:r>
          </a:p>
        </p:txBody>
      </p:sp>
      <p:graphicFrame>
        <p:nvGraphicFramePr>
          <p:cNvPr id="7" name=""/>
          <p:cNvGraphicFramePr/>
          <p:nvPr/>
        </p:nvGraphicFramePr>
        <p:xfrm>
          <a:off xmlns:a="http://schemas.openxmlformats.org/drawingml/2006/main" x="762000" y="1619250"/>
          <a:ext xmlns:a="http://schemas.openxmlformats.org/drawingml/2006/main" cx="10668000" cy="3292602"/>
        </p:xfrm>
        <a:graphic xmlns:a="http://schemas.openxmlformats.org/drawingml/2006/main">
          <a:graphicData uri="http://schemas.openxmlformats.org/drawingml/2006/table">
            <a:tbl>
              <a:tblPr firstRow="1" bandRow="0"/>
              <a:tblGrid>
                <a:gridCol w="2026920"/>
                <a:gridCol w="4160520"/>
                <a:gridCol w="4480560"/>
              </a:tblGrid>
              <a:tr h="471678">
                <a:tc>
                  <a:txBody>
                    <a:bodyPr/>
                    <a:lstStyle/>
                    <a:p>
                      <a:r>
                        <a:rPr sz="1800" b="1">
                          <a:solidFill>
                            <a:srgbClr val="FFFFFF"/>
                          </a:solidFill>
                          <a:latin typeface="Arial"/>
                          <a:ea typeface="Arial"/>
                          <a:cs typeface="Arial"/>
                        </a:rPr>
                        <a:t>Horizon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Engineering outcome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before expansion</a:t>
                      </a:r>
                    </a:p>
                  </a:txBody>
                  <a:tcPr marL="133350" marR="133350" marT="76200" marB="76200" anchor="ctr">
                    <a:solidFill>
                      <a:srgbClr val="243866"/>
                    </a:solidFill>
                  </a:tcPr>
                </a:tc>
              </a:tr>
              <a:tr h="1034034">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shared evaluation suite</a:t>
                      </a:r>
                    </a:p>
                    <a:p>
                      <a:r>
                        <a:rPr sz="1800" b="0">
                          <a:solidFill>
                            <a:srgbClr val="28354A"/>
                          </a:solidFill>
                          <a:latin typeface="Arial"/>
                          <a:ea typeface="Arial"/>
                          <a:cs typeface="Arial"/>
                        </a:rPr>
                        <a:t>Owner: clinical evaluation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Any engineer can reproduce the comparison. Severe misses and advice quality remain separate.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Observation alongside current care</a:t>
                      </a:r>
                    </a:p>
                    <a:p>
                      <a:r>
                        <a:rPr sz="1800" b="0">
                          <a:solidFill>
                            <a:srgbClr val="28354A"/>
                          </a:solidFill>
                          <a:latin typeface="Arial"/>
                          <a:ea typeface="Arial"/>
                          <a:cs typeface="Arial"/>
                        </a:rPr>
                        <a:t>Owner: care operations +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Physicians retain decisions. Measure overrides, delays and clinician workload.</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Months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bounded supervised workflow</a:t>
                      </a:r>
                    </a:p>
                    <a:p>
                      <a:r>
                        <a:rPr sz="1800" b="0">
                          <a:solidFill>
                            <a:srgbClr val="28354A"/>
                          </a:solidFill>
                          <a:latin typeface="Arial"/>
                          <a:ea typeface="Arial"/>
                          <a:cs typeface="Arial"/>
                        </a:rPr>
                        <a:t>Owner: clinical lead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within agreed safety limits, with incident review and a tested rollback.</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71586DB-0BF2-4DDF-A157-5F5AE539206A}"/>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First decision: when does missing information justify a question, and when does it require clinician review?</a:t>
            </a:r>
          </a:p>
        </p:txBody>
      </p:sp>
      <p:sp>
        <p:nvSpPr>
          <p:cNvPr id="4" name="">
            <a:extLst xmlns:a="http://schemas.openxmlformats.org/drawingml/2006/main">
              <a:ext uri="{FF2B5EF4-FFF2-40B4-BE49-F238E27FC236}">
                <a16:creationId xmlns:a16="http://schemas.microsoft.com/office/drawing/2014/main" id="{3305FE7D-83BA-4A0C-82F2-818EAAF7BB63}"/>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horizons depend on evidence and approved data access. Timing remains a separate validation task.</a:t>
            </a:r>
          </a:p>
        </p:txBody>
      </p:sp>
      <p:sp>
        <p:nvSpPr>
          <p:cNvPr id="5" name="">
            <a:extLst xmlns:a="http://schemas.openxmlformats.org/drawingml/2006/main">
              <a:ext uri="{FF2B5EF4-FFF2-40B4-BE49-F238E27FC236}">
                <a16:creationId xmlns:a16="http://schemas.microsoft.com/office/drawing/2014/main" id="{7CC1A7FD-CC96-4799-9E58-514FC4A1A55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600988350"/>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6C09FC-723C-4551-8E8D-28D815B123D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b64817263044ecf"/>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387B5D5-60EF-40D8-BCEE-F37DB3551AAE}"/>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DA673AA1-032A-4B60-AE47-0496C70F912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57A669B9-E759-48CB-B761-79A7F584D12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428767448"/>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6218BB4-D7D9-40A3-8725-B83A7D0082E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AB6E71D0-498C-4F6D-964C-E22218AEB57A}"/>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843B60B1-A108-4751-A1FC-73F76360F495}"/>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0A47DE9E-FAFA-4F23-A298-EF755FEE48D3}"/>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39C05C85-3316-48EE-ACE4-4A8864E8DE4A}"/>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B6AF6124-DD38-4D23-A1E3-9CB3A1853801}"/>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FEC0CEDD-48B4-4859-A120-8C2DD7E4EAD5}"/>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5A912B70-B2A7-4CD1-8A86-AB9AD079C5A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FE3FF3B6-A8CD-43F7-847A-EE71FBBC978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507489511"/>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A17B06D-503B-4512-B32B-3A9A542FB96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15 main slides; 7-minute demo; 17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062D805-D68D-4E65-B4B0-B5D5646360F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C346D22B-63A4-4762-AFF9-A84A3A8CCCC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652484674"/>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CA7FA0D-AB95-440B-A07F-093E795BA47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E827F966-D792-4580-93CE-87C91AAADFFA}"/>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3DE4DA3C-36D1-4FCC-8B93-E33AC12E44F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0A0085EC-D200-4B65-ADE9-71CC133A46C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1167939322"/>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7B244-ECC2-4742-8FD2-E9544EC87BA8}"/>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39D09F26-87CE-4838-B831-4B67AD413174}"/>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E469B88D-C505-4C3B-9739-99CDF1894C9F}"/>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9EB2AD8C-7C4A-4FFC-A24F-8AAD59DD0096}"/>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740BCD41-6E04-449A-895B-F758FE10C72E}"/>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F53A4421-11AD-46D2-BEB2-3B67E863076B}"/>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52834EE7-7F42-4B1F-AA62-02B16836D51C}"/>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160A957A-362A-4DB2-AD58-CE8E8E90BD9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1995028778"/>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17F7A7-96BE-486E-B487-E1FF3AF118FA}"/>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F9E5C77-138A-4C81-8EA9-82D53CDA03E9}"/>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8ECF002B-C1D3-4686-83F8-FC6FE11CFED4}"/>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FD840BD7-11B6-48F1-A5E1-AAA106BBE64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24.</a:t>
            </a:r>
          </a:p>
        </p:txBody>
      </p:sp>
      <p:sp>
        <p:nvSpPr>
          <p:cNvPr id="6" name="">
            <a:extLst xmlns:a="http://schemas.openxmlformats.org/drawingml/2006/main">
              <a:ext uri="{FF2B5EF4-FFF2-40B4-BE49-F238E27FC236}">
                <a16:creationId xmlns:a16="http://schemas.microsoft.com/office/drawing/2014/main" id="{1FD39FF5-7A01-4089-AC7E-3E7A5B02F90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1436861644"/>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AC56D0-85AF-4605-B151-8BFE9C6A7CB5}"/>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2F46BED-4057-49C6-A22E-33FAF3C3C844}"/>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800E3F99-D052-46FD-B83A-2951350D35A6}"/>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6F6E02DA-1E6E-4451-B447-4634705E799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23, 26–28.</a:t>
            </a:r>
          </a:p>
        </p:txBody>
      </p:sp>
      <p:sp>
        <p:nvSpPr>
          <p:cNvPr id="6" name="">
            <a:extLst xmlns:a="http://schemas.openxmlformats.org/drawingml/2006/main">
              <a:ext uri="{FF2B5EF4-FFF2-40B4-BE49-F238E27FC236}">
                <a16:creationId xmlns:a16="http://schemas.microsoft.com/office/drawing/2014/main" id="{336CF50D-C13C-414E-BFA2-65A67CEC824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745499933"/>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6FC8CC-4DC3-4F00-8D59-CC422B51183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BEE81B8-427A-47CE-A8F1-4E749D9C993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56F4AAD6-E5FA-416F-8899-0939D65A4B8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1752884258"/>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6C68A8D-17EE-47C0-8C79-3FC2819037D1}"/>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C86F1FD-B867-4CA9-AE3F-FB52273F41B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CF59B1D-780F-4E78-BEB0-7AC134A91CF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130690183"/>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35DA540-EAAF-45B3-BD31-F5BACDD6CCF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ACFFA5C-F5F4-44EA-A02E-E493AF4A762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0ACC60CE-9F92-4CAD-B365-2DF98E95EDC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1769665292"/>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1DA46E6-1054-4F8C-B131-690FDD70447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F1D2AFC-154E-4692-AC27-090ED6A5CB2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3293837F-D9C7-406F-9BBC-7B4C3145D83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1461432178"/>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51C15A7-6BB4-4A91-A9C7-EF2EE2699B9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28C2DE4-64FA-4F02-8A9B-31E56965842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E57853C5-EF00-4095-BF09-1AD90CA4BA7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1979001750"/>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BCA172C-BCB6-46CA-A21B-75C3E356784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FE24925-C62D-42A6-89E5-4B1A1D412DB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F8F36E5B-EFEF-4AC2-B359-B54814C8051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779074584"/>
      </p:ext>
    </p:extLst>
  </p:cSld>
</p:sld>
</file>

<file path=ppt/slides/slide2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502D6DE-CC98-428C-80A9-B5CF1728584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Development: urgent-reference disagreements</a:t>
            </a:r>
          </a:p>
        </p:txBody>
      </p:sp>
      <p:graphicFrame>
        <p:nvGraphicFramePr>
          <p:cNvPr id="7" name=""/>
          <p:cNvGraphicFramePr/>
          <p:nvPr/>
        </p:nvGraphicFramePr>
        <p:xfrm>
          <a:off xmlns:a="http://schemas.openxmlformats.org/drawingml/2006/main" x="762000" y="1619250"/>
          <a:ext xmlns:a="http://schemas.openxmlformats.org/drawingml/2006/main" cx="10668000" cy="3679698"/>
        </p:xfrm>
        <a:graphic xmlns:a="http://schemas.openxmlformats.org/drawingml/2006/main">
          <a:graphicData uri="http://schemas.openxmlformats.org/drawingml/2006/table">
            <a:tbl>
              <a:tblPr firstRow="1" bandRow="0"/>
              <a:tblGrid>
                <a:gridCol w="6400800"/>
                <a:gridCol w="2133600"/>
                <a:gridCol w="2133600"/>
              </a:tblGrid>
              <a:tr h="459962">
                <a:tc>
                  <a:txBody>
                    <a:bodyPr/>
                    <a:lstStyle/>
                    <a:p>
                      <a:r>
                        <a:rPr sz="1725" b="1">
                          <a:solidFill>
                            <a:srgbClr val="FFFFFF"/>
                          </a:solidFill>
                          <a:latin typeface="Arial"/>
                          <a:ea typeface="Arial"/>
                          <a:cs typeface="Arial"/>
                        </a:rPr>
                        <a:t>Case set and endpoint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Baseline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New prompt</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Known physician reference: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44/50</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required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urgent-reference cases assigned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0/25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3/25</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unnecessary clinician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1/7</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22/24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23/24</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0/18</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Challenge: urgent-reference cases not urgent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201CF68-F8EF-40CF-A0C7-BEBBCB7C56C9}"/>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Async does not imply delayed care. Clinical timing was not measured.</a:t>
            </a:r>
          </a:p>
        </p:txBody>
      </p:sp>
      <p:sp>
        <p:nvSpPr>
          <p:cNvPr id="4" name="">
            <a:extLst xmlns:a="http://schemas.openxmlformats.org/drawingml/2006/main">
              <a:ext uri="{FF2B5EF4-FFF2-40B4-BE49-F238E27FC236}">
                <a16:creationId xmlns:a16="http://schemas.microsoft.com/office/drawing/2014/main" id="{4ADABC3D-BDBB-41C0-9F82-B9E5042EF32E}"/>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Known set: unchanged physician reference. Challenge: AI-authored checks without physician approval. Candidate not promoted.</a:t>
            </a:r>
          </a:p>
        </p:txBody>
      </p:sp>
      <p:sp>
        <p:nvSpPr>
          <p:cNvPr id="5" name="">
            <a:extLst xmlns:a="http://schemas.openxmlformats.org/drawingml/2006/main">
              <a:ext uri="{FF2B5EF4-FFF2-40B4-BE49-F238E27FC236}">
                <a16:creationId xmlns:a16="http://schemas.microsoft.com/office/drawing/2014/main" id="{4798A26A-7EF8-44C9-BF70-81188D925F9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29</a:t>
            </a:r>
          </a:p>
        </p:txBody>
      </p:sp>
    </p:spTree>
    <p:extLst>
      <p:ext uri="{BB962C8B-B14F-4D97-AF65-F5344CB8AC3E}">
        <p14:creationId xmlns:p14="http://schemas.microsoft.com/office/powerpoint/2010/main" val="236379818"/>
      </p:ext>
    </p:extLst>
  </p:cSld>
</p:sld>
</file>

<file path=ppt/slides/slide3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94D974F-F2B5-46C8-9145-1C4B1A06FC2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Independent validation remains pending</a:t>
            </a:r>
          </a:p>
        </p:txBody>
      </p:sp>
      <p:graphicFrame>
        <p:nvGraphicFramePr>
          <p:cNvPr id="6" name=""/>
          <p:cNvGraphicFramePr/>
          <p:nvPr/>
        </p:nvGraphicFramePr>
        <p:xfrm>
          <a:off xmlns:a="http://schemas.openxmlformats.org/drawingml/2006/main" x="762000" y="1619250"/>
          <a:ext xmlns:a="http://schemas.openxmlformats.org/drawingml/2006/main" cx="10668000" cy="3377660"/>
        </p:xfrm>
        <a:graphic xmlns:a="http://schemas.openxmlformats.org/drawingml/2006/main">
          <a:graphicData uri="http://schemas.openxmlformats.org/drawingml/2006/table">
            <a:tbl>
              <a:tblPr firstRow="1" bandRow="0"/>
              <a:tblGrid>
                <a:gridCol w="3413760"/>
                <a:gridCol w="7254240"/>
              </a:tblGrid>
              <a:tr h="459962">
                <a:tc>
                  <a:txBody>
                    <a:bodyPr/>
                    <a:lstStyle/>
                    <a:p>
                      <a:r>
                        <a:rPr sz="1725" b="1">
                          <a:solidFill>
                            <a:srgbClr val="FFFFFF"/>
                          </a:solidFill>
                          <a:latin typeface="Arial"/>
                          <a:ea typeface="Arial"/>
                          <a:cs typeface="Arial"/>
                        </a:rPr>
                        <a:t>Owner and work</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Evidence required</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Clinical policy</a:t>
                      </a:r>
                    </a:p>
                    <a:p>
                      <a:r>
                        <a:rPr sz="1725" b="0">
                          <a:solidFill>
                            <a:srgbClr val="28354A"/>
                          </a:solidFill>
                          <a:latin typeface="Arial"/>
                          <a:ea typeface="Arial"/>
                          <a:cs typeface="Arial"/>
                        </a:rPr>
                        <a:t>Clinical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Separate next contact, required care setting, clinical deadline and service capability before approving routing.</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Independent reference</a:t>
                      </a:r>
                    </a:p>
                    <a:p>
                      <a:r>
                        <a:rPr sz="1725"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Two clinicians label new cases without model outputs. A third adjudicates disagreements.</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Locked evaluation</a:t>
                      </a:r>
                    </a:p>
                    <a:p>
                      <a:r>
                        <a:rPr sz="1725" b="0">
                          <a:solidFill>
                            <a:srgbClr val="28354A"/>
                          </a:solidFill>
                          <a:latin typeface="Arial"/>
                          <a:ea typeface="Arial"/>
                          <a:cs typeface="Arial"/>
                        </a:rPr>
                        <a:t>Evaluation + safety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Freeze new case sets, endpoints and limits. Report severe misses, uncertainty and referral burden.</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Prospective review</a:t>
                      </a:r>
                    </a:p>
                    <a:p>
                      <a:r>
                        <a:rPr sz="1725" b="0">
                          <a:solidFill>
                            <a:srgbClr val="28354A"/>
                          </a:solidFill>
                          <a:latin typeface="Arial"/>
                          <a:ea typeface="Arial"/>
                          <a:cs typeface="Arial"/>
                        </a:rPr>
                        <a:t>Care operations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After offline criteria pass, evaluate alongside usual care. Verify follow-through, workload and pause rules.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C8002B9-82EF-4EA1-91C6-5BA059D0B0E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approval, independent clinical labels and prospective testing have not occurred. No autonomous clinical use.</a:t>
            </a:r>
          </a:p>
        </p:txBody>
      </p:sp>
      <p:sp>
        <p:nvSpPr>
          <p:cNvPr id="4" name="">
            <a:extLst xmlns:a="http://schemas.openxmlformats.org/drawingml/2006/main">
              <a:ext uri="{FF2B5EF4-FFF2-40B4-BE49-F238E27FC236}">
                <a16:creationId xmlns:a16="http://schemas.microsoft.com/office/drawing/2014/main" id="{9CE53D2F-AE2A-4531-9A33-748EFF1E6F7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30</a:t>
            </a:r>
          </a:p>
        </p:txBody>
      </p:sp>
    </p:spTree>
    <p:extLst>
      <p:ext uri="{BB962C8B-B14F-4D97-AF65-F5344CB8AC3E}">
        <p14:creationId xmlns:p14="http://schemas.microsoft.com/office/powerpoint/2010/main" val="315172709"/>
      </p:ext>
    </p:extLst>
  </p:cSld>
</p:sld>
</file>

<file path=ppt/slides/slide3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CCDD65E-8145-482E-8291-FF1A7EFABF8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care-setting disagreements</a:t>
            </a:r>
          </a:p>
        </p:txBody>
      </p:sp>
      <p:graphicFrame>
        <p:nvGraphicFramePr>
          <p:cNvPr id="6" name=""/>
          <p:cNvGraphicFramePr/>
          <p:nvPr/>
        </p:nvGraphicFramePr>
        <p:xfrm>
          <a:off xmlns:a="http://schemas.openxmlformats.org/drawingml/2006/main" x="762000" y="1619250"/>
          <a:ext xmlns:a="http://schemas.openxmlformats.org/drawingml/2006/main" cx="10668000" cy="3011424"/>
        </p:xfrm>
        <a:graphic xmlns:a="http://schemas.openxmlformats.org/drawingml/2006/main">
          <a:graphicData uri="http://schemas.openxmlformats.org/drawingml/2006/table">
            <a:tbl>
              <a:tblPr firstRow="1" bandRow="0"/>
              <a:tblGrid>
                <a:gridCol w="1066800"/>
                <a:gridCol w="9601200"/>
              </a:tblGrid>
              <a:tr h="471678">
                <a:tc>
                  <a:txBody>
                    <a:bodyPr/>
                    <a:lstStyle/>
                    <a:p>
                      <a:r>
                        <a:rPr sz="1800"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Exact patient message</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C04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62F, I'm diabetic. I got a small cut on the bottom of my foot about 4 days ago and now the skin around it is red and a little swollen. No fever. It's tender when I press on it.</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34M. I've had a cough for about three weeks now with night sweats and I've lost maybe 10 pounds without trying. I moved here from a country where TB is common.</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C49</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28M. Sharp pain on the left side of my chest since yesterday, worse when I take a deep breath. I did a heavy chest workout two days ago. No shortness of breath, no leg swelling, I don't smoke.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79D714A-8A6D-454B-89D1-065C208504E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Candidate: ASYNC_PHYSICIAN. Frozen baseline and reference: URGENT_ESCALATION. Clinical timing and completed care were not measured.</a:t>
            </a:r>
          </a:p>
        </p:txBody>
      </p:sp>
      <p:sp>
        <p:nvSpPr>
          <p:cNvPr id="4" name="">
            <a:extLst xmlns:a="http://schemas.openxmlformats.org/drawingml/2006/main">
              <a:ext uri="{FF2B5EF4-FFF2-40B4-BE49-F238E27FC236}">
                <a16:creationId xmlns:a16="http://schemas.microsoft.com/office/drawing/2014/main" id="{4FE14EAC-C28C-43C9-8A66-E8FEAF3F73E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31</a:t>
            </a:r>
          </a:p>
        </p:txBody>
      </p:sp>
    </p:spTree>
    <p:extLst>
      <p:ext uri="{BB962C8B-B14F-4D97-AF65-F5344CB8AC3E}">
        <p14:creationId xmlns:p14="http://schemas.microsoft.com/office/powerpoint/2010/main" val="469175054"/>
      </p:ext>
    </p:extLst>
  </p:cSld>
</p:sld>
</file>

<file path=ppt/slides/slide3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8541EFA-D9A0-4D41-A266-8AF0670A74C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Async care and required clinical timing</a:t>
            </a:r>
          </a:p>
        </p:txBody>
      </p:sp>
      <p:graphicFrame>
        <p:nvGraphicFramePr>
          <p:cNvPr id="7" name=""/>
          <p:cNvGraphicFramePr/>
          <p:nvPr/>
        </p:nvGraphicFramePr>
        <p:xfrm>
          <a:off xmlns:a="http://schemas.openxmlformats.org/drawingml/2006/main" x="762000" y="1619250"/>
          <a:ext xmlns:a="http://schemas.openxmlformats.org/drawingml/2006/main" cx="10668000" cy="2730246"/>
        </p:xfrm>
        <a:graphic xmlns:a="http://schemas.openxmlformats.org/drawingml/2006/main">
          <a:graphicData uri="http://schemas.openxmlformats.org/drawingml/2006/table">
            <a:tbl>
              <a:tblPr firstRow="1" bandRow="0"/>
              <a:tblGrid>
                <a:gridCol w="2133600"/>
                <a:gridCol w="4267200"/>
                <a:gridCol w="4267200"/>
              </a:tblGrid>
              <a:tr h="471678">
                <a:tc>
                  <a:txBody>
                    <a:bodyPr/>
                    <a:lstStyle/>
                    <a:p>
                      <a:r>
                        <a:rPr sz="1800" b="1">
                          <a:solidFill>
                            <a:srgbClr val="FFFFFF"/>
                          </a:solidFill>
                          <a:latin typeface="Arial"/>
                          <a:ea typeface="Arial"/>
                          <a:cs typeface="Arial"/>
                        </a:rPr>
                        <a:t>Dimension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Question to specify</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required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Contact channel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How does the patient reach a clinician?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Observed time to an appropriate physician response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timing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When must assessment or treatment occur?</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clinically approved deadline for the required action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Care capability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What can the pathway complete or arrange?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examination, testing or transfer when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1580236-E76C-42B0-AB72-72FFE0A0F9BD}"/>
              </a:ext>
            </a:extLst>
          </p:cNvPr>
          <p:cNvSpPr>
            <a:spLocks xmlns:a="http://schemas.openxmlformats.org/drawingml/2006/main" noGrp="1"/>
          </p:cNvSpPr>
          <p:nvPr/>
        </p:nvSpPr>
        <p:spPr>
          <a:xfrm xmlns:a="http://schemas.openxmlformats.org/drawingml/2006/main">
            <a:off x="762000" y="453999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Counsel reports an average 2-minute physician response. This is not a guarantee for a particular case.</a:t>
            </a:r>
          </a:p>
        </p:txBody>
      </p:sp>
      <p:sp>
        <p:nvSpPr>
          <p:cNvPr id="4" name="">
            <a:extLst xmlns:a="http://schemas.openxmlformats.org/drawingml/2006/main">
              <a:ext uri="{FF2B5EF4-FFF2-40B4-BE49-F238E27FC236}">
                <a16:creationId xmlns:a16="http://schemas.microsoft.com/office/drawing/2014/main" id="{7793C984-323C-4D25-9C46-238325DC4ED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response time does not measure time to examination, testing or completed care. No such timing was measured here.</a:t>
            </a:r>
          </a:p>
        </p:txBody>
      </p:sp>
      <p:sp>
        <p:nvSpPr>
          <p:cNvPr id="5" name="">
            <a:extLst xmlns:a="http://schemas.openxmlformats.org/drawingml/2006/main">
              <a:ext uri="{FF2B5EF4-FFF2-40B4-BE49-F238E27FC236}">
                <a16:creationId xmlns:a16="http://schemas.microsoft.com/office/drawing/2014/main" id="{C0FB2947-E4BC-445F-8557-28D9D0A2A7A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32</a:t>
            </a:r>
          </a:p>
        </p:txBody>
      </p:sp>
    </p:spTree>
    <p:extLst>
      <p:ext uri="{BB962C8B-B14F-4D97-AF65-F5344CB8AC3E}">
        <p14:creationId xmlns:p14="http://schemas.microsoft.com/office/powerpoint/2010/main" val="976821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Brandon Dent, MD</dc:creator>
  <ns0:lastModifiedBy>Brandon Dent, MD</ns0:lastModifiedBy>
  <dc:title>Disposition for an incoming patient message</dc:title>
  <ns2:created xsi:type="dcterms:W3CDTF">2026-09-16T06:29:39.8900000Z</ns2:created>
  <ns2:modified xsi:type="dcterms:W3CDTF">2026-09-16T06:29:39.8900000Z</ns2:modified>
</ns0:coreProperties>
</file>